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【0-3分】
「本日は講義ではなくワークショップです。90分後、皆さんのスマホの中に、①AIがあなたの会社を診断した文書、②明日そのまま使える実文書が1本、この2つが実際に残ります。メモは不要です。手を動かしてください」
▼言い切りポイント：「聞いて良かった、で終わるセミナーにはしません。作って帰っていただきます」
▼所要配分の全体像を先に見せると経営者は安心する（次のスライドで説明）。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【3-6分】
「ワークは3つ。どれもスマホだけでできます。パソコンも、AIの知識も、今日は一切要りません」
▼ここで会場の温度を測る：「ChatGPT、スマホに入っている方？」と挙手を取る。半分以下なら次のスライドの準備時間を長めに（5分）。
▼「難しくないか不安な方へ——今日のワークで一番難しい操作は、文章のコピーと貼り付けです」で笑いを取り、ハードルを下げる。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【6-11分】
「まず道具の準備です。5分だけ取ります。もう入っている方は、ぜひお隣を助けてあげてください」
▼重要：右の会場ルールは必ず口頭で強調。「今日は練習なので、社名や取引先名は入れずに、A社・Bさんと置き換えてください。実はこの置き換えの癖こそが、社員に教えるべき情報漏えい対策の第一歩です。今日は操作しながらルールも一緒に覚えて帰る設計になっています」
▼机間巡視。つまずいている人はこの5分で救っておく（後のワークで置いていかれると満足度が下がる）。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【11-21分】
「最初のワークです。AIに、皆さんの会社の"社外取締役"になってもらいます。周りに気を使わない、忖度ゼロの役員です」
▼まず講師が自分の事業でライブ実演（2分）。辛口の指摘が出た瞬間が今日最初の山場。「私も毎回ここで嫌な気持ちになります」と笑いにする。
▼参加者ワーク6分。机間巡視して、面白い指摘が出た人に後で発表してもらう約束を取り付ける。
▼2名ほどに「どんな指摘が出たか」共有してもらう（2分）。「図星」という声が出たら成功。
▼締め：「検索は"知っていること"しか出てきません。これは"あなたの会社について考えた答え"です。ここが検索とAIの違いです」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【動画版】出力例の読み上げは全部やらず、①だけ声に出して読み、②③は「こんな指摘も来ます」と指すだけでよい。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【21-24分】
「今のワークで感じていただいた通り、AIの正体は検索の親玉ではありません。壁打ち相手です」
▼経営者の共感ポイントを突く：「経営の悩みって、社員には話せない。家族に話しても伝わらない。同業に話すのは怖い。そこに、深夜2時でも付き合ってくれて、嫌な顔ひとつせず、タダの相談相手が現れた——これが経営者にとっての生成AIです。ただし話す内容は選ぶ。だから今日の、社名を入れないルールなんです」
▼ここは講義パートだが3分で切り上げ、すぐ次のワークへ。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【24-30分】
「ここからが今日の目玉です。世の中のAI講座は"上手な指示の書き方"を教えます。今日は逆です。質問はAIにさせてください」
▼理屈の説明：「求人票がうまく書けないのは、文章力の問題ではありません。給与や休日や仕事の魅力を、一度に全部思い出せないからです。何が必要かはプロが知っている。だからAIをプロにして、質問させる。皆さんは面接を受けるように答えるだけ。すると、皆さんの言葉だけでできた完成品が出てきます」
▼講師実演（3分）：値上げのお願い文で。AIからの質問に答えていく過程を見せ、「質問に答えるだけ」の楽さを体感させる。
▼「これを私は逆質問法と呼んでいます」——ここが独自メソッドの旗を立てる瞬間。名前で覚えて帰ってもらう。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【動画版】やりとりを実際に画面収録で見せるのがベスト。このスライドは収録が使えない場合の代替、または振り返り用。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【動画版】読み上げは冒頭2文だけでよい。「あなたが答えた話し言葉が、この文面になります」がキメ。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【30-45分】
「AかB、今の自社に切実な方を選んでください。15分で完成まで行きます」
▼AとBの選ばせ方：「値上げをお願いしたい取引先の顔が浮かんだ方はA。求人を出しても3か月応募ゼロの方はB」——どちらも刺さる層が会場に必ずいる。
▼机間巡視が勝負の時間。ここで各社の悩みが本音で見える（=このセミナーの調査価値が最大化する時間）。聞こえてきた悩みは覚えておき、個別相談の営業に使う。
▼残り3分で1〜2名に完成品を読み上げてもらう。「15分前まで存在しなかった文書が、いま皆さんのスマホにある」と締める。
▼注意：「このまま送らないでください。必ず一晩置いて、自分の言葉に直してから。AIの下書き、人の仕上げ、が原則です」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【45-48分】
「今日はAとBしかやりませんでしたが、型は全部同じです。この6つ、全文を配布資料に載せてあります。明日から1日1つ試してください」
▼「ベテランのマニュアル化」は製造業の会場なら必ず立ち止まって厚めに話す。「技術承継、AIがベテランへの取材までやってくれます。ベテランは話すだけでいい」——川崎の町工場経営者に一番刺さるのはここ。
▼「社長業の引き継ぎ書」は年配の経営者の食いつきが強い。会場の年齢層を見て強弱をつける。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【実演デモ1・約3分】
運用手順・台本・失敗時の返しは「魅せデモ運用ガイド」参照。手書き済みFAXを掲げる→その場で撮影→ChatGPTへ→表が出たら一呼吸→キメ台詞→「Excelに貼れる形式にして」まで。通信が死んだら事前録画を再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【動画版】実際の画面収録を流すのが理想。このスライドは結果の静止画として、ポイント3つを指しながら解説する。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【実演デモ2・約3分】
NotebookLMにダミー就業規則PDFを読み込ませた画面へ切替。質問①結婚したら何日？（→5日・第22条）②有休繰越と上限？（→翌年度・40日・第21条）③副業は？（→届出制・第13条）。キメ台詞「2分です」→相談導線へ。詳細は運用ガイド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【動画版】NotebookLMの画面収録が理想。静止画で見せる場合はQ1だけ読み上げ、残りは指すだけ。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【54-69分】
「最後のワークです。AIの上手な使い方より大事なのは、"どの業務からやるか"の見極めです。道具はもう体験しました。あとは当てる場所です」
▼マトリクスの説明は右上から。「よくあって、やり方が決まっている仕事。見積、日報、定型の返信。ここが最初です。理由は簡単で、回数が多いから効果が積み上がり、やり方が決まっているからAIが真似できる」
▼配布の仕分けシートに書き込んでもらう(10分)。机間巡視でシートを覗き、「その業務いいですね」と声かけ——この時間に各社の業務が見える(調査価値2回目のピーク)。
▼締め：「右上に入った業務、それが御社の最初の1歩です。今日の逆質問法でその業務の下書きを作るところまでが宿題です」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【動画版】例を1行ずつ読まず、「見積が右上に入りました。これが最初の1業務です」だけ言えば十分。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【69-76分】
「ここから経営者としての整え方を2点だけ。効果測定とルールです」
▼左：「今日皆さんが体験した楽しさは、社員には伝わりません。伝わるのは数字だけです。だから最初の1業務は必ずビフォーの時間を測ってから始めてください」
▼右：「そして広げる前に線を引く。今日の会場ルール(社名を入れない)を思い出してください。あれが①の線引きです。残りは雛形に書いてあります。今日持ち帰って、自社名を入れるだけです」
▼リスクの怖い話を長くやらないのがこの別案の設計。ワークで自信をつけた直後に恐怖で冷やさない。ルールは「配布物で解決済み」として前に進む。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【76-80分】
「最後に、社員に広げる段階のお金の話です。実は、社員のAI研修には国の助成金が使えます。数字を3つだけ覚えて帰ってください。75%、時給1,000円、そして2027年3月31日」
▼期限の話を最初に強調：「この制度、来年度の3月で終わります。半年ちょっとです。私が今日この話をしているのは、知らずに期限を過ぎる会社が多すぎるからです」
▼正直さの演出（重要）：「申請するのは皆さんの会社から労働局へ、です。私は申請代行はできません——それは社労士さんの独占業務です。私にできるのは、制度を正確にお伝えすることと、研修そのものをお手伝いすることです」——この線引きを自分から言うと信頼が上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【80-83分】
「具体的な金額で見てみます。社員10名、1人20万円の研修だと総額200万円。経費助成で150万円戻って実質50万円。さらに研修中の賃金助成が12万円ついて、最終的な負担は約38万円です」
▼一拍おいて：「200万円と38万円では、意思決定の重さが違います。制度が生きているうちに動くかどうか、だけの差です」
▼免責は必ず口頭でも：「金額はあくまで例で、支給は労働局の審査次第です。確実にもらえるとは言えません——ここは正直にお伝えします」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【83-85分】
「動くなら逆算です。計画届は研修開始の1か月前まで。制度終了が2027年3月末なので、逆算するともう悠長にはしていられません」
▼プラスワンの配布物2点をここで渡す：
①逆算カレンダー：「開始したい月から締切を逆算できる1枚です」
②相談先マップ：「私は申請代行はできませんが、"どこに何を聞けばいいか"は整理してきました。労働局の助成金窓口、そしてこの商工会議所の経営指導員さん——会員の皆さんは無料で相談できます。制度の詳細はこの窓口が一番確実です」
▼商工会議所の職員を立てる発言は、事務局からの次回の登壇依頼につながる。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【85-88分】
「今日は聞くだけのセミナーにしない、と最初にお約束しました。確認です。皆さんのスマホには、①自社の診断書、②明日使う実文書、そして配布シートには③最初の1業務、が残っています」
▼最後の刷り込み：「プロンプトは全部忘れて構いません。1つだけ、"いきなり書かせない、まず質問させる"。これだけ持ち帰ってください」
▼会場全体に成果があることを確認してからクロージングへ。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【88-90分】
「最後にご案内です。今日のワーク3で決めた"最初の1業務"、あの続きを、御社の実際の業務内容で一緒に仕上げる無料相談をやっています。30分です。ご希望の方はアンケートに○だけつけてください。こちらから日程のご連絡を差し上げます」
▼売り込まない。「研修」「契約」という言葉はここでは一切出さない。相談の場で、ワーク3のシートを見ながら自然に研修・伴走の話につなげる。
▼アンケート回収は出口で手渡し回収（回収率が倍変わる）。個別相談の○の数が、このセミナーのKPI。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indent="0" marL="0">
              <a:buNone/>
            </a:pPr>
            <a:r>
              <a:rPr lang="en-US" sz="1300" dirty="0">
                <a:solidFill>
                  <a:srgbClr val="CADCFC"/>
                </a:solidFill>
                <a:latin typeface="Yu Gothic" pitchFamily="34" charset="0"/>
                <a:ea typeface="Yu Gothic" pitchFamily="34" charset="-122"/>
                <a:cs typeface="Yu Gothic" pitchFamily="34" charset="-120"/>
              </a:rPr>
              <a:t>動画版・AI活用講座（保存版）</a:t>
            </a:r>
            <a:endParaRPr lang="en-US" sz="1300" dirty="0"/>
          </a:p>
        </p:txBody>
      </p:sp>
      <p:sp>
        <p:nvSpPr>
          <p:cNvPr id="3" name="Shape 1"/>
          <p:cNvSpPr/>
          <p:nvPr/>
        </p:nvSpPr>
        <p:spPr>
          <a:xfrm>
            <a:off x="8869680" y="1280160"/>
            <a:ext cx="2834640" cy="2834640"/>
          </a:xfrm>
          <a:prstGeom prst="ellipse">
            <a:avLst/>
          </a:prstGeom>
          <a:solidFill>
            <a:srgbClr val="2A3778"/>
          </a:solidFill>
          <a:ln/>
        </p:spPr>
      </p:sp>
      <p:pic>
        <p:nvPicPr>
          <p:cNvPr id="4" name="Image 0" descr="preencoded.png">    </p:cNvPr>
          <p:cNvPicPr>
            <a:picLocks noChangeAspect="1"/>
          </p:cNvPicPr>
          <p:nvPr/>
        </p:nvPicPr>
        <p:blipFill>
          <a:blip r:embed="rId1"/>
          <a:stretch>
            <a:fillRect/>
          </a:stretch>
        </p:blipFill>
        <p:spPr>
          <a:xfrm>
            <a:off x="9646920" y="2057400"/>
            <a:ext cx="1280160" cy="1280160"/>
          </a:xfrm>
          <a:prstGeom prst="rect">
            <a:avLst/>
          </a:prstGeom>
        </p:spPr>
      </p:pic>
      <p:sp>
        <p:nvSpPr>
          <p:cNvPr id="5" name="Text 2"/>
          <p:cNvSpPr/>
          <p:nvPr/>
        </p:nvSpPr>
        <p:spPr>
          <a:xfrm>
            <a:off x="548640" y="1920240"/>
            <a:ext cx="8138160" cy="2011680"/>
          </a:xfrm>
          <a:prstGeom prst="rect">
            <a:avLst/>
          </a:prstGeom>
          <a:noFill/>
          <a:ln/>
        </p:spPr>
        <p:txBody>
          <a:bodyPr wrap="square" lIns="0" tIns="0" rIns="0" bIns="0" rtlCol="0" anchor="ctr"/>
          <a:lstStyle/>
          <a:p>
            <a:pPr indent="0" marL="0">
              <a:lnSpc>
                <a:spcPct val="120000"/>
              </a:lnSpc>
              <a:buNone/>
            </a:pPr>
            <a:r>
              <a:rPr lang="en-US" sz="3800" b="1" dirty="0">
                <a:solidFill>
                  <a:srgbClr val="FFFFFF"/>
                </a:solidFill>
                <a:latin typeface="Yu Gothic" pitchFamily="34" charset="0"/>
                <a:ea typeface="Yu Gothic" pitchFamily="34" charset="-122"/>
                <a:cs typeface="Yu Gothic" pitchFamily="34" charset="-120"/>
              </a:rPr>
              <a:t>聞いて帰らない。</a:t>
            </a:r>
            <a:endParaRPr lang="en-US" sz="3800" dirty="0"/>
          </a:p>
          <a:p>
            <a:pPr indent="0" marL="0">
              <a:lnSpc>
                <a:spcPct val="120000"/>
              </a:lnSpc>
              <a:buNone/>
            </a:pPr>
            <a:r>
              <a:rPr lang="en-US" sz="3800" b="1" dirty="0">
                <a:solidFill>
                  <a:srgbClr val="FFFFFF"/>
                </a:solidFill>
                <a:latin typeface="Yu Gothic" pitchFamily="34" charset="0"/>
                <a:ea typeface="Yu Gothic" pitchFamily="34" charset="-122"/>
                <a:cs typeface="Yu Gothic" pitchFamily="34" charset="-120"/>
              </a:rPr>
              <a:t>作って帰る、AI経営90分</a:t>
            </a:r>
            <a:endParaRPr lang="en-US" sz="3800" dirty="0"/>
          </a:p>
        </p:txBody>
      </p:sp>
      <p:sp>
        <p:nvSpPr>
          <p:cNvPr id="6" name="Text 3"/>
          <p:cNvSpPr/>
          <p:nvPr/>
        </p:nvSpPr>
        <p:spPr>
          <a:xfrm>
            <a:off x="548640" y="4023360"/>
            <a:ext cx="9601200" cy="457200"/>
          </a:xfrm>
          <a:prstGeom prst="rect">
            <a:avLst/>
          </a:prstGeom>
          <a:noFill/>
          <a:ln/>
        </p:spPr>
        <p:txBody>
          <a:bodyPr wrap="square" lIns="0" tIns="0" rIns="0" bIns="0" rtlCol="0" anchor="ctr"/>
          <a:lstStyle/>
          <a:p>
            <a:pPr indent="0" marL="0">
              <a:buNone/>
            </a:pPr>
            <a:r>
              <a:rPr lang="en-US" sz="1600" dirty="0">
                <a:solidFill>
                  <a:srgbClr val="CADCFC"/>
                </a:solidFill>
                <a:latin typeface="Yu Gothic" pitchFamily="34" charset="0"/>
                <a:ea typeface="Yu Gothic" pitchFamily="34" charset="-122"/>
                <a:cs typeface="Yu Gothic" pitchFamily="34" charset="-120"/>
              </a:rPr>
              <a:t>〜 スマホ1台で、自社の「診断書」と「実文書」を一緒に作る講座。途中で止めながらご覧ください 〜</a:t>
            </a:r>
            <a:endParaRPr lang="en-US" sz="1600" dirty="0"/>
          </a:p>
        </p:txBody>
      </p:sp>
      <p:sp>
        <p:nvSpPr>
          <p:cNvPr id="7" name="Text 4"/>
          <p:cNvSpPr/>
          <p:nvPr/>
        </p:nvSpPr>
        <p:spPr>
          <a:xfrm>
            <a:off x="548640" y="5760720"/>
            <a:ext cx="9144000" cy="365760"/>
          </a:xfrm>
          <a:prstGeom prst="rect">
            <a:avLst/>
          </a:prstGeom>
          <a:noFill/>
          <a:ln/>
        </p:spPr>
        <p:txBody>
          <a:bodyPr wrap="square" lIns="0" tIns="0" rIns="0" bIns="0" rtlCol="0" anchor="ctr"/>
          <a:lstStyle/>
          <a:p>
            <a:pPr indent="0" marL="0">
              <a:buNone/>
            </a:pPr>
            <a:r>
              <a:rPr lang="en-US" sz="1300" dirty="0">
                <a:solidFill>
                  <a:srgbClr val="CADCFC"/>
                </a:solidFill>
                <a:latin typeface="Yu Gothic" pitchFamily="34" charset="0"/>
                <a:ea typeface="Yu Gothic" pitchFamily="34" charset="-122"/>
                <a:cs typeface="Yu Gothic" pitchFamily="34" charset="-120"/>
              </a:rPr>
              <a:t>講師：〇〇 〇〇（△△△△ 代表）　※プロフィール・写真は差し替え</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本日の約束 — この90分で「3つ」作って帰っていただきます</a:t>
            </a:r>
            <a:endParaRPr lang="en-US" sz="2700" dirty="0"/>
          </a:p>
        </p:txBody>
      </p:sp>
      <p:sp>
        <p:nvSpPr>
          <p:cNvPr id="3" name="Shape 1"/>
          <p:cNvSpPr/>
          <p:nvPr/>
        </p:nvSpPr>
        <p:spPr>
          <a:xfrm>
            <a:off x="495148" y="1417320"/>
            <a:ext cx="3520440" cy="3931920"/>
          </a:xfrm>
          <a:prstGeom prst="roundRect">
            <a:avLst>
              <a:gd name="adj" fmla="val 3117"/>
            </a:avLst>
          </a:prstGeom>
          <a:solidFill>
            <a:srgbClr val="EEF3FC"/>
          </a:solidFill>
          <a:ln/>
        </p:spPr>
      </p:sp>
      <p:sp>
        <p:nvSpPr>
          <p:cNvPr id="4" name="Shape 2"/>
          <p:cNvSpPr/>
          <p:nvPr/>
        </p:nvSpPr>
        <p:spPr>
          <a:xfrm>
            <a:off x="1798168" y="1737360"/>
            <a:ext cx="914400" cy="91440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2035912" y="1975104"/>
            <a:ext cx="438912" cy="438912"/>
          </a:xfrm>
          <a:prstGeom prst="rect">
            <a:avLst/>
          </a:prstGeom>
        </p:spPr>
      </p:pic>
      <p:sp>
        <p:nvSpPr>
          <p:cNvPr id="6" name="Text 3"/>
          <p:cNvSpPr/>
          <p:nvPr/>
        </p:nvSpPr>
        <p:spPr>
          <a:xfrm>
            <a:off x="723748" y="2788920"/>
            <a:ext cx="3063240" cy="365760"/>
          </a:xfrm>
          <a:prstGeom prst="rect">
            <a:avLst/>
          </a:prstGeom>
          <a:noFill/>
          <a:ln/>
        </p:spPr>
        <p:txBody>
          <a:bodyPr wrap="square" lIns="0" tIns="0" rIns="0" bIns="0" rtlCol="0" anchor="ctr"/>
          <a:lstStyle/>
          <a:p>
            <a:pPr algn="ctr" indent="0" marL="0">
              <a:buNone/>
            </a:pPr>
            <a:r>
              <a:rPr lang="en-US" sz="1300" b="1" dirty="0">
                <a:solidFill>
                  <a:srgbClr val="E8A33D"/>
                </a:solidFill>
                <a:latin typeface="Yu Gothic" pitchFamily="34" charset="0"/>
                <a:ea typeface="Yu Gothic" pitchFamily="34" charset="-122"/>
                <a:cs typeface="Yu Gothic" pitchFamily="34" charset="-120"/>
              </a:rPr>
              <a:t>ワーク1</a:t>
            </a:r>
            <a:endParaRPr lang="en-US" sz="1300" dirty="0"/>
          </a:p>
        </p:txBody>
      </p:sp>
      <p:sp>
        <p:nvSpPr>
          <p:cNvPr id="7" name="Text 4"/>
          <p:cNvSpPr/>
          <p:nvPr/>
        </p:nvSpPr>
        <p:spPr>
          <a:xfrm>
            <a:off x="723748" y="3200400"/>
            <a:ext cx="3063240" cy="777240"/>
          </a:xfrm>
          <a:prstGeom prst="rect">
            <a:avLst/>
          </a:prstGeom>
          <a:noFill/>
          <a:ln/>
        </p:spPr>
        <p:txBody>
          <a:bodyPr wrap="square" lIns="0" tIns="0" rIns="0" bIns="0" rtlCol="0" anchor="ctr"/>
          <a:lstStyle/>
          <a:p>
            <a:pPr algn="ctr" indent="0" marL="0">
              <a:lnSpc>
                <a:spcPct val="115000"/>
              </a:lnSpc>
              <a:buNone/>
            </a:pPr>
            <a:r>
              <a:rPr lang="en-US" sz="1600" b="1" dirty="0">
                <a:solidFill>
                  <a:srgbClr val="1E2761"/>
                </a:solidFill>
                <a:latin typeface="Yu Gothic" pitchFamily="34" charset="0"/>
                <a:ea typeface="Yu Gothic" pitchFamily="34" charset="-122"/>
                <a:cs typeface="Yu Gothic" pitchFamily="34" charset="-120"/>
              </a:rPr>
              <a:t>AIによる自社の辛口診断書</a:t>
            </a:r>
            <a:endParaRPr lang="en-US" sz="1600" dirty="0"/>
          </a:p>
        </p:txBody>
      </p:sp>
      <p:sp>
        <p:nvSpPr>
          <p:cNvPr id="8" name="Text 5"/>
          <p:cNvSpPr/>
          <p:nvPr/>
        </p:nvSpPr>
        <p:spPr>
          <a:xfrm>
            <a:off x="769468" y="4069080"/>
            <a:ext cx="2971800" cy="1143000"/>
          </a:xfrm>
          <a:prstGeom prst="rect">
            <a:avLst/>
          </a:prstGeom>
          <a:noFill/>
          <a:ln/>
        </p:spPr>
        <p:txBody>
          <a:bodyPr wrap="square" lIns="0" tIns="0" rIns="0" bIns="0" rtlCol="0" anchor="ctr"/>
          <a:lstStyle/>
          <a:p>
            <a:pPr indent="0" marL="0">
              <a:lnSpc>
                <a:spcPct val="125000"/>
              </a:lnSpc>
              <a:buNone/>
            </a:pPr>
            <a:r>
              <a:rPr lang="en-US" sz="1200" dirty="0">
                <a:solidFill>
                  <a:srgbClr val="333333"/>
                </a:solidFill>
                <a:latin typeface="Yu Gothic" pitchFamily="34" charset="0"/>
                <a:ea typeface="Yu Gothic" pitchFamily="34" charset="-122"/>
                <a:cs typeface="Yu Gothic" pitchFamily="34" charset="-120"/>
              </a:rPr>
              <a:t>AIを「社外取締役」にして、自社の弱点とリスクを指摘させる（10分）</a:t>
            </a:r>
            <a:endParaRPr lang="en-US" sz="1200" dirty="0"/>
          </a:p>
        </p:txBody>
      </p:sp>
      <p:sp>
        <p:nvSpPr>
          <p:cNvPr id="9" name="Shape 6"/>
          <p:cNvSpPr/>
          <p:nvPr/>
        </p:nvSpPr>
        <p:spPr>
          <a:xfrm>
            <a:off x="4335628" y="1417320"/>
            <a:ext cx="3520440" cy="3931920"/>
          </a:xfrm>
          <a:prstGeom prst="roundRect">
            <a:avLst>
              <a:gd name="adj" fmla="val 3117"/>
            </a:avLst>
          </a:prstGeom>
          <a:solidFill>
            <a:srgbClr val="EEF3FC"/>
          </a:solidFill>
          <a:ln/>
        </p:spPr>
      </p:sp>
      <p:sp>
        <p:nvSpPr>
          <p:cNvPr id="10" name="Shape 7"/>
          <p:cNvSpPr/>
          <p:nvPr/>
        </p:nvSpPr>
        <p:spPr>
          <a:xfrm>
            <a:off x="5638648" y="1737360"/>
            <a:ext cx="914400" cy="914400"/>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5876392" y="1975104"/>
            <a:ext cx="438912" cy="438912"/>
          </a:xfrm>
          <a:prstGeom prst="rect">
            <a:avLst/>
          </a:prstGeom>
        </p:spPr>
      </p:pic>
      <p:sp>
        <p:nvSpPr>
          <p:cNvPr id="12" name="Text 8"/>
          <p:cNvSpPr/>
          <p:nvPr/>
        </p:nvSpPr>
        <p:spPr>
          <a:xfrm>
            <a:off x="4564228" y="2788920"/>
            <a:ext cx="3063240" cy="365760"/>
          </a:xfrm>
          <a:prstGeom prst="rect">
            <a:avLst/>
          </a:prstGeom>
          <a:noFill/>
          <a:ln/>
        </p:spPr>
        <p:txBody>
          <a:bodyPr wrap="square" lIns="0" tIns="0" rIns="0" bIns="0" rtlCol="0" anchor="ctr"/>
          <a:lstStyle/>
          <a:p>
            <a:pPr algn="ctr" indent="0" marL="0">
              <a:buNone/>
            </a:pPr>
            <a:r>
              <a:rPr lang="en-US" sz="1300" b="1" dirty="0">
                <a:solidFill>
                  <a:srgbClr val="E8A33D"/>
                </a:solidFill>
                <a:latin typeface="Yu Gothic" pitchFamily="34" charset="0"/>
                <a:ea typeface="Yu Gothic" pitchFamily="34" charset="-122"/>
                <a:cs typeface="Yu Gothic" pitchFamily="34" charset="-120"/>
              </a:rPr>
              <a:t>ワーク2</a:t>
            </a:r>
            <a:endParaRPr lang="en-US" sz="1300" dirty="0"/>
          </a:p>
        </p:txBody>
      </p:sp>
      <p:sp>
        <p:nvSpPr>
          <p:cNvPr id="13" name="Text 9"/>
          <p:cNvSpPr/>
          <p:nvPr/>
        </p:nvSpPr>
        <p:spPr>
          <a:xfrm>
            <a:off x="4564228" y="3200400"/>
            <a:ext cx="3063240" cy="777240"/>
          </a:xfrm>
          <a:prstGeom prst="rect">
            <a:avLst/>
          </a:prstGeom>
          <a:noFill/>
          <a:ln/>
        </p:spPr>
        <p:txBody>
          <a:bodyPr wrap="square" lIns="0" tIns="0" rIns="0" bIns="0" rtlCol="0" anchor="ctr"/>
          <a:lstStyle/>
          <a:p>
            <a:pPr algn="ctr" indent="0" marL="0">
              <a:lnSpc>
                <a:spcPct val="115000"/>
              </a:lnSpc>
              <a:buNone/>
            </a:pPr>
            <a:r>
              <a:rPr lang="en-US" sz="1600" b="1" dirty="0">
                <a:solidFill>
                  <a:srgbClr val="1E2761"/>
                </a:solidFill>
                <a:latin typeface="Yu Gothic" pitchFamily="34" charset="0"/>
                <a:ea typeface="Yu Gothic" pitchFamily="34" charset="-122"/>
                <a:cs typeface="Yu Gothic" pitchFamily="34" charset="-120"/>
              </a:rPr>
              <a:t>明日使う実文書 1本</a:t>
            </a:r>
            <a:endParaRPr lang="en-US" sz="1600" dirty="0"/>
          </a:p>
        </p:txBody>
      </p:sp>
      <p:sp>
        <p:nvSpPr>
          <p:cNvPr id="14" name="Text 10"/>
          <p:cNvSpPr/>
          <p:nvPr/>
        </p:nvSpPr>
        <p:spPr>
          <a:xfrm>
            <a:off x="4609948" y="4069080"/>
            <a:ext cx="2971800" cy="1143000"/>
          </a:xfrm>
          <a:prstGeom prst="rect">
            <a:avLst/>
          </a:prstGeom>
          <a:noFill/>
          <a:ln/>
        </p:spPr>
        <p:txBody>
          <a:bodyPr wrap="square" lIns="0" tIns="0" rIns="0" bIns="0" rtlCol="0" anchor="ctr"/>
          <a:lstStyle/>
          <a:p>
            <a:pPr indent="0" marL="0">
              <a:lnSpc>
                <a:spcPct val="125000"/>
              </a:lnSpc>
              <a:buNone/>
            </a:pPr>
            <a:r>
              <a:rPr lang="en-US" sz="1200" dirty="0">
                <a:solidFill>
                  <a:srgbClr val="333333"/>
                </a:solidFill>
                <a:latin typeface="Yu Gothic" pitchFamily="34" charset="0"/>
                <a:ea typeface="Yu Gothic" pitchFamily="34" charset="-122"/>
                <a:cs typeface="Yu Gothic" pitchFamily="34" charset="-120"/>
              </a:rPr>
              <a:t>値上げのお願い文 or 求人票。書くのはAI、答えるのはあなた（20分）</a:t>
            </a:r>
            <a:endParaRPr lang="en-US" sz="1200" dirty="0"/>
          </a:p>
        </p:txBody>
      </p:sp>
      <p:sp>
        <p:nvSpPr>
          <p:cNvPr id="15" name="Shape 11"/>
          <p:cNvSpPr/>
          <p:nvPr/>
        </p:nvSpPr>
        <p:spPr>
          <a:xfrm>
            <a:off x="8176108" y="1417320"/>
            <a:ext cx="3520440" cy="3931920"/>
          </a:xfrm>
          <a:prstGeom prst="roundRect">
            <a:avLst>
              <a:gd name="adj" fmla="val 3117"/>
            </a:avLst>
          </a:prstGeom>
          <a:solidFill>
            <a:srgbClr val="EEF3FC"/>
          </a:solidFill>
          <a:ln/>
        </p:spPr>
      </p:sp>
      <p:sp>
        <p:nvSpPr>
          <p:cNvPr id="16" name="Shape 12"/>
          <p:cNvSpPr/>
          <p:nvPr/>
        </p:nvSpPr>
        <p:spPr>
          <a:xfrm>
            <a:off x="9479128" y="1737360"/>
            <a:ext cx="914400" cy="914400"/>
          </a:xfrm>
          <a:prstGeom prst="ellipse">
            <a:avLst/>
          </a:prstGeom>
          <a:solidFill>
            <a:srgbClr val="1E2761"/>
          </a:solidFill>
          <a:ln/>
        </p:spPr>
      </p:sp>
      <p:pic>
        <p:nvPicPr>
          <p:cNvPr id="17" name="Image 2" descr="preencoded.png">    </p:cNvPr>
          <p:cNvPicPr>
            <a:picLocks noChangeAspect="1"/>
          </p:cNvPicPr>
          <p:nvPr/>
        </p:nvPicPr>
        <p:blipFill>
          <a:blip r:embed="rId3"/>
          <a:stretch>
            <a:fillRect/>
          </a:stretch>
        </p:blipFill>
        <p:spPr>
          <a:xfrm>
            <a:off x="9716872" y="1975104"/>
            <a:ext cx="438912" cy="438912"/>
          </a:xfrm>
          <a:prstGeom prst="rect">
            <a:avLst/>
          </a:prstGeom>
        </p:spPr>
      </p:pic>
      <p:sp>
        <p:nvSpPr>
          <p:cNvPr id="18" name="Text 13"/>
          <p:cNvSpPr/>
          <p:nvPr/>
        </p:nvSpPr>
        <p:spPr>
          <a:xfrm>
            <a:off x="8404708" y="2788920"/>
            <a:ext cx="3063240" cy="365760"/>
          </a:xfrm>
          <a:prstGeom prst="rect">
            <a:avLst/>
          </a:prstGeom>
          <a:noFill/>
          <a:ln/>
        </p:spPr>
        <p:txBody>
          <a:bodyPr wrap="square" lIns="0" tIns="0" rIns="0" bIns="0" rtlCol="0" anchor="ctr"/>
          <a:lstStyle/>
          <a:p>
            <a:pPr algn="ctr" indent="0" marL="0">
              <a:buNone/>
            </a:pPr>
            <a:r>
              <a:rPr lang="en-US" sz="1300" b="1" dirty="0">
                <a:solidFill>
                  <a:srgbClr val="E8A33D"/>
                </a:solidFill>
                <a:latin typeface="Yu Gothic" pitchFamily="34" charset="0"/>
                <a:ea typeface="Yu Gothic" pitchFamily="34" charset="-122"/>
                <a:cs typeface="Yu Gothic" pitchFamily="34" charset="-120"/>
              </a:rPr>
              <a:t>ワーク3</a:t>
            </a:r>
            <a:endParaRPr lang="en-US" sz="1300" dirty="0"/>
          </a:p>
        </p:txBody>
      </p:sp>
      <p:sp>
        <p:nvSpPr>
          <p:cNvPr id="19" name="Text 14"/>
          <p:cNvSpPr/>
          <p:nvPr/>
        </p:nvSpPr>
        <p:spPr>
          <a:xfrm>
            <a:off x="8404708" y="3200400"/>
            <a:ext cx="3063240" cy="777240"/>
          </a:xfrm>
          <a:prstGeom prst="rect">
            <a:avLst/>
          </a:prstGeom>
          <a:noFill/>
          <a:ln/>
        </p:spPr>
        <p:txBody>
          <a:bodyPr wrap="square" lIns="0" tIns="0" rIns="0" bIns="0" rtlCol="0" anchor="ctr"/>
          <a:lstStyle/>
          <a:p>
            <a:pPr algn="ctr" indent="0" marL="0">
              <a:lnSpc>
                <a:spcPct val="115000"/>
              </a:lnSpc>
              <a:buNone/>
            </a:pPr>
            <a:r>
              <a:rPr lang="en-US" sz="1600" b="1" dirty="0">
                <a:solidFill>
                  <a:srgbClr val="1E2761"/>
                </a:solidFill>
                <a:latin typeface="Yu Gothic" pitchFamily="34" charset="0"/>
                <a:ea typeface="Yu Gothic" pitchFamily="34" charset="-122"/>
                <a:cs typeface="Yu Gothic" pitchFamily="34" charset="-120"/>
              </a:rPr>
              <a:t>AIに任せる最初の業務</a:t>
            </a:r>
            <a:endParaRPr lang="en-US" sz="1600" dirty="0"/>
          </a:p>
        </p:txBody>
      </p:sp>
      <p:sp>
        <p:nvSpPr>
          <p:cNvPr id="20" name="Text 15"/>
          <p:cNvSpPr/>
          <p:nvPr/>
        </p:nvSpPr>
        <p:spPr>
          <a:xfrm>
            <a:off x="8450428" y="4069080"/>
            <a:ext cx="2971800" cy="1143000"/>
          </a:xfrm>
          <a:prstGeom prst="rect">
            <a:avLst/>
          </a:prstGeom>
          <a:noFill/>
          <a:ln/>
        </p:spPr>
        <p:txBody>
          <a:bodyPr wrap="square" lIns="0" tIns="0" rIns="0" bIns="0" rtlCol="0" anchor="ctr"/>
          <a:lstStyle/>
          <a:p>
            <a:pPr indent="0" marL="0">
              <a:lnSpc>
                <a:spcPct val="125000"/>
              </a:lnSpc>
              <a:buNone/>
            </a:pPr>
            <a:r>
              <a:rPr lang="en-US" sz="1200" dirty="0">
                <a:solidFill>
                  <a:srgbClr val="333333"/>
                </a:solidFill>
                <a:latin typeface="Yu Gothic" pitchFamily="34" charset="0"/>
                <a:ea typeface="Yu Gothic" pitchFamily="34" charset="-122"/>
                <a:cs typeface="Yu Gothic" pitchFamily="34" charset="-120"/>
              </a:rPr>
              <a:t>自社の業務を4つの箱に仕分けて、最初の1つを決める（15分）</a:t>
            </a:r>
            <a:endParaRPr lang="en-US" sz="1200" dirty="0"/>
          </a:p>
        </p:txBody>
      </p:sp>
      <p:sp>
        <p:nvSpPr>
          <p:cNvPr id="21" name="Text 16"/>
          <p:cNvSpPr/>
          <p:nvPr/>
        </p:nvSpPr>
        <p:spPr>
          <a:xfrm>
            <a:off x="548640" y="5715000"/>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Yu Gothic" pitchFamily="34" charset="0"/>
                <a:ea typeface="Yu Gothic" pitchFamily="34" charset="-122"/>
                <a:cs typeface="Yu Gothic" pitchFamily="34" charset="-120"/>
              </a:rPr>
              <a:t>残りの時間で：事故を防ぐ社内ルール ＋ 費用が4分の1になる制度の話をします</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2103120"/>
            <a:ext cx="3657600" cy="548640"/>
          </a:xfrm>
          <a:prstGeom prst="rect">
            <a:avLst/>
          </a:prstGeom>
          <a:noFill/>
          <a:ln/>
        </p:spPr>
        <p:txBody>
          <a:bodyPr wrap="square" lIns="0" tIns="0" rIns="0" bIns="0" rtlCol="0" anchor="ctr"/>
          <a:lstStyle/>
          <a:p>
            <a:pPr indent="0" marL="0">
              <a:buNone/>
            </a:pPr>
            <a:r>
              <a:rPr lang="en-US" sz="2200" b="1" dirty="0">
                <a:solidFill>
                  <a:srgbClr val="E8A33D"/>
                </a:solidFill>
                <a:latin typeface="Yu Gothic" pitchFamily="34" charset="0"/>
                <a:ea typeface="Yu Gothic" pitchFamily="34" charset="-122"/>
                <a:cs typeface="Yu Gothic" pitchFamily="34" charset="-120"/>
              </a:rPr>
              <a:t>第1章</a:t>
            </a:r>
            <a:endParaRPr lang="en-US" sz="2200" dirty="0"/>
          </a:p>
        </p:txBody>
      </p:sp>
      <p:sp>
        <p:nvSpPr>
          <p:cNvPr id="3" name="Text 1"/>
          <p:cNvSpPr/>
          <p:nvPr/>
        </p:nvSpPr>
        <p:spPr>
          <a:xfrm>
            <a:off x="822960" y="2697480"/>
            <a:ext cx="10515600" cy="914400"/>
          </a:xfrm>
          <a:prstGeom prst="rect">
            <a:avLst/>
          </a:prstGeom>
          <a:noFill/>
          <a:ln/>
        </p:spPr>
        <p:txBody>
          <a:bodyPr wrap="square" lIns="0" tIns="0" rIns="0" bIns="0" rtlCol="0" anchor="ctr"/>
          <a:lstStyle/>
          <a:p>
            <a:pPr indent="0" marL="0">
              <a:buNone/>
            </a:pPr>
            <a:r>
              <a:rPr lang="en-US" sz="3600" b="1" dirty="0">
                <a:solidFill>
                  <a:srgbClr val="FFFFFF"/>
                </a:solidFill>
                <a:latin typeface="Yu Gothic" pitchFamily="34" charset="0"/>
                <a:ea typeface="Yu Gothic" pitchFamily="34" charset="-122"/>
                <a:cs typeface="Yu Gothic" pitchFamily="34" charset="-120"/>
              </a:rPr>
              <a:t>準備 — スマホ1台でOK</a:t>
            </a:r>
            <a:endParaRPr lang="en-US" sz="3600" dirty="0"/>
          </a:p>
        </p:txBody>
      </p:sp>
      <p:sp>
        <p:nvSpPr>
          <p:cNvPr id="4" name="Text 2"/>
          <p:cNvSpPr/>
          <p:nvPr/>
        </p:nvSpPr>
        <p:spPr>
          <a:xfrm>
            <a:off x="822960" y="3794760"/>
            <a:ext cx="10515600" cy="548640"/>
          </a:xfrm>
          <a:prstGeom prst="rect">
            <a:avLst/>
          </a:prstGeom>
          <a:noFill/>
          <a:ln/>
        </p:spPr>
        <p:txBody>
          <a:bodyPr wrap="square" lIns="0" tIns="0" rIns="0" bIns="0" rtlCol="0" anchor="ctr"/>
          <a:lstStyle/>
          <a:p>
            <a:pPr indent="0" marL="0">
              <a:buNone/>
            </a:pPr>
            <a:r>
              <a:rPr lang="en-US" sz="1600" dirty="0">
                <a:solidFill>
                  <a:srgbClr val="CADCFC"/>
                </a:solidFill>
                <a:latin typeface="Yu Gothic" pitchFamily="34" charset="0"/>
                <a:ea typeface="Yu Gothic" pitchFamily="34" charset="-122"/>
                <a:cs typeface="Yu Gothic" pitchFamily="34" charset="-120"/>
              </a:rPr>
              <a:t>ChatGPT無料版のセットアップと、たったひとつのルール</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準備（5分）— スマホにChatGPTを入れる</a:t>
            </a:r>
            <a:endParaRPr lang="en-US" sz="2700" dirty="0"/>
          </a:p>
        </p:txBody>
      </p:sp>
      <p:sp>
        <p:nvSpPr>
          <p:cNvPr id="3" name="Shape 1"/>
          <p:cNvSpPr/>
          <p:nvPr/>
        </p:nvSpPr>
        <p:spPr>
          <a:xfrm>
            <a:off x="822960" y="1463040"/>
            <a:ext cx="594360" cy="594360"/>
          </a:xfrm>
          <a:prstGeom prst="ellipse">
            <a:avLst/>
          </a:prstGeom>
          <a:solidFill>
            <a:srgbClr val="1E2761"/>
          </a:solidFill>
          <a:ln/>
        </p:spPr>
      </p:sp>
      <p:sp>
        <p:nvSpPr>
          <p:cNvPr id="4" name="Text 2"/>
          <p:cNvSpPr/>
          <p:nvPr/>
        </p:nvSpPr>
        <p:spPr>
          <a:xfrm>
            <a:off x="822960" y="146304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1</a:t>
            </a:r>
            <a:endParaRPr lang="en-US" sz="1600" dirty="0"/>
          </a:p>
        </p:txBody>
      </p:sp>
      <p:sp>
        <p:nvSpPr>
          <p:cNvPr id="5" name="Text 3"/>
          <p:cNvSpPr/>
          <p:nvPr/>
        </p:nvSpPr>
        <p:spPr>
          <a:xfrm>
            <a:off x="1645920" y="1508760"/>
            <a:ext cx="5760720" cy="548640"/>
          </a:xfrm>
          <a:prstGeom prst="rect">
            <a:avLst/>
          </a:prstGeom>
          <a:noFill/>
          <a:ln/>
        </p:spPr>
        <p:txBody>
          <a:bodyPr wrap="square" lIns="0" tIns="0" rIns="0" bIns="0" rtlCol="0" anchor="ctr"/>
          <a:lstStyle/>
          <a:p>
            <a:pPr indent="0" marL="0">
              <a:buNone/>
            </a:pPr>
            <a:r>
              <a:rPr lang="en-US" sz="1500" dirty="0">
                <a:solidFill>
                  <a:srgbClr val="333333"/>
                </a:solidFill>
                <a:latin typeface="Yu Gothic" pitchFamily="34" charset="0"/>
                <a:ea typeface="Yu Gothic" pitchFamily="34" charset="-122"/>
                <a:cs typeface="Yu Gothic" pitchFamily="34" charset="-120"/>
              </a:rPr>
              <a:t>アプリストアで「ChatGPT」を検索（無料版でOK）</a:t>
            </a:r>
            <a:endParaRPr lang="en-US" sz="1500" dirty="0"/>
          </a:p>
        </p:txBody>
      </p:sp>
      <p:sp>
        <p:nvSpPr>
          <p:cNvPr id="6" name="Shape 4"/>
          <p:cNvSpPr/>
          <p:nvPr/>
        </p:nvSpPr>
        <p:spPr>
          <a:xfrm>
            <a:off x="822960" y="2331720"/>
            <a:ext cx="594360" cy="594360"/>
          </a:xfrm>
          <a:prstGeom prst="ellipse">
            <a:avLst/>
          </a:prstGeom>
          <a:solidFill>
            <a:srgbClr val="1E2761"/>
          </a:solidFill>
          <a:ln/>
        </p:spPr>
      </p:sp>
      <p:sp>
        <p:nvSpPr>
          <p:cNvPr id="7" name="Text 5"/>
          <p:cNvSpPr/>
          <p:nvPr/>
        </p:nvSpPr>
        <p:spPr>
          <a:xfrm>
            <a:off x="822960" y="233172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2</a:t>
            </a:r>
            <a:endParaRPr lang="en-US" sz="1600" dirty="0"/>
          </a:p>
        </p:txBody>
      </p:sp>
      <p:sp>
        <p:nvSpPr>
          <p:cNvPr id="8" name="Text 6"/>
          <p:cNvSpPr/>
          <p:nvPr/>
        </p:nvSpPr>
        <p:spPr>
          <a:xfrm>
            <a:off x="1645920" y="2377440"/>
            <a:ext cx="5760720" cy="548640"/>
          </a:xfrm>
          <a:prstGeom prst="rect">
            <a:avLst/>
          </a:prstGeom>
          <a:noFill/>
          <a:ln/>
        </p:spPr>
        <p:txBody>
          <a:bodyPr wrap="square" lIns="0" tIns="0" rIns="0" bIns="0" rtlCol="0" anchor="ctr"/>
          <a:lstStyle/>
          <a:p>
            <a:pPr indent="0" marL="0">
              <a:buNone/>
            </a:pPr>
            <a:r>
              <a:rPr lang="en-US" sz="1500" dirty="0">
                <a:solidFill>
                  <a:srgbClr val="333333"/>
                </a:solidFill>
                <a:latin typeface="Yu Gothic" pitchFamily="34" charset="0"/>
                <a:ea typeface="Yu Gothic" pitchFamily="34" charset="-122"/>
                <a:cs typeface="Yu Gothic" pitchFamily="34" charset="-120"/>
              </a:rPr>
              <a:t>メールアドレスで登録してログイン</a:t>
            </a:r>
            <a:endParaRPr lang="en-US" sz="1500" dirty="0"/>
          </a:p>
        </p:txBody>
      </p:sp>
      <p:sp>
        <p:nvSpPr>
          <p:cNvPr id="9" name="Shape 7"/>
          <p:cNvSpPr/>
          <p:nvPr/>
        </p:nvSpPr>
        <p:spPr>
          <a:xfrm>
            <a:off x="822960" y="3200400"/>
            <a:ext cx="594360" cy="594360"/>
          </a:xfrm>
          <a:prstGeom prst="ellipse">
            <a:avLst/>
          </a:prstGeom>
          <a:solidFill>
            <a:srgbClr val="1E2761"/>
          </a:solidFill>
          <a:ln/>
        </p:spPr>
      </p:sp>
      <p:sp>
        <p:nvSpPr>
          <p:cNvPr id="10" name="Text 8"/>
          <p:cNvSpPr/>
          <p:nvPr/>
        </p:nvSpPr>
        <p:spPr>
          <a:xfrm>
            <a:off x="822960" y="320040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3</a:t>
            </a:r>
            <a:endParaRPr lang="en-US" sz="1600" dirty="0"/>
          </a:p>
        </p:txBody>
      </p:sp>
      <p:sp>
        <p:nvSpPr>
          <p:cNvPr id="11" name="Text 9"/>
          <p:cNvSpPr/>
          <p:nvPr/>
        </p:nvSpPr>
        <p:spPr>
          <a:xfrm>
            <a:off x="1645920" y="3246120"/>
            <a:ext cx="5760720" cy="548640"/>
          </a:xfrm>
          <a:prstGeom prst="rect">
            <a:avLst/>
          </a:prstGeom>
          <a:noFill/>
          <a:ln/>
        </p:spPr>
        <p:txBody>
          <a:bodyPr wrap="square" lIns="0" tIns="0" rIns="0" bIns="0" rtlCol="0" anchor="ctr"/>
          <a:lstStyle/>
          <a:p>
            <a:pPr indent="0" marL="0">
              <a:buNone/>
            </a:pPr>
            <a:r>
              <a:rPr lang="en-US" sz="1500" dirty="0">
                <a:solidFill>
                  <a:srgbClr val="333333"/>
                </a:solidFill>
                <a:latin typeface="Yu Gothic" pitchFamily="34" charset="0"/>
                <a:ea typeface="Yu Gothic" pitchFamily="34" charset="-122"/>
                <a:cs typeface="Yu Gothic" pitchFamily="34" charset="-120"/>
              </a:rPr>
              <a:t>画面下の入力欄に文字が打てれば準備完了</a:t>
            </a:r>
            <a:endParaRPr lang="en-US" sz="1500" dirty="0"/>
          </a:p>
        </p:txBody>
      </p:sp>
      <p:sp>
        <p:nvSpPr>
          <p:cNvPr id="12" name="Shape 10"/>
          <p:cNvSpPr/>
          <p:nvPr/>
        </p:nvSpPr>
        <p:spPr>
          <a:xfrm>
            <a:off x="7772400" y="1417320"/>
            <a:ext cx="3840480" cy="2834640"/>
          </a:xfrm>
          <a:prstGeom prst="roundRect">
            <a:avLst>
              <a:gd name="adj" fmla="val 3871"/>
            </a:avLst>
          </a:prstGeom>
          <a:solidFill>
            <a:srgbClr val="EEF3FC"/>
          </a:solidFill>
          <a:ln/>
        </p:spPr>
      </p:sp>
      <p:sp>
        <p:nvSpPr>
          <p:cNvPr id="13" name="Shape 11"/>
          <p:cNvSpPr/>
          <p:nvPr/>
        </p:nvSpPr>
        <p:spPr>
          <a:xfrm>
            <a:off x="8092440" y="1737360"/>
            <a:ext cx="731520" cy="731520"/>
          </a:xfrm>
          <a:prstGeom prst="ellipse">
            <a:avLst/>
          </a:prstGeom>
          <a:solidFill>
            <a:srgbClr val="1E2761"/>
          </a:solidFill>
          <a:ln/>
        </p:spPr>
      </p:sp>
      <p:pic>
        <p:nvPicPr>
          <p:cNvPr id="14" name="Image 0" descr="preencoded.png">    </p:cNvPr>
          <p:cNvPicPr>
            <a:picLocks noChangeAspect="1"/>
          </p:cNvPicPr>
          <p:nvPr/>
        </p:nvPicPr>
        <p:blipFill>
          <a:blip r:embed="rId1"/>
          <a:stretch>
            <a:fillRect/>
          </a:stretch>
        </p:blipFill>
        <p:spPr>
          <a:xfrm>
            <a:off x="8282635" y="1927555"/>
            <a:ext cx="351130" cy="351130"/>
          </a:xfrm>
          <a:prstGeom prst="rect">
            <a:avLst/>
          </a:prstGeom>
        </p:spPr>
      </p:pic>
      <p:sp>
        <p:nvSpPr>
          <p:cNvPr id="15" name="Text 12"/>
          <p:cNvSpPr/>
          <p:nvPr/>
        </p:nvSpPr>
        <p:spPr>
          <a:xfrm>
            <a:off x="9006840" y="1828800"/>
            <a:ext cx="2468880" cy="548640"/>
          </a:xfrm>
          <a:prstGeom prst="rect">
            <a:avLst/>
          </a:prstGeom>
          <a:noFill/>
          <a:ln/>
        </p:spPr>
        <p:txBody>
          <a:bodyPr wrap="square" lIns="0" tIns="0" rIns="0" bIns="0" rtlCol="0" anchor="ctr"/>
          <a:lstStyle/>
          <a:p>
            <a:pPr indent="0" marL="0">
              <a:buNone/>
            </a:pPr>
            <a:r>
              <a:rPr lang="en-US" sz="1500" b="1" dirty="0">
                <a:solidFill>
                  <a:srgbClr val="1E2761"/>
                </a:solidFill>
                <a:latin typeface="Yu Gothic" pitchFamily="34" charset="0"/>
                <a:ea typeface="Yu Gothic" pitchFamily="34" charset="-122"/>
                <a:cs typeface="Yu Gothic" pitchFamily="34" charset="-120"/>
              </a:rPr>
              <a:t>本日の会場ルール</a:t>
            </a:r>
            <a:endParaRPr lang="en-US" sz="1500" dirty="0"/>
          </a:p>
        </p:txBody>
      </p:sp>
      <p:sp>
        <p:nvSpPr>
          <p:cNvPr id="16" name="Text 13"/>
          <p:cNvSpPr/>
          <p:nvPr/>
        </p:nvSpPr>
        <p:spPr>
          <a:xfrm>
            <a:off x="8092440" y="2606040"/>
            <a:ext cx="3200400" cy="1463040"/>
          </a:xfrm>
          <a:prstGeom prst="rect">
            <a:avLst/>
          </a:prstGeom>
          <a:noFill/>
          <a:ln/>
        </p:spPr>
        <p:txBody>
          <a:bodyPr wrap="square" lIns="0" tIns="0" rIns="0" bIns="0" rtlCol="0" anchor="ctr"/>
          <a:lstStyle/>
          <a:p>
            <a:pPr indent="0" marL="0">
              <a:lnSpc>
                <a:spcPct val="135000"/>
              </a:lnSpc>
              <a:buNone/>
            </a:pPr>
            <a:r>
              <a:rPr lang="en-US" sz="1350" dirty="0">
                <a:solidFill>
                  <a:srgbClr val="333333"/>
                </a:solidFill>
                <a:latin typeface="Yu Gothic" pitchFamily="34" charset="0"/>
                <a:ea typeface="Yu Gothic" pitchFamily="34" charset="-122"/>
                <a:cs typeface="Yu Gothic" pitchFamily="34" charset="-120"/>
              </a:rPr>
              <a:t>社名・個人名・取引先名は</a:t>
            </a:r>
            <a:endParaRPr lang="en-US" sz="1350" dirty="0"/>
          </a:p>
          <a:p>
            <a:pPr indent="0" marL="0">
              <a:lnSpc>
                <a:spcPct val="135000"/>
              </a:lnSpc>
              <a:buNone/>
            </a:pPr>
            <a:r>
              <a:rPr lang="en-US" sz="1350" dirty="0">
                <a:solidFill>
                  <a:srgbClr val="333333"/>
                </a:solidFill>
                <a:latin typeface="Yu Gothic" pitchFamily="34" charset="0"/>
                <a:ea typeface="Yu Gothic" pitchFamily="34" charset="-122"/>
                <a:cs typeface="Yu Gothic" pitchFamily="34" charset="-120"/>
              </a:rPr>
              <a:t>今日は入力しない。</a:t>
            </a:r>
            <a:endParaRPr lang="en-US" sz="1350" dirty="0"/>
          </a:p>
          <a:p>
            <a:pPr indent="0" marL="0">
              <a:lnSpc>
                <a:spcPct val="135000"/>
              </a:lnSpc>
              <a:buNone/>
            </a:pPr>
            <a:r>
              <a:rPr lang="en-US" sz="1350" dirty="0">
                <a:solidFill>
                  <a:srgbClr val="333333"/>
                </a:solidFill>
                <a:latin typeface="Yu Gothic" pitchFamily="34" charset="0"/>
                <a:ea typeface="Yu Gothic" pitchFamily="34" charset="-122"/>
                <a:cs typeface="Yu Gothic" pitchFamily="34" charset="-120"/>
              </a:rPr>
              <a:t>「A社」「Bさん」に置き換える</a:t>
            </a:r>
            <a:endParaRPr lang="en-US" sz="1350" dirty="0"/>
          </a:p>
        </p:txBody>
      </p:sp>
      <p:sp>
        <p:nvSpPr>
          <p:cNvPr id="17" name="Text 14"/>
          <p:cNvSpPr/>
          <p:nvPr/>
        </p:nvSpPr>
        <p:spPr>
          <a:xfrm>
            <a:off x="822960" y="4663440"/>
            <a:ext cx="10515600" cy="457200"/>
          </a:xfrm>
          <a:prstGeom prst="rect">
            <a:avLst/>
          </a:prstGeom>
          <a:noFill/>
          <a:ln/>
        </p:spPr>
        <p:txBody>
          <a:bodyPr wrap="square" lIns="0" tIns="0" rIns="0" bIns="0" rtlCol="0" anchor="ctr"/>
          <a:lstStyle/>
          <a:p>
            <a:pPr indent="0" marL="0">
              <a:buNone/>
            </a:pPr>
            <a:r>
              <a:rPr lang="en-US" sz="1500" b="1" dirty="0">
                <a:solidFill>
                  <a:srgbClr val="1E2761"/>
                </a:solidFill>
                <a:latin typeface="Yu Gothic" pitchFamily="34" charset="0"/>
                <a:ea typeface="Yu Gothic" pitchFamily="34" charset="-122"/>
                <a:cs typeface="Yu Gothic" pitchFamily="34" charset="-120"/>
              </a:rPr>
              <a:t>この置き換えの習慣が、そのまま「社内の情報漏えい対策」の基本になります</a:t>
            </a:r>
            <a:endParaRPr lang="en-US" sz="1500" dirty="0"/>
          </a:p>
        </p:txBody>
      </p:sp>
      <p:sp>
        <p:nvSpPr>
          <p:cNvPr id="18" name="Text 15"/>
          <p:cNvSpPr/>
          <p:nvPr/>
        </p:nvSpPr>
        <p:spPr>
          <a:xfrm>
            <a:off x="822960" y="5257800"/>
            <a:ext cx="10058400" cy="365760"/>
          </a:xfrm>
          <a:prstGeom prst="rect">
            <a:avLst/>
          </a:prstGeom>
          <a:noFill/>
          <a:ln/>
        </p:spPr>
        <p:txBody>
          <a:bodyPr wrap="square" lIns="0" tIns="0" rIns="0" bIns="0" rtlCol="0" anchor="ctr"/>
          <a:lstStyle/>
          <a:p>
            <a:pPr indent="0" marL="0">
              <a:buNone/>
            </a:pPr>
            <a:r>
              <a:rPr lang="en-US" sz="1200" i="1" dirty="0">
                <a:solidFill>
                  <a:srgbClr val="6B7280"/>
                </a:solidFill>
                <a:latin typeface="Yu Gothic" pitchFamily="34" charset="0"/>
                <a:ea typeface="Yu Gothic" pitchFamily="34" charset="-122"/>
                <a:cs typeface="Yu Gothic" pitchFamily="34" charset="-120"/>
              </a:rPr>
              <a:t>※ すでに入っている方は、隣の方のセットアップを手伝ってあげてください</a:t>
            </a:r>
            <a:endParaRPr lang="en-US" sz="1200" dirty="0"/>
          </a:p>
        </p:txBody>
      </p:sp>
      <p:sp>
        <p:nvSpPr>
          <p:cNvPr id="19" name="Text 16"/>
          <p:cNvSpPr/>
          <p:nvPr/>
        </p:nvSpPr>
        <p:spPr>
          <a:xfrm>
            <a:off x="822960" y="5760720"/>
            <a:ext cx="10789920" cy="411480"/>
          </a:xfrm>
          <a:prstGeom prst="rect">
            <a:avLst/>
          </a:prstGeom>
          <a:noFill/>
          <a:ln/>
        </p:spPr>
        <p:txBody>
          <a:bodyPr wrap="square" lIns="0" tIns="0" rIns="0" bIns="0" rtlCol="0" anchor="ctr"/>
          <a:lstStyle/>
          <a:p>
            <a:pPr indent="0" marL="0">
              <a:buNone/>
            </a:pPr>
            <a:r>
              <a:rPr lang="en-US" sz="1300" b="1" dirty="0">
                <a:solidFill>
                  <a:srgbClr val="1E2761"/>
                </a:solidFill>
                <a:latin typeface="Yu Gothic" pitchFamily="34" charset="0"/>
                <a:ea typeface="Yu Gothic" pitchFamily="34" charset="-122"/>
                <a:cs typeface="Yu Gothic" pitchFamily="34" charset="-120"/>
              </a:rPr>
              <a:t>入力が大変な方へ：キーボードのマイクボタンで「話すだけ入力」ができます　※無料版は回数制限あり。出たら少し待てばOK</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2103120"/>
            <a:ext cx="3657600" cy="548640"/>
          </a:xfrm>
          <a:prstGeom prst="rect">
            <a:avLst/>
          </a:prstGeom>
          <a:noFill/>
          <a:ln/>
        </p:spPr>
        <p:txBody>
          <a:bodyPr wrap="square" lIns="0" tIns="0" rIns="0" bIns="0" rtlCol="0" anchor="ctr"/>
          <a:lstStyle/>
          <a:p>
            <a:pPr indent="0" marL="0">
              <a:buNone/>
            </a:pPr>
            <a:r>
              <a:rPr lang="en-US" sz="2200" b="1" dirty="0">
                <a:solidFill>
                  <a:srgbClr val="E8A33D"/>
                </a:solidFill>
                <a:latin typeface="Yu Gothic" pitchFamily="34" charset="0"/>
                <a:ea typeface="Yu Gothic" pitchFamily="34" charset="-122"/>
                <a:cs typeface="Yu Gothic" pitchFamily="34" charset="-120"/>
              </a:rPr>
              <a:t>第2章</a:t>
            </a:r>
            <a:endParaRPr lang="en-US" sz="2200" dirty="0"/>
          </a:p>
        </p:txBody>
      </p:sp>
      <p:sp>
        <p:nvSpPr>
          <p:cNvPr id="3" name="Text 1"/>
          <p:cNvSpPr/>
          <p:nvPr/>
        </p:nvSpPr>
        <p:spPr>
          <a:xfrm>
            <a:off x="822960" y="2697480"/>
            <a:ext cx="10515600" cy="914400"/>
          </a:xfrm>
          <a:prstGeom prst="rect">
            <a:avLst/>
          </a:prstGeom>
          <a:noFill/>
          <a:ln/>
        </p:spPr>
        <p:txBody>
          <a:bodyPr wrap="square" lIns="0" tIns="0" rIns="0" bIns="0" rtlCol="0" anchor="ctr"/>
          <a:lstStyle/>
          <a:p>
            <a:pPr indent="0" marL="0">
              <a:buNone/>
            </a:pPr>
            <a:r>
              <a:rPr lang="en-US" sz="3600" b="1" dirty="0">
                <a:solidFill>
                  <a:srgbClr val="FFFFFF"/>
                </a:solidFill>
                <a:latin typeface="Yu Gothic" pitchFamily="34" charset="0"/>
                <a:ea typeface="Yu Gothic" pitchFamily="34" charset="-122"/>
                <a:cs typeface="Yu Gothic" pitchFamily="34" charset="-120"/>
              </a:rPr>
              <a:t>AIを「社外取締役」にする</a:t>
            </a:r>
            <a:endParaRPr lang="en-US" sz="3600" dirty="0"/>
          </a:p>
        </p:txBody>
      </p:sp>
      <p:sp>
        <p:nvSpPr>
          <p:cNvPr id="4" name="Text 2"/>
          <p:cNvSpPr/>
          <p:nvPr/>
        </p:nvSpPr>
        <p:spPr>
          <a:xfrm>
            <a:off x="822960" y="3794760"/>
            <a:ext cx="10515600" cy="548640"/>
          </a:xfrm>
          <a:prstGeom prst="rect">
            <a:avLst/>
          </a:prstGeom>
          <a:noFill/>
          <a:ln/>
        </p:spPr>
        <p:txBody>
          <a:bodyPr wrap="square" lIns="0" tIns="0" rIns="0" bIns="0" rtlCol="0" anchor="ctr"/>
          <a:lstStyle/>
          <a:p>
            <a:pPr indent="0" marL="0">
              <a:buNone/>
            </a:pPr>
            <a:r>
              <a:rPr lang="en-US" sz="1600" dirty="0">
                <a:solidFill>
                  <a:srgbClr val="CADCFC"/>
                </a:solidFill>
                <a:latin typeface="Yu Gothic" pitchFamily="34" charset="0"/>
                <a:ea typeface="Yu Gothic" pitchFamily="34" charset="-122"/>
                <a:cs typeface="Yu Gothic" pitchFamily="34" charset="-120"/>
              </a:rPr>
              <a:t>忖度ゼロのAIに、自社を辛口診断させる</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ワーク1 — AIを「社外取締役」にする（10分）</a:t>
            </a:r>
            <a:endParaRPr lang="en-US" sz="2700" dirty="0"/>
          </a:p>
        </p:txBody>
      </p:sp>
      <p:sp>
        <p:nvSpPr>
          <p:cNvPr id="3" name="Shape 1"/>
          <p:cNvSpPr/>
          <p:nvPr/>
        </p:nvSpPr>
        <p:spPr>
          <a:xfrm>
            <a:off x="548640" y="1051560"/>
            <a:ext cx="2011680" cy="457200"/>
          </a:xfrm>
          <a:prstGeom prst="roundRect">
            <a:avLst>
              <a:gd name="adj" fmla="val 50000"/>
            </a:avLst>
          </a:prstGeom>
          <a:solidFill>
            <a:srgbClr val="E8A33D"/>
          </a:solidFill>
          <a:ln/>
        </p:spPr>
      </p:sp>
      <p:sp>
        <p:nvSpPr>
          <p:cNvPr id="4" name="Text 2"/>
          <p:cNvSpPr/>
          <p:nvPr/>
        </p:nvSpPr>
        <p:spPr>
          <a:xfrm>
            <a:off x="548640" y="1051560"/>
            <a:ext cx="2011680" cy="457200"/>
          </a:xfrm>
          <a:prstGeom prst="rect">
            <a:avLst/>
          </a:prstGeom>
          <a:noFill/>
          <a:ln/>
        </p:spPr>
        <p:txBody>
          <a:bodyPr wrap="square" lIns="0" tIns="0" rIns="0" bIns="0" rtlCol="0" anchor="ctr"/>
          <a:lstStyle/>
          <a:p>
            <a:pPr algn="ctr" indent="0" marL="0">
              <a:buNone/>
            </a:pPr>
            <a:r>
              <a:rPr lang="en-US" sz="1400" b="1" dirty="0">
                <a:solidFill>
                  <a:srgbClr val="1E2761"/>
                </a:solidFill>
                <a:latin typeface="Yu Gothic" pitchFamily="34" charset="0"/>
                <a:ea typeface="Yu Gothic" pitchFamily="34" charset="-122"/>
                <a:cs typeface="Yu Gothic" pitchFamily="34" charset="-120"/>
              </a:rPr>
              <a:t>ワーク 1</a:t>
            </a:r>
            <a:endParaRPr lang="en-US" sz="1400" dirty="0"/>
          </a:p>
        </p:txBody>
      </p:sp>
      <p:sp>
        <p:nvSpPr>
          <p:cNvPr id="5" name="Shape 3"/>
          <p:cNvSpPr/>
          <p:nvPr/>
        </p:nvSpPr>
        <p:spPr>
          <a:xfrm>
            <a:off x="548640" y="1691640"/>
            <a:ext cx="6949440" cy="3291840"/>
          </a:xfrm>
          <a:prstGeom prst="roundRect">
            <a:avLst>
              <a:gd name="adj" fmla="val 3333"/>
            </a:avLst>
          </a:prstGeom>
          <a:solidFill>
            <a:srgbClr val="1E2761"/>
          </a:solidFill>
          <a:ln/>
        </p:spPr>
      </p:sp>
      <p:sp>
        <p:nvSpPr>
          <p:cNvPr id="6" name="Text 4"/>
          <p:cNvSpPr/>
          <p:nvPr/>
        </p:nvSpPr>
        <p:spPr>
          <a:xfrm>
            <a:off x="868680" y="1874520"/>
            <a:ext cx="6309360" cy="320040"/>
          </a:xfrm>
          <a:prstGeom prst="rect">
            <a:avLst/>
          </a:prstGeom>
          <a:noFill/>
          <a:ln/>
        </p:spPr>
        <p:txBody>
          <a:bodyPr wrap="square" lIns="0" tIns="0" rIns="0" bIns="0" rtlCol="0" anchor="ctr"/>
          <a:lstStyle/>
          <a:p>
            <a:pPr indent="0" marL="0">
              <a:buNone/>
            </a:pPr>
            <a:r>
              <a:rPr lang="en-US" sz="1100" dirty="0">
                <a:solidFill>
                  <a:srgbClr val="E8A33D"/>
                </a:solidFill>
                <a:latin typeface="Yu Gothic" pitchFamily="34" charset="0"/>
                <a:ea typeface="Yu Gothic" pitchFamily="34" charset="-122"/>
                <a:cs typeface="Yu Gothic" pitchFamily="34" charset="-120"/>
              </a:rPr>
              <a:t>コピーして使うプロンプト（配布資料に掲載）</a:t>
            </a:r>
            <a:endParaRPr lang="en-US" sz="1100" dirty="0"/>
          </a:p>
        </p:txBody>
      </p:sp>
      <p:sp>
        <p:nvSpPr>
          <p:cNvPr id="7" name="Text 5"/>
          <p:cNvSpPr/>
          <p:nvPr/>
        </p:nvSpPr>
        <p:spPr>
          <a:xfrm>
            <a:off x="868680" y="2240280"/>
            <a:ext cx="6309360" cy="2514600"/>
          </a:xfrm>
          <a:prstGeom prst="rect">
            <a:avLst/>
          </a:prstGeom>
          <a:noFill/>
          <a:ln/>
        </p:spPr>
        <p:txBody>
          <a:bodyPr wrap="square" lIns="0" tIns="0" rIns="0" bIns="0" rtlCol="0" anchor="ctr"/>
          <a:lstStyle/>
          <a:p>
            <a:pPr indent="0" marL="0">
              <a:lnSpc>
                <a:spcPct val="135000"/>
              </a:lnSpc>
              <a:buNone/>
            </a:pPr>
            <a:r>
              <a:rPr lang="en-US" sz="1400" dirty="0">
                <a:solidFill>
                  <a:srgbClr val="FFFFFF"/>
                </a:solidFill>
                <a:latin typeface="Yu Gothic" pitchFamily="34" charset="0"/>
                <a:ea typeface="Yu Gothic" pitchFamily="34" charset="-122"/>
                <a:cs typeface="Yu Gothic" pitchFamily="34" charset="-120"/>
              </a:rPr>
              <a:t>あなたは上場企業の社外取締役を務める経営のプロです。</a:t>
            </a:r>
            <a:endParaRPr lang="en-US" sz="1400" dirty="0"/>
          </a:p>
          <a:p>
            <a:pPr indent="0" marL="0">
              <a:lnSpc>
                <a:spcPct val="135000"/>
              </a:lnSpc>
              <a:buNone/>
            </a:pPr>
            <a:r>
              <a:rPr lang="en-US" sz="1400" dirty="0">
                <a:solidFill>
                  <a:srgbClr val="FFFFFF"/>
                </a:solidFill>
                <a:latin typeface="Yu Gothic" pitchFamily="34" charset="0"/>
                <a:ea typeface="Yu Gothic" pitchFamily="34" charset="-122"/>
                <a:cs typeface="Yu Gothic" pitchFamily="34" charset="-120"/>
              </a:rPr>
              <a:t>これから、うちの会社の事業内容を説明します。</a:t>
            </a:r>
            <a:endParaRPr lang="en-US" sz="1400" dirty="0"/>
          </a:p>
          <a:p>
            <a:pPr indent="0" marL="0">
              <a:lnSpc>
                <a:spcPct val="135000"/>
              </a:lnSpc>
              <a:buNone/>
            </a:pPr>
            <a:r>
              <a:rPr lang="en-US" sz="1400" dirty="0">
                <a:solidFill>
                  <a:srgbClr val="FFFFFF"/>
                </a:solidFill>
                <a:latin typeface="Yu Gothic" pitchFamily="34" charset="0"/>
                <a:ea typeface="Yu Gothic" pitchFamily="34" charset="-122"/>
                <a:cs typeface="Yu Gothic" pitchFamily="34" charset="-120"/>
              </a:rPr>
              <a:t>遠慮や忖度は一切不要です。</a:t>
            </a:r>
            <a:endParaRPr lang="en-US" sz="1400" dirty="0"/>
          </a:p>
          <a:p>
            <a:pPr indent="0" marL="0">
              <a:lnSpc>
                <a:spcPct val="135000"/>
              </a:lnSpc>
              <a:buNone/>
            </a:pPr>
            <a:r>
              <a:rPr lang="en-US" sz="1400" dirty="0">
                <a:solidFill>
                  <a:srgbClr val="FFFFFF"/>
                </a:solidFill>
                <a:latin typeface="Yu Gothic" pitchFamily="34" charset="0"/>
                <a:ea typeface="Yu Gothic" pitchFamily="34" charset="-122"/>
                <a:cs typeface="Yu Gothic" pitchFamily="34" charset="-120"/>
              </a:rPr>
              <a:t>①顧客から見た弱点</a:t>
            </a:r>
            <a:endParaRPr lang="en-US" sz="1400" dirty="0"/>
          </a:p>
          <a:p>
            <a:pPr indent="0" marL="0">
              <a:lnSpc>
                <a:spcPct val="135000"/>
              </a:lnSpc>
              <a:buNone/>
            </a:pPr>
            <a:r>
              <a:rPr lang="en-US" sz="1400" dirty="0">
                <a:solidFill>
                  <a:srgbClr val="FFFFFF"/>
                </a:solidFill>
                <a:latin typeface="Yu Gothic" pitchFamily="34" charset="0"/>
                <a:ea typeface="Yu Gothic" pitchFamily="34" charset="-122"/>
                <a:cs typeface="Yu Gothic" pitchFamily="34" charset="-120"/>
              </a:rPr>
              <a:t>②求職者から見た弱点</a:t>
            </a:r>
            <a:endParaRPr lang="en-US" sz="1400" dirty="0"/>
          </a:p>
          <a:p>
            <a:pPr indent="0" marL="0">
              <a:lnSpc>
                <a:spcPct val="135000"/>
              </a:lnSpc>
              <a:buNone/>
            </a:pPr>
            <a:r>
              <a:rPr lang="en-US" sz="1400" dirty="0">
                <a:solidFill>
                  <a:srgbClr val="FFFFFF"/>
                </a:solidFill>
                <a:latin typeface="Yu Gothic" pitchFamily="34" charset="0"/>
                <a:ea typeface="Yu Gothic" pitchFamily="34" charset="-122"/>
                <a:cs typeface="Yu Gothic" pitchFamily="34" charset="-120"/>
              </a:rPr>
              <a:t>③3年後に向けた最大のリスク</a:t>
            </a:r>
            <a:endParaRPr lang="en-US" sz="1400" dirty="0"/>
          </a:p>
          <a:p>
            <a:pPr indent="0" marL="0">
              <a:lnSpc>
                <a:spcPct val="135000"/>
              </a:lnSpc>
              <a:buNone/>
            </a:pPr>
            <a:r>
              <a:rPr lang="en-US" sz="1400" dirty="0">
                <a:solidFill>
                  <a:srgbClr val="FFFFFF"/>
                </a:solidFill>
                <a:latin typeface="Yu Gothic" pitchFamily="34" charset="0"/>
                <a:ea typeface="Yu Gothic" pitchFamily="34" charset="-122"/>
                <a:cs typeface="Yu Gothic" pitchFamily="34" charset="-120"/>
              </a:rPr>
              <a:t>を、厳しい順に指摘してください。</a:t>
            </a:r>
            <a:endParaRPr lang="en-US" sz="1400" dirty="0"/>
          </a:p>
          <a:p>
            <a:pPr indent="0" marL="0">
              <a:lnSpc>
                <a:spcPct val="135000"/>
              </a:lnSpc>
              <a:buNone/>
            </a:pPr>
            <a:endParaRPr lang="en-US" sz="1400" dirty="0"/>
          </a:p>
          <a:p>
            <a:pPr indent="0" marL="0">
              <a:lnSpc>
                <a:spcPct val="135000"/>
              </a:lnSpc>
              <a:buNone/>
            </a:pPr>
            <a:r>
              <a:rPr lang="en-US" sz="1400" dirty="0">
                <a:solidFill>
                  <a:srgbClr val="FFFFFF"/>
                </a:solidFill>
                <a:latin typeface="Yu Gothic" pitchFamily="34" charset="0"/>
                <a:ea typeface="Yu Gothic" pitchFamily="34" charset="-122"/>
                <a:cs typeface="Yu Gothic" pitchFamily="34" charset="-120"/>
              </a:rPr>
              <a:t>【事業内容】（業種・商品・客層・強みを3行で書く）</a:t>
            </a:r>
            <a:endParaRPr lang="en-US" sz="1400" dirty="0"/>
          </a:p>
        </p:txBody>
      </p:sp>
      <p:sp>
        <p:nvSpPr>
          <p:cNvPr id="8" name="Shape 6"/>
          <p:cNvSpPr/>
          <p:nvPr/>
        </p:nvSpPr>
        <p:spPr>
          <a:xfrm>
            <a:off x="7772400" y="1691640"/>
            <a:ext cx="3886200" cy="3291840"/>
          </a:xfrm>
          <a:prstGeom prst="roundRect">
            <a:avLst>
              <a:gd name="adj" fmla="val 3333"/>
            </a:avLst>
          </a:prstGeom>
          <a:solidFill>
            <a:srgbClr val="EEF3FC"/>
          </a:solidFill>
          <a:ln/>
        </p:spPr>
      </p:sp>
      <p:sp>
        <p:nvSpPr>
          <p:cNvPr id="9" name="Text 7"/>
          <p:cNvSpPr/>
          <p:nvPr/>
        </p:nvSpPr>
        <p:spPr>
          <a:xfrm>
            <a:off x="8092440" y="1920240"/>
            <a:ext cx="3200400" cy="365760"/>
          </a:xfrm>
          <a:prstGeom prst="rect">
            <a:avLst/>
          </a:prstGeom>
          <a:noFill/>
          <a:ln/>
        </p:spPr>
        <p:txBody>
          <a:bodyPr wrap="square" lIns="0" tIns="0" rIns="0" bIns="0" rtlCol="0" anchor="ctr"/>
          <a:lstStyle/>
          <a:p>
            <a:pPr indent="0" marL="0">
              <a:buNone/>
            </a:pPr>
            <a:r>
              <a:rPr lang="en-US" sz="1400" b="1" dirty="0">
                <a:solidFill>
                  <a:srgbClr val="1E2761"/>
                </a:solidFill>
                <a:latin typeface="Yu Gothic" pitchFamily="34" charset="0"/>
                <a:ea typeface="Yu Gothic" pitchFamily="34" charset="-122"/>
                <a:cs typeface="Yu Gothic" pitchFamily="34" charset="-120"/>
              </a:rPr>
              <a:t>やり方</a:t>
            </a:r>
            <a:endParaRPr lang="en-US" sz="1400" dirty="0"/>
          </a:p>
        </p:txBody>
      </p:sp>
      <p:sp>
        <p:nvSpPr>
          <p:cNvPr id="10" name="Text 8"/>
          <p:cNvSpPr/>
          <p:nvPr/>
        </p:nvSpPr>
        <p:spPr>
          <a:xfrm>
            <a:off x="8092440" y="2331720"/>
            <a:ext cx="3291840" cy="2377440"/>
          </a:xfrm>
          <a:prstGeom prst="rect">
            <a:avLst/>
          </a:prstGeom>
          <a:noFill/>
          <a:ln/>
        </p:spPr>
        <p:txBody>
          <a:bodyPr wrap="square" rtlCol="0" anchor="ctr"/>
          <a:lstStyle/>
          <a:p>
            <a:pPr marL="342900" indent="-342900">
              <a:lnSpc>
                <a:spcPct val="125000"/>
              </a:lnSpc>
              <a:spcAft>
                <a:spcPts val="1000"/>
              </a:spcAft>
              <a:buSzPct val="100000"/>
              <a:buChar char="•"/>
            </a:pPr>
            <a:r>
              <a:rPr lang="en-US" sz="1250" dirty="0">
                <a:solidFill>
                  <a:srgbClr val="333333"/>
                </a:solidFill>
                <a:latin typeface="Yu Gothic" pitchFamily="34" charset="0"/>
                <a:ea typeface="Yu Gothic" pitchFamily="34" charset="-122"/>
                <a:cs typeface="Yu Gothic" pitchFamily="34" charset="-120"/>
              </a:rPr>
              <a:t>左の文をそのまま打つ（配布資料にもあります）</a:t>
            </a:r>
            <a:endParaRPr lang="en-US" sz="1250" dirty="0"/>
          </a:p>
          <a:p>
            <a:pPr marL="342900" indent="-342900">
              <a:lnSpc>
                <a:spcPct val="125000"/>
              </a:lnSpc>
              <a:spcAft>
                <a:spcPts val="1000"/>
              </a:spcAft>
              <a:buSzPct val="100000"/>
              <a:buChar char="•"/>
            </a:pPr>
            <a:r>
              <a:rPr lang="en-US" sz="1250" dirty="0">
                <a:solidFill>
                  <a:srgbClr val="333333"/>
                </a:solidFill>
                <a:latin typeface="Yu Gothic" pitchFamily="34" charset="0"/>
                <a:ea typeface="Yu Gothic" pitchFamily="34" charset="-122"/>
                <a:cs typeface="Yu Gothic" pitchFamily="34" charset="-120"/>
              </a:rPr>
              <a:t>【事業内容】は3行でOK。社名は書かない</a:t>
            </a:r>
            <a:endParaRPr lang="en-US" sz="1250" dirty="0"/>
          </a:p>
          <a:p>
            <a:pPr marL="342900" indent="-342900">
              <a:lnSpc>
                <a:spcPct val="125000"/>
              </a:lnSpc>
              <a:spcAft>
                <a:spcPts val="1000"/>
              </a:spcAft>
              <a:buSzPct val="100000"/>
              <a:buChar char="•"/>
            </a:pPr>
            <a:r>
              <a:rPr lang="en-US" sz="1250" dirty="0">
                <a:solidFill>
                  <a:srgbClr val="333333"/>
                </a:solidFill>
                <a:latin typeface="Yu Gothic" pitchFamily="34" charset="0"/>
                <a:ea typeface="Yu Gothic" pitchFamily="34" charset="-122"/>
                <a:cs typeface="Yu Gothic" pitchFamily="34" charset="-120"/>
              </a:rPr>
              <a:t>出てきた指摘に「もっと厳しく」と返す</a:t>
            </a:r>
            <a:endParaRPr lang="en-US" sz="1250" dirty="0"/>
          </a:p>
        </p:txBody>
      </p:sp>
      <p:sp>
        <p:nvSpPr>
          <p:cNvPr id="11" name="Text 9"/>
          <p:cNvSpPr/>
          <p:nvPr/>
        </p:nvSpPr>
        <p:spPr>
          <a:xfrm>
            <a:off x="548640" y="5257800"/>
            <a:ext cx="11064240" cy="457200"/>
          </a:xfrm>
          <a:prstGeom prst="rect">
            <a:avLst/>
          </a:prstGeom>
          <a:noFill/>
          <a:ln/>
        </p:spPr>
        <p:txBody>
          <a:bodyPr wrap="square" lIns="0" tIns="0" rIns="0" bIns="0" rtlCol="0" anchor="ctr"/>
          <a:lstStyle/>
          <a:p>
            <a:pPr indent="0" marL="0">
              <a:buNone/>
            </a:pPr>
            <a:r>
              <a:rPr lang="en-US" sz="1500" b="1" dirty="0">
                <a:solidFill>
                  <a:srgbClr val="1E2761"/>
                </a:solidFill>
                <a:latin typeface="Yu Gothic" pitchFamily="34" charset="0"/>
                <a:ea typeface="Yu Gothic" pitchFamily="34" charset="-122"/>
                <a:cs typeface="Yu Gothic" pitchFamily="34" charset="-120"/>
              </a:rPr>
              <a:t>ポイント：良い答えを出させるコツではなく、「言いにくいことを言わせる」設定が肝です</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出力例 — 架空の板金加工会社でやってみると</a:t>
            </a:r>
            <a:endParaRPr lang="en-US" sz="2700" dirty="0"/>
          </a:p>
        </p:txBody>
      </p:sp>
      <p:sp>
        <p:nvSpPr>
          <p:cNvPr id="3" name="Shape 1"/>
          <p:cNvSpPr/>
          <p:nvPr/>
        </p:nvSpPr>
        <p:spPr>
          <a:xfrm>
            <a:off x="548640" y="1371600"/>
            <a:ext cx="11064240" cy="3657600"/>
          </a:xfrm>
          <a:prstGeom prst="roundRect">
            <a:avLst>
              <a:gd name="adj" fmla="val 3000"/>
            </a:avLst>
          </a:prstGeom>
          <a:solidFill>
            <a:srgbClr val="1E2761"/>
          </a:solidFill>
          <a:ln/>
        </p:spPr>
      </p:sp>
      <p:sp>
        <p:nvSpPr>
          <p:cNvPr id="4" name="Text 2"/>
          <p:cNvSpPr/>
          <p:nvPr/>
        </p:nvSpPr>
        <p:spPr>
          <a:xfrm>
            <a:off x="868680" y="1554480"/>
            <a:ext cx="10424160" cy="320040"/>
          </a:xfrm>
          <a:prstGeom prst="rect">
            <a:avLst/>
          </a:prstGeom>
          <a:noFill/>
          <a:ln/>
        </p:spPr>
        <p:txBody>
          <a:bodyPr wrap="square" lIns="0" tIns="0" rIns="0" bIns="0" rtlCol="0" anchor="ctr"/>
          <a:lstStyle/>
          <a:p>
            <a:pPr indent="0" marL="0">
              <a:buNone/>
            </a:pPr>
            <a:r>
              <a:rPr lang="en-US" sz="1100" dirty="0">
                <a:solidFill>
                  <a:srgbClr val="E8A33D"/>
                </a:solidFill>
                <a:latin typeface="Yu Gothic" pitchFamily="34" charset="0"/>
                <a:ea typeface="Yu Gothic" pitchFamily="34" charset="-122"/>
                <a:cs typeface="Yu Gothic" pitchFamily="34" charset="-120"/>
              </a:rPr>
              <a:t>AIの回答（抜粋・架空の会社の例）</a:t>
            </a:r>
            <a:endParaRPr lang="en-US" sz="1100" dirty="0"/>
          </a:p>
        </p:txBody>
      </p:sp>
      <p:sp>
        <p:nvSpPr>
          <p:cNvPr id="5" name="Text 3"/>
          <p:cNvSpPr/>
          <p:nvPr/>
        </p:nvSpPr>
        <p:spPr>
          <a:xfrm>
            <a:off x="868680" y="1920240"/>
            <a:ext cx="10424160" cy="2880360"/>
          </a:xfrm>
          <a:prstGeom prst="rect">
            <a:avLst/>
          </a:prstGeom>
          <a:noFill/>
          <a:ln/>
        </p:spPr>
        <p:txBody>
          <a:bodyPr wrap="square" lIns="0" tIns="0" rIns="0" bIns="0" rtlCol="0" anchor="ctr"/>
          <a:lstStyle/>
          <a:p>
            <a:pPr indent="0" marL="0">
              <a:lnSpc>
                <a:spcPct val="130000"/>
              </a:lnSpc>
              <a:buNone/>
            </a:pPr>
            <a:r>
              <a:rPr lang="en-US" sz="1350" dirty="0">
                <a:solidFill>
                  <a:srgbClr val="FFFFFF"/>
                </a:solidFill>
                <a:latin typeface="Yu Gothic" pitchFamily="34" charset="0"/>
                <a:ea typeface="Yu Gothic" pitchFamily="34" charset="-122"/>
                <a:cs typeface="Yu Gothic" pitchFamily="34" charset="-120"/>
              </a:rPr>
              <a:t>① 顧客から見た弱点：技術力の説明が「高品質・短納期」という一般論で、他社との違いが伝わりません。実績の数字（不良率・リピート率）が一切示されていない点は、新規顧客にとって選ばない理由になります。</a:t>
            </a:r>
            <a:endParaRPr lang="en-US" sz="1350" dirty="0"/>
          </a:p>
          <a:p>
            <a:pPr indent="0" marL="0">
              <a:lnSpc>
                <a:spcPct val="130000"/>
              </a:lnSpc>
              <a:buNone/>
            </a:pPr>
            <a:r>
              <a:rPr lang="en-US" sz="1350" dirty="0">
                <a:solidFill>
                  <a:srgbClr val="FFFFFF"/>
                </a:solidFill>
                <a:latin typeface="Yu Gothic" pitchFamily="34" charset="0"/>
                <a:ea typeface="Yu Gothic" pitchFamily="34" charset="-122"/>
                <a:cs typeface="Yu Gothic" pitchFamily="34" charset="-120"/>
              </a:rPr>
              <a:t>② 求職者から見た弱点：仕事内容より「アットホームな職場」が前面に出ており、若手技術者には響きません。何が身につくかが書かれていないのは致命的です。</a:t>
            </a:r>
            <a:endParaRPr lang="en-US" sz="1350" dirty="0"/>
          </a:p>
          <a:p>
            <a:pPr indent="0" marL="0">
              <a:lnSpc>
                <a:spcPct val="130000"/>
              </a:lnSpc>
              <a:buNone/>
            </a:pPr>
            <a:r>
              <a:rPr lang="en-US" sz="1350" dirty="0">
                <a:solidFill>
                  <a:srgbClr val="FFFFFF"/>
                </a:solidFill>
                <a:latin typeface="Yu Gothic" pitchFamily="34" charset="0"/>
                <a:ea typeface="Yu Gothic" pitchFamily="34" charset="-122"/>
                <a:cs typeface="Yu Gothic" pitchFamily="34" charset="-120"/>
              </a:rPr>
              <a:t>③ 3年後のリスク：売上の大半が特定の1社に依存しているなら、その1社の内製化・調達方針の変更が最大のリスクです。</a:t>
            </a:r>
            <a:endParaRPr lang="en-US" sz="1350" dirty="0"/>
          </a:p>
        </p:txBody>
      </p:sp>
      <p:sp>
        <p:nvSpPr>
          <p:cNvPr id="6" name="Shape 4"/>
          <p:cNvSpPr/>
          <p:nvPr/>
        </p:nvSpPr>
        <p:spPr>
          <a:xfrm>
            <a:off x="2194560" y="5303520"/>
            <a:ext cx="7772400" cy="685800"/>
          </a:xfrm>
          <a:prstGeom prst="roundRect">
            <a:avLst>
              <a:gd name="adj" fmla="val 16000"/>
            </a:avLst>
          </a:prstGeom>
          <a:solidFill>
            <a:srgbClr val="E8A33D"/>
          </a:solidFill>
          <a:ln/>
        </p:spPr>
      </p:sp>
      <p:sp>
        <p:nvSpPr>
          <p:cNvPr id="7" name="Text 5"/>
          <p:cNvSpPr/>
          <p:nvPr/>
        </p:nvSpPr>
        <p:spPr>
          <a:xfrm>
            <a:off x="2468880" y="5303520"/>
            <a:ext cx="7223760" cy="685800"/>
          </a:xfrm>
          <a:prstGeom prst="rect">
            <a:avLst/>
          </a:prstGeom>
          <a:noFill/>
          <a:ln/>
        </p:spPr>
        <p:txBody>
          <a:bodyPr wrap="square" lIns="0" tIns="0" rIns="0" bIns="0" rtlCol="0" anchor="ctr"/>
          <a:lstStyle/>
          <a:p>
            <a:pPr indent="0" marL="0">
              <a:buNone/>
            </a:pPr>
            <a:r>
              <a:rPr lang="en-US" sz="1500" b="1" dirty="0">
                <a:solidFill>
                  <a:srgbClr val="1E2761"/>
                </a:solidFill>
                <a:latin typeface="Yu Gothic" pitchFamily="34" charset="0"/>
                <a:ea typeface="Yu Gothic" pitchFamily="34" charset="-122"/>
                <a:cs typeface="Yu Gothic" pitchFamily="34" charset="-120"/>
              </a:rPr>
              <a:t>⏸ ここで動画を止めて、あなたの会社でも試してみてください</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なぜ効くのか — AIは「調べる道具」ではなく「壁打ち相手」</a:t>
            </a:r>
            <a:endParaRPr lang="en-US" sz="2700" dirty="0"/>
          </a:p>
        </p:txBody>
      </p:sp>
      <p:sp>
        <p:nvSpPr>
          <p:cNvPr id="3" name="Shape 1"/>
          <p:cNvSpPr/>
          <p:nvPr/>
        </p:nvSpPr>
        <p:spPr>
          <a:xfrm>
            <a:off x="822960" y="1554480"/>
            <a:ext cx="10515600" cy="1463040"/>
          </a:xfrm>
          <a:prstGeom prst="roundRect">
            <a:avLst>
              <a:gd name="adj" fmla="val 7500"/>
            </a:avLst>
          </a:prstGeom>
          <a:solidFill>
            <a:srgbClr val="F3F4F6"/>
          </a:solidFill>
          <a:ln/>
        </p:spPr>
      </p:sp>
      <p:sp>
        <p:nvSpPr>
          <p:cNvPr id="4" name="Text 2"/>
          <p:cNvSpPr/>
          <p:nvPr/>
        </p:nvSpPr>
        <p:spPr>
          <a:xfrm>
            <a:off x="1188720" y="1737360"/>
            <a:ext cx="9784080" cy="457200"/>
          </a:xfrm>
          <a:prstGeom prst="rect">
            <a:avLst/>
          </a:prstGeom>
          <a:noFill/>
          <a:ln/>
        </p:spPr>
        <p:txBody>
          <a:bodyPr wrap="square" lIns="0" tIns="0" rIns="0" bIns="0" rtlCol="0" anchor="ctr"/>
          <a:lstStyle/>
          <a:p>
            <a:pPr indent="0" marL="0">
              <a:buNone/>
            </a:pPr>
            <a:r>
              <a:rPr lang="en-US" sz="1700" b="1" dirty="0">
                <a:solidFill>
                  <a:srgbClr val="333333"/>
                </a:solidFill>
                <a:latin typeface="Yu Gothic" pitchFamily="34" charset="0"/>
                <a:ea typeface="Yu Gothic" pitchFamily="34" charset="-122"/>
                <a:cs typeface="Yu Gothic" pitchFamily="34" charset="-120"/>
              </a:rPr>
              <a:t>調べる道具だと思うと</a:t>
            </a:r>
            <a:endParaRPr lang="en-US" sz="1700" dirty="0"/>
          </a:p>
        </p:txBody>
      </p:sp>
      <p:sp>
        <p:nvSpPr>
          <p:cNvPr id="5" name="Text 3"/>
          <p:cNvSpPr/>
          <p:nvPr/>
        </p:nvSpPr>
        <p:spPr>
          <a:xfrm>
            <a:off x="1188720" y="2267712"/>
            <a:ext cx="9784080" cy="548640"/>
          </a:xfrm>
          <a:prstGeom prst="rect">
            <a:avLst/>
          </a:prstGeom>
          <a:noFill/>
          <a:ln/>
        </p:spPr>
        <p:txBody>
          <a:bodyPr wrap="square" lIns="0" tIns="0" rIns="0" bIns="0" rtlCol="0" anchor="ctr"/>
          <a:lstStyle/>
          <a:p>
            <a:pPr indent="0" marL="0">
              <a:buNone/>
            </a:pPr>
            <a:r>
              <a:rPr lang="en-US" sz="1400" dirty="0">
                <a:solidFill>
                  <a:srgbClr val="333333"/>
                </a:solidFill>
                <a:latin typeface="Yu Gothic" pitchFamily="34" charset="0"/>
                <a:ea typeface="Yu Gothic" pitchFamily="34" charset="-122"/>
                <a:cs typeface="Yu Gothic" pitchFamily="34" charset="-120"/>
              </a:rPr>
              <a:t>検索で足りる。「AIは大したことない」で終わる</a:t>
            </a:r>
            <a:endParaRPr lang="en-US" sz="1400" dirty="0"/>
          </a:p>
        </p:txBody>
      </p:sp>
      <p:sp>
        <p:nvSpPr>
          <p:cNvPr id="6" name="Shape 4"/>
          <p:cNvSpPr/>
          <p:nvPr/>
        </p:nvSpPr>
        <p:spPr>
          <a:xfrm>
            <a:off x="822960" y="3246120"/>
            <a:ext cx="10515600" cy="1463040"/>
          </a:xfrm>
          <a:prstGeom prst="roundRect">
            <a:avLst>
              <a:gd name="adj" fmla="val 7500"/>
            </a:avLst>
          </a:prstGeom>
          <a:solidFill>
            <a:srgbClr val="EEF3FC"/>
          </a:solidFill>
          <a:ln/>
        </p:spPr>
      </p:sp>
      <p:sp>
        <p:nvSpPr>
          <p:cNvPr id="7" name="Text 5"/>
          <p:cNvSpPr/>
          <p:nvPr/>
        </p:nvSpPr>
        <p:spPr>
          <a:xfrm>
            <a:off x="1188720" y="3429000"/>
            <a:ext cx="9784080" cy="457200"/>
          </a:xfrm>
          <a:prstGeom prst="rect">
            <a:avLst/>
          </a:prstGeom>
          <a:noFill/>
          <a:ln/>
        </p:spPr>
        <p:txBody>
          <a:bodyPr wrap="square" lIns="0" tIns="0" rIns="0" bIns="0" rtlCol="0" anchor="ctr"/>
          <a:lstStyle/>
          <a:p>
            <a:pPr indent="0" marL="0">
              <a:buNone/>
            </a:pPr>
            <a:r>
              <a:rPr lang="en-US" sz="1700" b="1" dirty="0">
                <a:solidFill>
                  <a:srgbClr val="1E2761"/>
                </a:solidFill>
                <a:latin typeface="Yu Gothic" pitchFamily="34" charset="0"/>
                <a:ea typeface="Yu Gothic" pitchFamily="34" charset="-122"/>
                <a:cs typeface="Yu Gothic" pitchFamily="34" charset="-120"/>
              </a:rPr>
              <a:t>壁打ち相手だと思うと</a:t>
            </a:r>
            <a:endParaRPr lang="en-US" sz="1700" dirty="0"/>
          </a:p>
        </p:txBody>
      </p:sp>
      <p:sp>
        <p:nvSpPr>
          <p:cNvPr id="8" name="Text 6"/>
          <p:cNvSpPr/>
          <p:nvPr/>
        </p:nvSpPr>
        <p:spPr>
          <a:xfrm>
            <a:off x="1188720" y="3959352"/>
            <a:ext cx="9784080" cy="548640"/>
          </a:xfrm>
          <a:prstGeom prst="rect">
            <a:avLst/>
          </a:prstGeom>
          <a:noFill/>
          <a:ln/>
        </p:spPr>
        <p:txBody>
          <a:bodyPr wrap="square" lIns="0" tIns="0" rIns="0" bIns="0" rtlCol="0" anchor="ctr"/>
          <a:lstStyle/>
          <a:p>
            <a:pPr indent="0" marL="0">
              <a:buNone/>
            </a:pPr>
            <a:r>
              <a:rPr lang="en-US" sz="1400" dirty="0">
                <a:solidFill>
                  <a:srgbClr val="333333"/>
                </a:solidFill>
                <a:latin typeface="Yu Gothic" pitchFamily="34" charset="0"/>
                <a:ea typeface="Yu Gothic" pitchFamily="34" charset="-122"/>
                <a:cs typeface="Yu Gothic" pitchFamily="34" charset="-120"/>
              </a:rPr>
              <a:t>経営の悩みを深夜でも、何度でも、タダで相談できる。手放せなくなる</a:t>
            </a:r>
            <a:endParaRPr lang="en-US" sz="1400" dirty="0"/>
          </a:p>
        </p:txBody>
      </p:sp>
      <p:sp>
        <p:nvSpPr>
          <p:cNvPr id="9" name="Text 7"/>
          <p:cNvSpPr/>
          <p:nvPr/>
        </p:nvSpPr>
        <p:spPr>
          <a:xfrm>
            <a:off x="822960" y="5120640"/>
            <a:ext cx="10515600" cy="502920"/>
          </a:xfrm>
          <a:prstGeom prst="rect">
            <a:avLst/>
          </a:prstGeom>
          <a:noFill/>
          <a:ln/>
        </p:spPr>
        <p:txBody>
          <a:bodyPr wrap="square" lIns="0" tIns="0" rIns="0" bIns="0" rtlCol="0" anchor="ctr"/>
          <a:lstStyle/>
          <a:p>
            <a:pPr algn="ctr" indent="0" marL="0">
              <a:buNone/>
            </a:pPr>
            <a:r>
              <a:rPr lang="en-US" sz="1700" b="1" dirty="0">
                <a:solidFill>
                  <a:srgbClr val="1E2761"/>
                </a:solidFill>
                <a:latin typeface="Yu Gothic" pitchFamily="34" charset="0"/>
                <a:ea typeface="Yu Gothic" pitchFamily="34" charset="-122"/>
                <a:cs typeface="Yu Gothic" pitchFamily="34" charset="-120"/>
              </a:rPr>
              <a:t>経営者にとっての生成AIの正体：社内に相談相手がいない人ほど、効く</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2103120"/>
            <a:ext cx="3657600" cy="548640"/>
          </a:xfrm>
          <a:prstGeom prst="rect">
            <a:avLst/>
          </a:prstGeom>
          <a:noFill/>
          <a:ln/>
        </p:spPr>
        <p:txBody>
          <a:bodyPr wrap="square" lIns="0" tIns="0" rIns="0" bIns="0" rtlCol="0" anchor="ctr"/>
          <a:lstStyle/>
          <a:p>
            <a:pPr indent="0" marL="0">
              <a:buNone/>
            </a:pPr>
            <a:r>
              <a:rPr lang="en-US" sz="2200" b="1" dirty="0">
                <a:solidFill>
                  <a:srgbClr val="E8A33D"/>
                </a:solidFill>
                <a:latin typeface="Yu Gothic" pitchFamily="34" charset="0"/>
                <a:ea typeface="Yu Gothic" pitchFamily="34" charset="-122"/>
                <a:cs typeface="Yu Gothic" pitchFamily="34" charset="-120"/>
              </a:rPr>
              <a:t>第3章</a:t>
            </a:r>
            <a:endParaRPr lang="en-US" sz="2200" dirty="0"/>
          </a:p>
        </p:txBody>
      </p:sp>
      <p:sp>
        <p:nvSpPr>
          <p:cNvPr id="3" name="Text 1"/>
          <p:cNvSpPr/>
          <p:nvPr/>
        </p:nvSpPr>
        <p:spPr>
          <a:xfrm>
            <a:off x="822960" y="2697480"/>
            <a:ext cx="10515600" cy="914400"/>
          </a:xfrm>
          <a:prstGeom prst="rect">
            <a:avLst/>
          </a:prstGeom>
          <a:noFill/>
          <a:ln/>
        </p:spPr>
        <p:txBody>
          <a:bodyPr wrap="square" lIns="0" tIns="0" rIns="0" bIns="0" rtlCol="0" anchor="ctr"/>
          <a:lstStyle/>
          <a:p>
            <a:pPr indent="0" marL="0">
              <a:buNone/>
            </a:pPr>
            <a:r>
              <a:rPr lang="en-US" sz="3600" b="1" dirty="0">
                <a:solidFill>
                  <a:srgbClr val="FFFFFF"/>
                </a:solidFill>
                <a:latin typeface="Yu Gothic" pitchFamily="34" charset="0"/>
                <a:ea typeface="Yu Gothic" pitchFamily="34" charset="-122"/>
                <a:cs typeface="Yu Gothic" pitchFamily="34" charset="-120"/>
              </a:rPr>
              <a:t>逆質問法 — 質問はAIにさせる</a:t>
            </a:r>
            <a:endParaRPr lang="en-US" sz="3600" dirty="0"/>
          </a:p>
        </p:txBody>
      </p:sp>
      <p:sp>
        <p:nvSpPr>
          <p:cNvPr id="4" name="Text 2"/>
          <p:cNvSpPr/>
          <p:nvPr/>
        </p:nvSpPr>
        <p:spPr>
          <a:xfrm>
            <a:off x="822960" y="3794760"/>
            <a:ext cx="10515600" cy="548640"/>
          </a:xfrm>
          <a:prstGeom prst="rect">
            <a:avLst/>
          </a:prstGeom>
          <a:noFill/>
          <a:ln/>
        </p:spPr>
        <p:txBody>
          <a:bodyPr wrap="square" lIns="0" tIns="0" rIns="0" bIns="0" rtlCol="0" anchor="ctr"/>
          <a:lstStyle/>
          <a:p>
            <a:pPr indent="0" marL="0">
              <a:buNone/>
            </a:pPr>
            <a:r>
              <a:rPr lang="en-US" sz="1600" dirty="0">
                <a:solidFill>
                  <a:srgbClr val="CADCFC"/>
                </a:solidFill>
                <a:latin typeface="Yu Gothic" pitchFamily="34" charset="0"/>
                <a:ea typeface="Yu Gothic" pitchFamily="34" charset="-122"/>
                <a:cs typeface="Yu Gothic" pitchFamily="34" charset="-120"/>
              </a:rPr>
              <a:t>この動画でいちばん持ち帰ってほしい型</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ワーク2 — 本日の目玉「逆質問法」：質問はAIにさせる</a:t>
            </a:r>
            <a:endParaRPr lang="en-US" sz="2700" dirty="0"/>
          </a:p>
        </p:txBody>
      </p:sp>
      <p:sp>
        <p:nvSpPr>
          <p:cNvPr id="3" name="Shape 1"/>
          <p:cNvSpPr/>
          <p:nvPr/>
        </p:nvSpPr>
        <p:spPr>
          <a:xfrm>
            <a:off x="548640" y="1051560"/>
            <a:ext cx="2011680" cy="457200"/>
          </a:xfrm>
          <a:prstGeom prst="roundRect">
            <a:avLst>
              <a:gd name="adj" fmla="val 50000"/>
            </a:avLst>
          </a:prstGeom>
          <a:solidFill>
            <a:srgbClr val="E8A33D"/>
          </a:solidFill>
          <a:ln/>
        </p:spPr>
      </p:sp>
      <p:sp>
        <p:nvSpPr>
          <p:cNvPr id="4" name="Text 2"/>
          <p:cNvSpPr/>
          <p:nvPr/>
        </p:nvSpPr>
        <p:spPr>
          <a:xfrm>
            <a:off x="548640" y="1051560"/>
            <a:ext cx="2011680" cy="457200"/>
          </a:xfrm>
          <a:prstGeom prst="rect">
            <a:avLst/>
          </a:prstGeom>
          <a:noFill/>
          <a:ln/>
        </p:spPr>
        <p:txBody>
          <a:bodyPr wrap="square" lIns="0" tIns="0" rIns="0" bIns="0" rtlCol="0" anchor="ctr"/>
          <a:lstStyle/>
          <a:p>
            <a:pPr algn="ctr" indent="0" marL="0">
              <a:buNone/>
            </a:pPr>
            <a:r>
              <a:rPr lang="en-US" sz="1400" b="1" dirty="0">
                <a:solidFill>
                  <a:srgbClr val="1E2761"/>
                </a:solidFill>
                <a:latin typeface="Yu Gothic" pitchFamily="34" charset="0"/>
                <a:ea typeface="Yu Gothic" pitchFamily="34" charset="-122"/>
                <a:cs typeface="Yu Gothic" pitchFamily="34" charset="-120"/>
              </a:rPr>
              <a:t>ワーク 2</a:t>
            </a:r>
            <a:endParaRPr lang="en-US" sz="1400" dirty="0"/>
          </a:p>
        </p:txBody>
      </p:sp>
      <p:sp>
        <p:nvSpPr>
          <p:cNvPr id="5" name="Text 3"/>
          <p:cNvSpPr/>
          <p:nvPr/>
        </p:nvSpPr>
        <p:spPr>
          <a:xfrm>
            <a:off x="548640" y="1691640"/>
            <a:ext cx="11064240" cy="868680"/>
          </a:xfrm>
          <a:prstGeom prst="rect">
            <a:avLst/>
          </a:prstGeom>
          <a:noFill/>
          <a:ln/>
        </p:spPr>
        <p:txBody>
          <a:bodyPr wrap="square" lIns="0" tIns="0" rIns="0" bIns="0" rtlCol="0" anchor="ctr"/>
          <a:lstStyle/>
          <a:p>
            <a:pPr indent="0" marL="0">
              <a:lnSpc>
                <a:spcPct val="130000"/>
              </a:lnSpc>
              <a:buNone/>
            </a:pPr>
            <a:r>
              <a:rPr lang="en-US" sz="1500" dirty="0">
                <a:solidFill>
                  <a:srgbClr val="333333"/>
                </a:solidFill>
                <a:latin typeface="Yu Gothic" pitchFamily="34" charset="0"/>
                <a:ea typeface="Yu Gothic" pitchFamily="34" charset="-122"/>
                <a:cs typeface="Yu Gothic" pitchFamily="34" charset="-120"/>
              </a:rPr>
              <a:t>うまく書けないのは、指示が下手だからではなく「必要な情報を全部言えない」から。</a:t>
            </a:r>
            <a:endParaRPr lang="en-US" sz="1500" dirty="0"/>
          </a:p>
          <a:p>
            <a:pPr indent="0" marL="0">
              <a:lnSpc>
                <a:spcPct val="130000"/>
              </a:lnSpc>
              <a:buNone/>
            </a:pPr>
            <a:r>
              <a:rPr lang="en-US" sz="1500" dirty="0">
                <a:solidFill>
                  <a:srgbClr val="333333"/>
                </a:solidFill>
                <a:latin typeface="Yu Gothic" pitchFamily="34" charset="0"/>
                <a:ea typeface="Yu Gothic" pitchFamily="34" charset="-122"/>
                <a:cs typeface="Yu Gothic" pitchFamily="34" charset="-120"/>
              </a:rPr>
              <a:t>なら、何が必要かはAIに聞かせればいい。</a:t>
            </a:r>
            <a:endParaRPr lang="en-US" sz="1500" dirty="0"/>
          </a:p>
        </p:txBody>
      </p:sp>
      <p:sp>
        <p:nvSpPr>
          <p:cNvPr id="6" name="Shape 4"/>
          <p:cNvSpPr/>
          <p:nvPr/>
        </p:nvSpPr>
        <p:spPr>
          <a:xfrm>
            <a:off x="548640" y="2697480"/>
            <a:ext cx="11064240" cy="2743200"/>
          </a:xfrm>
          <a:prstGeom prst="roundRect">
            <a:avLst>
              <a:gd name="adj" fmla="val 4000"/>
            </a:avLst>
          </a:prstGeom>
          <a:solidFill>
            <a:srgbClr val="1E2761"/>
          </a:solidFill>
          <a:ln/>
        </p:spPr>
      </p:sp>
      <p:sp>
        <p:nvSpPr>
          <p:cNvPr id="7" name="Text 5"/>
          <p:cNvSpPr/>
          <p:nvPr/>
        </p:nvSpPr>
        <p:spPr>
          <a:xfrm>
            <a:off x="868680" y="2880360"/>
            <a:ext cx="10424160" cy="320040"/>
          </a:xfrm>
          <a:prstGeom prst="rect">
            <a:avLst/>
          </a:prstGeom>
          <a:noFill/>
          <a:ln/>
        </p:spPr>
        <p:txBody>
          <a:bodyPr wrap="square" lIns="0" tIns="0" rIns="0" bIns="0" rtlCol="0" anchor="ctr"/>
          <a:lstStyle/>
          <a:p>
            <a:pPr indent="0" marL="0">
              <a:buNone/>
            </a:pPr>
            <a:r>
              <a:rPr lang="en-US" sz="1100" dirty="0">
                <a:solidFill>
                  <a:srgbClr val="E8A33D"/>
                </a:solidFill>
                <a:latin typeface="Yu Gothic" pitchFamily="34" charset="0"/>
                <a:ea typeface="Yu Gothic" pitchFamily="34" charset="-122"/>
                <a:cs typeface="Yu Gothic" pitchFamily="34" charset="-120"/>
              </a:rPr>
              <a:t>コピーして使うプロンプト（配布資料に掲載）</a:t>
            </a:r>
            <a:endParaRPr lang="en-US" sz="1100" dirty="0"/>
          </a:p>
        </p:txBody>
      </p:sp>
      <p:sp>
        <p:nvSpPr>
          <p:cNvPr id="8" name="Text 6"/>
          <p:cNvSpPr/>
          <p:nvPr/>
        </p:nvSpPr>
        <p:spPr>
          <a:xfrm>
            <a:off x="868680" y="3246120"/>
            <a:ext cx="10424160" cy="1965960"/>
          </a:xfrm>
          <a:prstGeom prst="rect">
            <a:avLst/>
          </a:prstGeom>
          <a:noFill/>
          <a:ln/>
        </p:spPr>
        <p:txBody>
          <a:bodyPr wrap="square" lIns="0" tIns="0" rIns="0" bIns="0" rtlCol="0" anchor="ctr"/>
          <a:lstStyle/>
          <a:p>
            <a:pPr indent="0" marL="0">
              <a:lnSpc>
                <a:spcPct val="135000"/>
              </a:lnSpc>
              <a:buNone/>
            </a:pPr>
            <a:r>
              <a:rPr lang="en-US" sz="1400" dirty="0">
                <a:solidFill>
                  <a:srgbClr val="FFFFFF"/>
                </a:solidFill>
                <a:latin typeface="Yu Gothic" pitchFamily="34" charset="0"/>
                <a:ea typeface="Yu Gothic" pitchFamily="34" charset="-122"/>
                <a:cs typeface="Yu Gothic" pitchFamily="34" charset="-120"/>
              </a:rPr>
              <a:t>あなたはプロの◯◯（例：価格交渉の専門家／採用のプロ）です。</a:t>
            </a:r>
            <a:endParaRPr lang="en-US" sz="1400" dirty="0"/>
          </a:p>
          <a:p>
            <a:pPr indent="0" marL="0">
              <a:lnSpc>
                <a:spcPct val="135000"/>
              </a:lnSpc>
              <a:buNone/>
            </a:pPr>
            <a:r>
              <a:rPr lang="en-US" sz="1400" dirty="0">
                <a:solidFill>
                  <a:srgbClr val="FFFFFF"/>
                </a:solidFill>
                <a:latin typeface="Yu Gothic" pitchFamily="34" charset="0"/>
                <a:ea typeface="Yu Gothic" pitchFamily="34" charset="-122"/>
                <a:cs typeface="Yu Gothic" pitchFamily="34" charset="-120"/>
              </a:rPr>
              <a:t>私はこれから「△△（例：値上げのお願い文／求人票）」を作りたい。</a:t>
            </a:r>
            <a:endParaRPr lang="en-US" sz="1400" dirty="0"/>
          </a:p>
          <a:p>
            <a:pPr indent="0" marL="0">
              <a:lnSpc>
                <a:spcPct val="135000"/>
              </a:lnSpc>
              <a:buNone/>
            </a:pPr>
            <a:r>
              <a:rPr lang="en-US" sz="1400" dirty="0">
                <a:solidFill>
                  <a:srgbClr val="FFFFFF"/>
                </a:solidFill>
                <a:latin typeface="Yu Gothic" pitchFamily="34" charset="0"/>
                <a:ea typeface="Yu Gothic" pitchFamily="34" charset="-122"/>
                <a:cs typeface="Yu Gothic" pitchFamily="34" charset="-120"/>
              </a:rPr>
              <a:t>いきなり書かないでください。まず、作るために必要なことを私に1つずつ質問してください。</a:t>
            </a:r>
            <a:endParaRPr lang="en-US" sz="1400" dirty="0"/>
          </a:p>
          <a:p>
            <a:pPr indent="0" marL="0">
              <a:lnSpc>
                <a:spcPct val="135000"/>
              </a:lnSpc>
              <a:buNone/>
            </a:pPr>
            <a:r>
              <a:rPr lang="en-US" sz="1400" dirty="0">
                <a:solidFill>
                  <a:srgbClr val="FFFFFF"/>
                </a:solidFill>
                <a:latin typeface="Yu Gothic" pitchFamily="34" charset="0"/>
                <a:ea typeface="Yu Gothic" pitchFamily="34" charset="-122"/>
                <a:cs typeface="Yu Gothic" pitchFamily="34" charset="-120"/>
              </a:rPr>
              <a:t>私が答え終わったら、その内容だけを使って完成品を書いてください。</a:t>
            </a:r>
            <a:endParaRPr lang="en-US" sz="1400" dirty="0"/>
          </a:p>
        </p:txBody>
      </p:sp>
      <p:sp>
        <p:nvSpPr>
          <p:cNvPr id="9" name="Text 7"/>
          <p:cNvSpPr/>
          <p:nvPr/>
        </p:nvSpPr>
        <p:spPr>
          <a:xfrm>
            <a:off x="548640" y="5715000"/>
            <a:ext cx="11064240" cy="457200"/>
          </a:xfrm>
          <a:prstGeom prst="rect">
            <a:avLst/>
          </a:prstGeom>
          <a:noFill/>
          <a:ln/>
        </p:spPr>
        <p:txBody>
          <a:bodyPr wrap="square" lIns="0" tIns="0" rIns="0" bIns="0" rtlCol="0" anchor="ctr"/>
          <a:lstStyle/>
          <a:p>
            <a:pPr indent="0" marL="0">
              <a:buNone/>
            </a:pPr>
            <a:r>
              <a:rPr lang="en-US" sz="1500" b="1" dirty="0">
                <a:solidFill>
                  <a:srgbClr val="1E2761"/>
                </a:solidFill>
                <a:latin typeface="Yu Gothic" pitchFamily="34" charset="0"/>
                <a:ea typeface="Yu Gothic" pitchFamily="34" charset="-122"/>
                <a:cs typeface="Yu Gothic" pitchFamily="34" charset="-120"/>
              </a:rPr>
              <a:t>プロンプトを覚える必要はありません。覚えるのは「いきなり書かせない。まず質問させる」の一文だけ</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やりとり例 — 値上げのお願い文（前半：AIが質問してくる）</a:t>
            </a:r>
            <a:endParaRPr lang="en-US" sz="2700" dirty="0"/>
          </a:p>
        </p:txBody>
      </p:sp>
      <p:sp>
        <p:nvSpPr>
          <p:cNvPr id="3" name="Shape 1"/>
          <p:cNvSpPr/>
          <p:nvPr/>
        </p:nvSpPr>
        <p:spPr>
          <a:xfrm>
            <a:off x="548640" y="1371600"/>
            <a:ext cx="11064240" cy="4023360"/>
          </a:xfrm>
          <a:prstGeom prst="roundRect">
            <a:avLst>
              <a:gd name="adj" fmla="val 2727"/>
            </a:avLst>
          </a:prstGeom>
          <a:solidFill>
            <a:srgbClr val="1E2761"/>
          </a:solidFill>
          <a:ln/>
        </p:spPr>
      </p:sp>
      <p:sp>
        <p:nvSpPr>
          <p:cNvPr id="4" name="Text 2"/>
          <p:cNvSpPr/>
          <p:nvPr/>
        </p:nvSpPr>
        <p:spPr>
          <a:xfrm>
            <a:off x="868680" y="1554480"/>
            <a:ext cx="10424160" cy="320040"/>
          </a:xfrm>
          <a:prstGeom prst="rect">
            <a:avLst/>
          </a:prstGeom>
          <a:noFill/>
          <a:ln/>
        </p:spPr>
        <p:txBody>
          <a:bodyPr wrap="square" lIns="0" tIns="0" rIns="0" bIns="0" rtlCol="0" anchor="ctr"/>
          <a:lstStyle/>
          <a:p>
            <a:pPr indent="0" marL="0">
              <a:buNone/>
            </a:pPr>
            <a:r>
              <a:rPr lang="en-US" sz="1100" dirty="0">
                <a:solidFill>
                  <a:srgbClr val="E8A33D"/>
                </a:solidFill>
                <a:latin typeface="Yu Gothic" pitchFamily="34" charset="0"/>
                <a:ea typeface="Yu Gothic" pitchFamily="34" charset="-122"/>
                <a:cs typeface="Yu Gothic" pitchFamily="34" charset="-120"/>
              </a:rPr>
              <a:t>AIとのやりとり（架空の例）</a:t>
            </a:r>
            <a:endParaRPr lang="en-US" sz="1100" dirty="0"/>
          </a:p>
        </p:txBody>
      </p:sp>
      <p:sp>
        <p:nvSpPr>
          <p:cNvPr id="5" name="Text 3"/>
          <p:cNvSpPr/>
          <p:nvPr/>
        </p:nvSpPr>
        <p:spPr>
          <a:xfrm>
            <a:off x="868680" y="1920240"/>
            <a:ext cx="10424160" cy="3246120"/>
          </a:xfrm>
          <a:prstGeom prst="rect">
            <a:avLst/>
          </a:prstGeom>
          <a:noFill/>
          <a:ln/>
        </p:spPr>
        <p:txBody>
          <a:bodyPr wrap="square" lIns="0" tIns="0" rIns="0" bIns="0" rtlCol="0" anchor="ctr"/>
          <a:lstStyle/>
          <a:p>
            <a:pPr indent="0" marL="0">
              <a:lnSpc>
                <a:spcPct val="130000"/>
              </a:lnSpc>
              <a:buNone/>
            </a:pPr>
            <a:r>
              <a:rPr lang="en-US" sz="1350" dirty="0">
                <a:solidFill>
                  <a:srgbClr val="FFFFFF"/>
                </a:solidFill>
                <a:latin typeface="Yu Gothic" pitchFamily="34" charset="0"/>
                <a:ea typeface="Yu Gothic" pitchFamily="34" charset="-122"/>
                <a:cs typeface="Yu Gothic" pitchFamily="34" charset="-120"/>
              </a:rPr>
              <a:t>AI：承知しました。まず伺います。値上げをお願いする主な理由は何ですか？</a:t>
            </a:r>
            <a:endParaRPr lang="en-US" sz="1350" dirty="0"/>
          </a:p>
          <a:p>
            <a:pPr indent="0" marL="0">
              <a:lnSpc>
                <a:spcPct val="130000"/>
              </a:lnSpc>
              <a:buNone/>
            </a:pPr>
            <a:r>
              <a:rPr lang="en-US" sz="1350" dirty="0">
                <a:solidFill>
                  <a:srgbClr val="FFFFFF"/>
                </a:solidFill>
                <a:latin typeface="Yu Gothic" pitchFamily="34" charset="0"/>
                <a:ea typeface="Yu Gothic" pitchFamily="34" charset="-122"/>
                <a:cs typeface="Yu Gothic" pitchFamily="34" charset="-120"/>
              </a:rPr>
              <a:t>あなた：鋼材が2年で3割上がった。電気代も。</a:t>
            </a:r>
            <a:endParaRPr lang="en-US" sz="1350" dirty="0"/>
          </a:p>
          <a:p>
            <a:pPr indent="0" marL="0">
              <a:lnSpc>
                <a:spcPct val="130000"/>
              </a:lnSpc>
              <a:buNone/>
            </a:pPr>
            <a:r>
              <a:rPr lang="en-US" sz="1350" dirty="0">
                <a:solidFill>
                  <a:srgbClr val="FFFFFF"/>
                </a:solidFill>
                <a:latin typeface="Yu Gothic" pitchFamily="34" charset="0"/>
                <a:ea typeface="Yu Gothic" pitchFamily="34" charset="-122"/>
                <a:cs typeface="Yu Gothic" pitchFamily="34" charset="-120"/>
              </a:rPr>
              <a:t>AI：値上げ幅はどの程度を予定していますか？</a:t>
            </a:r>
            <a:endParaRPr lang="en-US" sz="1350" dirty="0"/>
          </a:p>
          <a:p>
            <a:pPr indent="0" marL="0">
              <a:lnSpc>
                <a:spcPct val="130000"/>
              </a:lnSpc>
              <a:buNone/>
            </a:pPr>
            <a:r>
              <a:rPr lang="en-US" sz="1350" dirty="0">
                <a:solidFill>
                  <a:srgbClr val="FFFFFF"/>
                </a:solidFill>
                <a:latin typeface="Yu Gothic" pitchFamily="34" charset="0"/>
                <a:ea typeface="Yu Gothic" pitchFamily="34" charset="-122"/>
                <a:cs typeface="Yu Gothic" pitchFamily="34" charset="-120"/>
              </a:rPr>
              <a:t>あなた：8%くらい。</a:t>
            </a:r>
            <a:endParaRPr lang="en-US" sz="1350" dirty="0"/>
          </a:p>
          <a:p>
            <a:pPr indent="0" marL="0">
              <a:lnSpc>
                <a:spcPct val="130000"/>
              </a:lnSpc>
              <a:buNone/>
            </a:pPr>
            <a:r>
              <a:rPr lang="en-US" sz="1350" dirty="0">
                <a:solidFill>
                  <a:srgbClr val="FFFFFF"/>
                </a:solidFill>
                <a:latin typeface="Yu Gothic" pitchFamily="34" charset="0"/>
                <a:ea typeface="Yu Gothic" pitchFamily="34" charset="-122"/>
                <a:cs typeface="Yu Gothic" pitchFamily="34" charset="-120"/>
              </a:rPr>
              <a:t>AI：いつからの適用を希望しますか？</a:t>
            </a:r>
            <a:endParaRPr lang="en-US" sz="1350" dirty="0"/>
          </a:p>
          <a:p>
            <a:pPr indent="0" marL="0">
              <a:lnSpc>
                <a:spcPct val="130000"/>
              </a:lnSpc>
              <a:buNone/>
            </a:pPr>
            <a:r>
              <a:rPr lang="en-US" sz="1350" dirty="0">
                <a:solidFill>
                  <a:srgbClr val="FFFFFF"/>
                </a:solidFill>
                <a:latin typeface="Yu Gothic" pitchFamily="34" charset="0"/>
                <a:ea typeface="Yu Gothic" pitchFamily="34" charset="-122"/>
                <a:cs typeface="Yu Gothic" pitchFamily="34" charset="-120"/>
              </a:rPr>
              <a:t>あなた：10月納品分から。</a:t>
            </a:r>
            <a:endParaRPr lang="en-US" sz="1350" dirty="0"/>
          </a:p>
          <a:p>
            <a:pPr indent="0" marL="0">
              <a:lnSpc>
                <a:spcPct val="130000"/>
              </a:lnSpc>
              <a:buNone/>
            </a:pPr>
            <a:r>
              <a:rPr lang="en-US" sz="1350" dirty="0">
                <a:solidFill>
                  <a:srgbClr val="FFFFFF"/>
                </a:solidFill>
                <a:latin typeface="Yu Gothic" pitchFamily="34" charset="0"/>
                <a:ea typeface="Yu Gothic" pitchFamily="34" charset="-122"/>
                <a:cs typeface="Yu Gothic" pitchFamily="34" charset="-120"/>
              </a:rPr>
              <a:t>AI：その取引先とのお付き合いは長いですか？関係性を教えてください。</a:t>
            </a:r>
            <a:endParaRPr lang="en-US" sz="1350" dirty="0"/>
          </a:p>
          <a:p>
            <a:pPr indent="0" marL="0">
              <a:lnSpc>
                <a:spcPct val="130000"/>
              </a:lnSpc>
              <a:buNone/>
            </a:pPr>
            <a:r>
              <a:rPr lang="en-US" sz="1350" dirty="0">
                <a:solidFill>
                  <a:srgbClr val="FFFFFF"/>
                </a:solidFill>
                <a:latin typeface="Yu Gothic" pitchFamily="34" charset="0"/>
                <a:ea typeface="Yu Gothic" pitchFamily="34" charset="-122"/>
                <a:cs typeface="Yu Gothic" pitchFamily="34" charset="-120"/>
              </a:rPr>
              <a:t>あなた：15年。うちの売上の3割。強くは出られない。</a:t>
            </a:r>
            <a:endParaRPr lang="en-US" sz="1350" dirty="0"/>
          </a:p>
          <a:p>
            <a:pPr indent="0" marL="0">
              <a:lnSpc>
                <a:spcPct val="130000"/>
              </a:lnSpc>
              <a:buNone/>
            </a:pPr>
            <a:r>
              <a:rPr lang="en-US" sz="1350" dirty="0">
                <a:solidFill>
                  <a:srgbClr val="FFFFFF"/>
                </a:solidFill>
                <a:latin typeface="Yu Gothic" pitchFamily="34" charset="0"/>
                <a:ea typeface="Yu Gothic" pitchFamily="34" charset="-122"/>
                <a:cs typeface="Yu Gothic" pitchFamily="34" charset="-120"/>
              </a:rPr>
              <a:t>AI：ありがとうございます。それでは文面を作成します——</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やりとり例 — 完成した文面（後半・抜粋）</a:t>
            </a:r>
            <a:endParaRPr lang="en-US" sz="2700" dirty="0"/>
          </a:p>
        </p:txBody>
      </p:sp>
      <p:sp>
        <p:nvSpPr>
          <p:cNvPr id="3" name="Shape 1"/>
          <p:cNvSpPr/>
          <p:nvPr/>
        </p:nvSpPr>
        <p:spPr>
          <a:xfrm>
            <a:off x="548640" y="1371600"/>
            <a:ext cx="11064240" cy="3566160"/>
          </a:xfrm>
          <a:prstGeom prst="roundRect">
            <a:avLst>
              <a:gd name="adj" fmla="val 3077"/>
            </a:avLst>
          </a:prstGeom>
          <a:solidFill>
            <a:srgbClr val="1E2761"/>
          </a:solidFill>
          <a:ln/>
        </p:spPr>
      </p:sp>
      <p:sp>
        <p:nvSpPr>
          <p:cNvPr id="4" name="Text 2"/>
          <p:cNvSpPr/>
          <p:nvPr/>
        </p:nvSpPr>
        <p:spPr>
          <a:xfrm>
            <a:off x="868680" y="1554480"/>
            <a:ext cx="10424160" cy="320040"/>
          </a:xfrm>
          <a:prstGeom prst="rect">
            <a:avLst/>
          </a:prstGeom>
          <a:noFill/>
          <a:ln/>
        </p:spPr>
        <p:txBody>
          <a:bodyPr wrap="square" lIns="0" tIns="0" rIns="0" bIns="0" rtlCol="0" anchor="ctr"/>
          <a:lstStyle/>
          <a:p>
            <a:pPr indent="0" marL="0">
              <a:buNone/>
            </a:pPr>
            <a:r>
              <a:rPr lang="en-US" sz="1100" dirty="0">
                <a:solidFill>
                  <a:srgbClr val="E8A33D"/>
                </a:solidFill>
                <a:latin typeface="Yu Gothic" pitchFamily="34" charset="0"/>
                <a:ea typeface="Yu Gothic" pitchFamily="34" charset="-122"/>
                <a:cs typeface="Yu Gothic" pitchFamily="34" charset="-120"/>
              </a:rPr>
              <a:t>AIが書いた下書き（抜粋・このあと自分の言葉に直す）</a:t>
            </a:r>
            <a:endParaRPr lang="en-US" sz="1100" dirty="0"/>
          </a:p>
        </p:txBody>
      </p:sp>
      <p:sp>
        <p:nvSpPr>
          <p:cNvPr id="5" name="Text 3"/>
          <p:cNvSpPr/>
          <p:nvPr/>
        </p:nvSpPr>
        <p:spPr>
          <a:xfrm>
            <a:off x="868680" y="1920240"/>
            <a:ext cx="10424160" cy="2788920"/>
          </a:xfrm>
          <a:prstGeom prst="rect">
            <a:avLst/>
          </a:prstGeom>
          <a:noFill/>
          <a:ln/>
        </p:spPr>
        <p:txBody>
          <a:bodyPr wrap="square" lIns="0" tIns="0" rIns="0" bIns="0" rtlCol="0" anchor="ctr"/>
          <a:lstStyle/>
          <a:p>
            <a:pPr indent="0" marL="0">
              <a:lnSpc>
                <a:spcPct val="130000"/>
              </a:lnSpc>
              <a:buNone/>
            </a:pPr>
            <a:r>
              <a:rPr lang="en-US" sz="1350" dirty="0">
                <a:solidFill>
                  <a:srgbClr val="FFFFFF"/>
                </a:solidFill>
                <a:latin typeface="Yu Gothic" pitchFamily="34" charset="0"/>
                <a:ea typeface="Yu Gothic" pitchFamily="34" charset="-122"/>
                <a:cs typeface="Yu Gothic" pitchFamily="34" charset="-120"/>
              </a:rPr>
              <a:t>「拝啓　時下ますますご清栄のこととお慶び申し上げます。15年の長きにわたり変わらぬお引き立てを賜り、心より御礼申し上げます。</a:t>
            </a:r>
            <a:endParaRPr lang="en-US" sz="1350" dirty="0"/>
          </a:p>
          <a:p>
            <a:pPr indent="0" marL="0">
              <a:lnSpc>
                <a:spcPct val="130000"/>
              </a:lnSpc>
              <a:buNone/>
            </a:pPr>
            <a:r>
              <a:rPr lang="en-US" sz="1350" dirty="0">
                <a:solidFill>
                  <a:srgbClr val="FFFFFF"/>
                </a:solidFill>
                <a:latin typeface="Yu Gothic" pitchFamily="34" charset="0"/>
                <a:ea typeface="Yu Gothic" pitchFamily="34" charset="-122"/>
                <a:cs typeface="Yu Gothic" pitchFamily="34" charset="-120"/>
              </a:rPr>
              <a:t>さて、大変心苦しいお願いではございますが、鋼材価格がこの2年で約3割上昇し、電力費の高騰も重なり、自助努力のみでは現行価格の維持が困難な状況となってまいりました。</a:t>
            </a:r>
            <a:endParaRPr lang="en-US" sz="1350" dirty="0"/>
          </a:p>
          <a:p>
            <a:pPr indent="0" marL="0">
              <a:lnSpc>
                <a:spcPct val="130000"/>
              </a:lnSpc>
              <a:buNone/>
            </a:pPr>
            <a:r>
              <a:rPr lang="en-US" sz="1350" dirty="0">
                <a:solidFill>
                  <a:srgbClr val="FFFFFF"/>
                </a:solidFill>
                <a:latin typeface="Yu Gothic" pitchFamily="34" charset="0"/>
                <a:ea typeface="Yu Gothic" pitchFamily="34" charset="-122"/>
                <a:cs typeface="Yu Gothic" pitchFamily="34" charset="-120"/>
              </a:rPr>
              <a:t>つきましては、誠に恐縮ながら、10月ご納品分より価格を8%改定させていただきたく、お願い申し上げる次第です。（以下略）」</a:t>
            </a:r>
            <a:endParaRPr lang="en-US" sz="1350" dirty="0"/>
          </a:p>
        </p:txBody>
      </p:sp>
      <p:sp>
        <p:nvSpPr>
          <p:cNvPr id="6" name="Shape 4"/>
          <p:cNvSpPr/>
          <p:nvPr/>
        </p:nvSpPr>
        <p:spPr>
          <a:xfrm>
            <a:off x="2194560" y="5212080"/>
            <a:ext cx="7772400" cy="685800"/>
          </a:xfrm>
          <a:prstGeom prst="roundRect">
            <a:avLst>
              <a:gd name="adj" fmla="val 16000"/>
            </a:avLst>
          </a:prstGeom>
          <a:solidFill>
            <a:srgbClr val="E8A33D"/>
          </a:solidFill>
          <a:ln/>
        </p:spPr>
      </p:sp>
      <p:sp>
        <p:nvSpPr>
          <p:cNvPr id="7" name="Text 5"/>
          <p:cNvSpPr/>
          <p:nvPr/>
        </p:nvSpPr>
        <p:spPr>
          <a:xfrm>
            <a:off x="2468880" y="5212080"/>
            <a:ext cx="7223760" cy="685800"/>
          </a:xfrm>
          <a:prstGeom prst="rect">
            <a:avLst/>
          </a:prstGeom>
          <a:noFill/>
          <a:ln/>
        </p:spPr>
        <p:txBody>
          <a:bodyPr wrap="square" lIns="0" tIns="0" rIns="0" bIns="0" rtlCol="0" anchor="ctr"/>
          <a:lstStyle/>
          <a:p>
            <a:pPr indent="0" marL="0">
              <a:buNone/>
            </a:pPr>
            <a:r>
              <a:rPr lang="en-US" sz="1500" b="1" dirty="0">
                <a:solidFill>
                  <a:srgbClr val="1E2761"/>
                </a:solidFill>
                <a:latin typeface="Yu Gothic" pitchFamily="34" charset="0"/>
                <a:ea typeface="Yu Gothic" pitchFamily="34" charset="-122"/>
                <a:cs typeface="Yu Gothic" pitchFamily="34" charset="-120"/>
              </a:rPr>
              <a:t>⏸ 動画を止めて、あなたの「切実な1通」で試してみてください</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ワーク2 実践 — どちらか1本、その場で完成させます（15分）</a:t>
            </a:r>
            <a:endParaRPr lang="en-US" sz="2700" dirty="0"/>
          </a:p>
        </p:txBody>
      </p:sp>
      <p:sp>
        <p:nvSpPr>
          <p:cNvPr id="3" name="Shape 1"/>
          <p:cNvSpPr/>
          <p:nvPr/>
        </p:nvSpPr>
        <p:spPr>
          <a:xfrm>
            <a:off x="640080" y="1554480"/>
            <a:ext cx="5303520" cy="2834640"/>
          </a:xfrm>
          <a:prstGeom prst="roundRect">
            <a:avLst>
              <a:gd name="adj" fmla="val 3871"/>
            </a:avLst>
          </a:prstGeom>
          <a:solidFill>
            <a:srgbClr val="1E2761"/>
          </a:solidFill>
          <a:ln/>
        </p:spPr>
      </p:sp>
      <p:sp>
        <p:nvSpPr>
          <p:cNvPr id="4" name="Shape 2"/>
          <p:cNvSpPr/>
          <p:nvPr/>
        </p:nvSpPr>
        <p:spPr>
          <a:xfrm>
            <a:off x="960120" y="1828800"/>
            <a:ext cx="640080" cy="640080"/>
          </a:xfrm>
          <a:prstGeom prst="ellipse">
            <a:avLst/>
          </a:prstGeom>
          <a:solidFill>
            <a:srgbClr val="E8A33D"/>
          </a:solidFill>
          <a:ln/>
        </p:spPr>
      </p:sp>
      <p:sp>
        <p:nvSpPr>
          <p:cNvPr id="5" name="Text 3"/>
          <p:cNvSpPr/>
          <p:nvPr/>
        </p:nvSpPr>
        <p:spPr>
          <a:xfrm>
            <a:off x="960120" y="1828800"/>
            <a:ext cx="640080" cy="640080"/>
          </a:xfrm>
          <a:prstGeom prst="rect">
            <a:avLst/>
          </a:prstGeom>
          <a:noFill/>
          <a:ln/>
        </p:spPr>
        <p:txBody>
          <a:bodyPr wrap="square" lIns="0" tIns="0" rIns="0" bIns="0" rtlCol="0" anchor="ctr"/>
          <a:lstStyle/>
          <a:p>
            <a:pPr algn="ctr" indent="0" marL="0">
              <a:buNone/>
            </a:pPr>
            <a:r>
              <a:rPr lang="en-US" sz="1800" b="1" dirty="0">
                <a:solidFill>
                  <a:srgbClr val="1E2761"/>
                </a:solidFill>
                <a:latin typeface="Yu Gothic" pitchFamily="34" charset="0"/>
                <a:ea typeface="Yu Gothic" pitchFamily="34" charset="-122"/>
                <a:cs typeface="Yu Gothic" pitchFamily="34" charset="-120"/>
              </a:rPr>
              <a:t>A</a:t>
            </a:r>
            <a:endParaRPr lang="en-US" sz="1800" dirty="0"/>
          </a:p>
        </p:txBody>
      </p:sp>
      <p:sp>
        <p:nvSpPr>
          <p:cNvPr id="6" name="Text 4"/>
          <p:cNvSpPr/>
          <p:nvPr/>
        </p:nvSpPr>
        <p:spPr>
          <a:xfrm>
            <a:off x="1783080" y="1874520"/>
            <a:ext cx="3931920" cy="54864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値上げのお願い文</a:t>
            </a:r>
            <a:endParaRPr lang="en-US" sz="1800" dirty="0"/>
          </a:p>
        </p:txBody>
      </p:sp>
      <p:sp>
        <p:nvSpPr>
          <p:cNvPr id="7" name="Text 5"/>
          <p:cNvSpPr/>
          <p:nvPr/>
        </p:nvSpPr>
        <p:spPr>
          <a:xfrm>
            <a:off x="1005840" y="2697480"/>
            <a:ext cx="4572000" cy="1463040"/>
          </a:xfrm>
          <a:prstGeom prst="rect">
            <a:avLst/>
          </a:prstGeom>
          <a:noFill/>
          <a:ln/>
        </p:spPr>
        <p:txBody>
          <a:bodyPr wrap="square" lIns="0" tIns="0" rIns="0" bIns="0" rtlCol="0" anchor="ctr"/>
          <a:lstStyle/>
          <a:p>
            <a:pPr indent="0" marL="0">
              <a:lnSpc>
                <a:spcPct val="130000"/>
              </a:lnSpc>
              <a:buNone/>
            </a:pPr>
            <a:r>
              <a:rPr lang="en-US" sz="1350" dirty="0">
                <a:solidFill>
                  <a:srgbClr val="CADCFC"/>
                </a:solidFill>
                <a:latin typeface="Yu Gothic" pitchFamily="34" charset="0"/>
                <a:ea typeface="Yu Gothic" pitchFamily="34" charset="-122"/>
                <a:cs typeface="Yu Gothic" pitchFamily="34" charset="-120"/>
              </a:rPr>
              <a:t>原材料・人件費の上昇を、取引を壊さずに伝える文面。価格転嫁は今、中小企業共通の急所</a:t>
            </a:r>
            <a:endParaRPr lang="en-US" sz="1350" dirty="0"/>
          </a:p>
        </p:txBody>
      </p:sp>
      <p:sp>
        <p:nvSpPr>
          <p:cNvPr id="8" name="Shape 6"/>
          <p:cNvSpPr/>
          <p:nvPr/>
        </p:nvSpPr>
        <p:spPr>
          <a:xfrm>
            <a:off x="6263640" y="1554480"/>
            <a:ext cx="5303520" cy="2834640"/>
          </a:xfrm>
          <a:prstGeom prst="roundRect">
            <a:avLst>
              <a:gd name="adj" fmla="val 3871"/>
            </a:avLst>
          </a:prstGeom>
          <a:solidFill>
            <a:srgbClr val="EEF3FC"/>
          </a:solidFill>
          <a:ln/>
        </p:spPr>
      </p:sp>
      <p:sp>
        <p:nvSpPr>
          <p:cNvPr id="9" name="Shape 7"/>
          <p:cNvSpPr/>
          <p:nvPr/>
        </p:nvSpPr>
        <p:spPr>
          <a:xfrm>
            <a:off x="6583680" y="1828800"/>
            <a:ext cx="640080" cy="640080"/>
          </a:xfrm>
          <a:prstGeom prst="ellipse">
            <a:avLst/>
          </a:prstGeom>
          <a:solidFill>
            <a:srgbClr val="E8A33D"/>
          </a:solidFill>
          <a:ln/>
        </p:spPr>
      </p:sp>
      <p:sp>
        <p:nvSpPr>
          <p:cNvPr id="10" name="Text 8"/>
          <p:cNvSpPr/>
          <p:nvPr/>
        </p:nvSpPr>
        <p:spPr>
          <a:xfrm>
            <a:off x="6583680" y="1828800"/>
            <a:ext cx="640080" cy="640080"/>
          </a:xfrm>
          <a:prstGeom prst="rect">
            <a:avLst/>
          </a:prstGeom>
          <a:noFill/>
          <a:ln/>
        </p:spPr>
        <p:txBody>
          <a:bodyPr wrap="square" lIns="0" tIns="0" rIns="0" bIns="0" rtlCol="0" anchor="ctr"/>
          <a:lstStyle/>
          <a:p>
            <a:pPr algn="ctr" indent="0" marL="0">
              <a:buNone/>
            </a:pPr>
            <a:r>
              <a:rPr lang="en-US" sz="1800" b="1" dirty="0">
                <a:solidFill>
                  <a:srgbClr val="1E2761"/>
                </a:solidFill>
                <a:latin typeface="Yu Gothic" pitchFamily="34" charset="0"/>
                <a:ea typeface="Yu Gothic" pitchFamily="34" charset="-122"/>
                <a:cs typeface="Yu Gothic" pitchFamily="34" charset="-120"/>
              </a:rPr>
              <a:t>B</a:t>
            </a:r>
            <a:endParaRPr lang="en-US" sz="1800" dirty="0"/>
          </a:p>
        </p:txBody>
      </p:sp>
      <p:sp>
        <p:nvSpPr>
          <p:cNvPr id="11" name="Text 9"/>
          <p:cNvSpPr/>
          <p:nvPr/>
        </p:nvSpPr>
        <p:spPr>
          <a:xfrm>
            <a:off x="7406640" y="1874520"/>
            <a:ext cx="3931920" cy="548640"/>
          </a:xfrm>
          <a:prstGeom prst="rect">
            <a:avLst/>
          </a:prstGeom>
          <a:noFill/>
          <a:ln/>
        </p:spPr>
        <p:txBody>
          <a:bodyPr wrap="square" lIns="0" tIns="0" rIns="0" bIns="0" rtlCol="0" anchor="ctr"/>
          <a:lstStyle/>
          <a:p>
            <a:pPr indent="0" marL="0">
              <a:buNone/>
            </a:pPr>
            <a:r>
              <a:rPr lang="en-US" sz="1800" b="1" dirty="0">
                <a:solidFill>
                  <a:srgbClr val="1E2761"/>
                </a:solidFill>
                <a:latin typeface="Yu Gothic" pitchFamily="34" charset="0"/>
                <a:ea typeface="Yu Gothic" pitchFamily="34" charset="-122"/>
                <a:cs typeface="Yu Gothic" pitchFamily="34" charset="-120"/>
              </a:rPr>
              <a:t>求人票・募集文</a:t>
            </a:r>
            <a:endParaRPr lang="en-US" sz="1800" dirty="0"/>
          </a:p>
        </p:txBody>
      </p:sp>
      <p:sp>
        <p:nvSpPr>
          <p:cNvPr id="12" name="Text 10"/>
          <p:cNvSpPr/>
          <p:nvPr/>
        </p:nvSpPr>
        <p:spPr>
          <a:xfrm>
            <a:off x="6629400" y="2697480"/>
            <a:ext cx="4572000" cy="1463040"/>
          </a:xfrm>
          <a:prstGeom prst="rect">
            <a:avLst/>
          </a:prstGeom>
          <a:noFill/>
          <a:ln/>
        </p:spPr>
        <p:txBody>
          <a:bodyPr wrap="square" lIns="0" tIns="0" rIns="0" bIns="0" rtlCol="0" anchor="ctr"/>
          <a:lstStyle/>
          <a:p>
            <a:pPr indent="0" marL="0">
              <a:lnSpc>
                <a:spcPct val="130000"/>
              </a:lnSpc>
              <a:buNone/>
            </a:pPr>
            <a:r>
              <a:rPr lang="en-US" sz="1350" dirty="0">
                <a:solidFill>
                  <a:srgbClr val="333333"/>
                </a:solidFill>
                <a:latin typeface="Yu Gothic" pitchFamily="34" charset="0"/>
                <a:ea typeface="Yu Gothic" pitchFamily="34" charset="-122"/>
                <a:cs typeface="Yu Gothic" pitchFamily="34" charset="-120"/>
              </a:rPr>
              <a:t>「誰でも歓迎」をやめて、来てほしい1人に刺さる文面。人手不足の入口はここから</a:t>
            </a:r>
            <a:endParaRPr lang="en-US" sz="1350" dirty="0"/>
          </a:p>
        </p:txBody>
      </p:sp>
      <p:sp>
        <p:nvSpPr>
          <p:cNvPr id="13" name="Text 11"/>
          <p:cNvSpPr/>
          <p:nvPr/>
        </p:nvSpPr>
        <p:spPr>
          <a:xfrm>
            <a:off x="822960" y="4709160"/>
            <a:ext cx="10607040" cy="1005840"/>
          </a:xfrm>
          <a:prstGeom prst="rect">
            <a:avLst/>
          </a:prstGeom>
          <a:noFill/>
          <a:ln/>
        </p:spPr>
        <p:txBody>
          <a:bodyPr wrap="square" rtlCol="0" anchor="ctr"/>
          <a:lstStyle/>
          <a:p>
            <a:pPr marL="342900" indent="-342900">
              <a:spcAft>
                <a:spcPts val="1000"/>
              </a:spcAft>
              <a:buSzPct val="100000"/>
              <a:buChar char="•"/>
            </a:pPr>
            <a:r>
              <a:rPr lang="en-US" sz="1400" dirty="0">
                <a:solidFill>
                  <a:srgbClr val="333333"/>
                </a:solidFill>
                <a:latin typeface="Yu Gothic" pitchFamily="34" charset="0"/>
                <a:ea typeface="Yu Gothic" pitchFamily="34" charset="-122"/>
                <a:cs typeface="Yu Gothic" pitchFamily="34" charset="-120"/>
              </a:rPr>
              <a:t>AIからの質問には、話し言葉のままでOK（きれいな文章にするのはAIの仕事）</a:t>
            </a:r>
            <a:endParaRPr lang="en-US" sz="1400" dirty="0"/>
          </a:p>
          <a:p>
            <a:pPr marL="342900" indent="-342900">
              <a:spcAft>
                <a:spcPts val="1000"/>
              </a:spcAft>
              <a:buSzPct val="100000"/>
              <a:buChar char="•"/>
            </a:pPr>
            <a:r>
              <a:rPr lang="en-US" sz="1400" dirty="0">
                <a:solidFill>
                  <a:srgbClr val="333333"/>
                </a:solidFill>
                <a:latin typeface="Yu Gothic" pitchFamily="34" charset="0"/>
                <a:ea typeface="Yu Gothic" pitchFamily="34" charset="-122"/>
                <a:cs typeface="Yu Gothic" pitchFamily="34" charset="-120"/>
              </a:rPr>
              <a:t>完成したら、必ず1か所は自分の言葉に直す —「最後は人が仕上げる」練習です</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逆質問法は「文書」全部に効く — 応用リスト</a:t>
            </a:r>
            <a:endParaRPr lang="en-US" sz="2700" dirty="0"/>
          </a:p>
        </p:txBody>
      </p:sp>
      <p:sp>
        <p:nvSpPr>
          <p:cNvPr id="3" name="Shape 1"/>
          <p:cNvSpPr/>
          <p:nvPr/>
        </p:nvSpPr>
        <p:spPr>
          <a:xfrm>
            <a:off x="495148" y="1554480"/>
            <a:ext cx="3520440" cy="1371600"/>
          </a:xfrm>
          <a:prstGeom prst="roundRect">
            <a:avLst>
              <a:gd name="adj" fmla="val 8000"/>
            </a:avLst>
          </a:prstGeom>
          <a:solidFill>
            <a:srgbClr val="EEF3FC"/>
          </a:solidFill>
          <a:ln/>
        </p:spPr>
      </p:sp>
      <p:sp>
        <p:nvSpPr>
          <p:cNvPr id="4" name="Text 2"/>
          <p:cNvSpPr/>
          <p:nvPr/>
        </p:nvSpPr>
        <p:spPr>
          <a:xfrm>
            <a:off x="723748" y="1719072"/>
            <a:ext cx="3063240" cy="594360"/>
          </a:xfrm>
          <a:prstGeom prst="rect">
            <a:avLst/>
          </a:prstGeom>
          <a:noFill/>
          <a:ln/>
        </p:spPr>
        <p:txBody>
          <a:bodyPr wrap="square" lIns="0" tIns="0" rIns="0" bIns="0" rtlCol="0" anchor="ctr"/>
          <a:lstStyle/>
          <a:p>
            <a:pPr indent="0" marL="0">
              <a:lnSpc>
                <a:spcPct val="115000"/>
              </a:lnSpc>
              <a:buNone/>
            </a:pPr>
            <a:r>
              <a:rPr lang="en-US" sz="1350" b="1" dirty="0">
                <a:solidFill>
                  <a:srgbClr val="1E2761"/>
                </a:solidFill>
                <a:latin typeface="Yu Gothic" pitchFamily="34" charset="0"/>
                <a:ea typeface="Yu Gothic" pitchFamily="34" charset="-122"/>
                <a:cs typeface="Yu Gothic" pitchFamily="34" charset="-120"/>
              </a:rPr>
              <a:t>銀行に出す事業計画のたたき台</a:t>
            </a:r>
            <a:endParaRPr lang="en-US" sz="1350" dirty="0"/>
          </a:p>
        </p:txBody>
      </p:sp>
      <p:sp>
        <p:nvSpPr>
          <p:cNvPr id="5" name="Text 3"/>
          <p:cNvSpPr/>
          <p:nvPr/>
        </p:nvSpPr>
        <p:spPr>
          <a:xfrm>
            <a:off x="723748" y="2395728"/>
            <a:ext cx="3063240" cy="411480"/>
          </a:xfrm>
          <a:prstGeom prst="rect">
            <a:avLst/>
          </a:prstGeom>
          <a:noFill/>
          <a:ln/>
        </p:spPr>
        <p:txBody>
          <a:bodyPr wrap="square" lIns="0" tIns="0" rIns="0" bIns="0" rtlCol="0" anchor="ctr"/>
          <a:lstStyle/>
          <a:p>
            <a:pPr indent="0" marL="0">
              <a:buNone/>
            </a:pPr>
            <a:r>
              <a:rPr lang="en-US" sz="1150" dirty="0">
                <a:solidFill>
                  <a:srgbClr val="6B7280"/>
                </a:solidFill>
                <a:latin typeface="Yu Gothic" pitchFamily="34" charset="0"/>
                <a:ea typeface="Yu Gothic" pitchFamily="34" charset="-122"/>
                <a:cs typeface="Yu Gothic" pitchFamily="34" charset="-120"/>
              </a:rPr>
              <a:t>融資担当者役のAIに質問させる</a:t>
            </a:r>
            <a:endParaRPr lang="en-US" sz="1150" dirty="0"/>
          </a:p>
        </p:txBody>
      </p:sp>
      <p:sp>
        <p:nvSpPr>
          <p:cNvPr id="6" name="Shape 4"/>
          <p:cNvSpPr/>
          <p:nvPr/>
        </p:nvSpPr>
        <p:spPr>
          <a:xfrm>
            <a:off x="4335628" y="1554480"/>
            <a:ext cx="3520440" cy="1371600"/>
          </a:xfrm>
          <a:prstGeom prst="roundRect">
            <a:avLst>
              <a:gd name="adj" fmla="val 8000"/>
            </a:avLst>
          </a:prstGeom>
          <a:solidFill>
            <a:srgbClr val="EEF3FC"/>
          </a:solidFill>
          <a:ln/>
        </p:spPr>
      </p:sp>
      <p:sp>
        <p:nvSpPr>
          <p:cNvPr id="7" name="Text 5"/>
          <p:cNvSpPr/>
          <p:nvPr/>
        </p:nvSpPr>
        <p:spPr>
          <a:xfrm>
            <a:off x="4564228" y="1719072"/>
            <a:ext cx="3063240" cy="594360"/>
          </a:xfrm>
          <a:prstGeom prst="rect">
            <a:avLst/>
          </a:prstGeom>
          <a:noFill/>
          <a:ln/>
        </p:spPr>
        <p:txBody>
          <a:bodyPr wrap="square" lIns="0" tIns="0" rIns="0" bIns="0" rtlCol="0" anchor="ctr"/>
          <a:lstStyle/>
          <a:p>
            <a:pPr indent="0" marL="0">
              <a:lnSpc>
                <a:spcPct val="115000"/>
              </a:lnSpc>
              <a:buNone/>
            </a:pPr>
            <a:r>
              <a:rPr lang="en-US" sz="1350" b="1" dirty="0">
                <a:solidFill>
                  <a:srgbClr val="1E2761"/>
                </a:solidFill>
                <a:latin typeface="Yu Gothic" pitchFamily="34" charset="0"/>
                <a:ea typeface="Yu Gothic" pitchFamily="34" charset="-122"/>
                <a:cs typeface="Yu Gothic" pitchFamily="34" charset="-120"/>
              </a:rPr>
              <a:t>ベテランの技術のマニュアル化</a:t>
            </a:r>
            <a:endParaRPr lang="en-US" sz="1350" dirty="0"/>
          </a:p>
        </p:txBody>
      </p:sp>
      <p:sp>
        <p:nvSpPr>
          <p:cNvPr id="8" name="Text 6"/>
          <p:cNvSpPr/>
          <p:nvPr/>
        </p:nvSpPr>
        <p:spPr>
          <a:xfrm>
            <a:off x="4564228" y="2395728"/>
            <a:ext cx="3063240" cy="411480"/>
          </a:xfrm>
          <a:prstGeom prst="rect">
            <a:avLst/>
          </a:prstGeom>
          <a:noFill/>
          <a:ln/>
        </p:spPr>
        <p:txBody>
          <a:bodyPr wrap="square" lIns="0" tIns="0" rIns="0" bIns="0" rtlCol="0" anchor="ctr"/>
          <a:lstStyle/>
          <a:p>
            <a:pPr indent="0" marL="0">
              <a:buNone/>
            </a:pPr>
            <a:r>
              <a:rPr lang="en-US" sz="1150" dirty="0">
                <a:solidFill>
                  <a:srgbClr val="6B7280"/>
                </a:solidFill>
                <a:latin typeface="Yu Gothic" pitchFamily="34" charset="0"/>
                <a:ea typeface="Yu Gothic" pitchFamily="34" charset="-122"/>
                <a:cs typeface="Yu Gothic" pitchFamily="34" charset="-120"/>
              </a:rPr>
              <a:t>AIがベテランに取材してくれる</a:t>
            </a:r>
            <a:endParaRPr lang="en-US" sz="1150" dirty="0"/>
          </a:p>
        </p:txBody>
      </p:sp>
      <p:sp>
        <p:nvSpPr>
          <p:cNvPr id="9" name="Shape 7"/>
          <p:cNvSpPr/>
          <p:nvPr/>
        </p:nvSpPr>
        <p:spPr>
          <a:xfrm>
            <a:off x="8176108" y="1554480"/>
            <a:ext cx="3520440" cy="1371600"/>
          </a:xfrm>
          <a:prstGeom prst="roundRect">
            <a:avLst>
              <a:gd name="adj" fmla="val 8000"/>
            </a:avLst>
          </a:prstGeom>
          <a:solidFill>
            <a:srgbClr val="EEF3FC"/>
          </a:solidFill>
          <a:ln/>
        </p:spPr>
      </p:sp>
      <p:sp>
        <p:nvSpPr>
          <p:cNvPr id="10" name="Text 8"/>
          <p:cNvSpPr/>
          <p:nvPr/>
        </p:nvSpPr>
        <p:spPr>
          <a:xfrm>
            <a:off x="8404708" y="1719072"/>
            <a:ext cx="3063240" cy="594360"/>
          </a:xfrm>
          <a:prstGeom prst="rect">
            <a:avLst/>
          </a:prstGeom>
          <a:noFill/>
          <a:ln/>
        </p:spPr>
        <p:txBody>
          <a:bodyPr wrap="square" lIns="0" tIns="0" rIns="0" bIns="0" rtlCol="0" anchor="ctr"/>
          <a:lstStyle/>
          <a:p>
            <a:pPr indent="0" marL="0">
              <a:lnSpc>
                <a:spcPct val="115000"/>
              </a:lnSpc>
              <a:buNone/>
            </a:pPr>
            <a:r>
              <a:rPr lang="en-US" sz="1350" b="1" dirty="0">
                <a:solidFill>
                  <a:srgbClr val="1E2761"/>
                </a:solidFill>
                <a:latin typeface="Yu Gothic" pitchFamily="34" charset="0"/>
                <a:ea typeface="Yu Gothic" pitchFamily="34" charset="-122"/>
                <a:cs typeface="Yu Gothic" pitchFamily="34" charset="-120"/>
              </a:rPr>
              <a:t>クレーム対応の方針づくり</a:t>
            </a:r>
            <a:endParaRPr lang="en-US" sz="1350" dirty="0"/>
          </a:p>
        </p:txBody>
      </p:sp>
      <p:sp>
        <p:nvSpPr>
          <p:cNvPr id="11" name="Text 9"/>
          <p:cNvSpPr/>
          <p:nvPr/>
        </p:nvSpPr>
        <p:spPr>
          <a:xfrm>
            <a:off x="8404708" y="2395728"/>
            <a:ext cx="3063240" cy="411480"/>
          </a:xfrm>
          <a:prstGeom prst="rect">
            <a:avLst/>
          </a:prstGeom>
          <a:noFill/>
          <a:ln/>
        </p:spPr>
        <p:txBody>
          <a:bodyPr wrap="square" lIns="0" tIns="0" rIns="0" bIns="0" rtlCol="0" anchor="ctr"/>
          <a:lstStyle/>
          <a:p>
            <a:pPr indent="0" marL="0">
              <a:buNone/>
            </a:pPr>
            <a:r>
              <a:rPr lang="en-US" sz="1150" dirty="0">
                <a:solidFill>
                  <a:srgbClr val="6B7280"/>
                </a:solidFill>
                <a:latin typeface="Yu Gothic" pitchFamily="34" charset="0"/>
                <a:ea typeface="Yu Gothic" pitchFamily="34" charset="-122"/>
                <a:cs typeface="Yu Gothic" pitchFamily="34" charset="-120"/>
              </a:rPr>
              <a:t>お客様役のAIと予行演習する</a:t>
            </a:r>
            <a:endParaRPr lang="en-US" sz="1150" dirty="0"/>
          </a:p>
        </p:txBody>
      </p:sp>
      <p:sp>
        <p:nvSpPr>
          <p:cNvPr id="12" name="Shape 10"/>
          <p:cNvSpPr/>
          <p:nvPr/>
        </p:nvSpPr>
        <p:spPr>
          <a:xfrm>
            <a:off x="495148" y="3200400"/>
            <a:ext cx="3520440" cy="1371600"/>
          </a:xfrm>
          <a:prstGeom prst="roundRect">
            <a:avLst>
              <a:gd name="adj" fmla="val 8000"/>
            </a:avLst>
          </a:prstGeom>
          <a:solidFill>
            <a:srgbClr val="EEF3FC"/>
          </a:solidFill>
          <a:ln/>
        </p:spPr>
      </p:sp>
      <p:sp>
        <p:nvSpPr>
          <p:cNvPr id="13" name="Text 11"/>
          <p:cNvSpPr/>
          <p:nvPr/>
        </p:nvSpPr>
        <p:spPr>
          <a:xfrm>
            <a:off x="723748" y="3364992"/>
            <a:ext cx="3063240" cy="594360"/>
          </a:xfrm>
          <a:prstGeom prst="rect">
            <a:avLst/>
          </a:prstGeom>
          <a:noFill/>
          <a:ln/>
        </p:spPr>
        <p:txBody>
          <a:bodyPr wrap="square" lIns="0" tIns="0" rIns="0" bIns="0" rtlCol="0" anchor="ctr"/>
          <a:lstStyle/>
          <a:p>
            <a:pPr indent="0" marL="0">
              <a:lnSpc>
                <a:spcPct val="115000"/>
              </a:lnSpc>
              <a:buNone/>
            </a:pPr>
            <a:r>
              <a:rPr lang="en-US" sz="1350" b="1" dirty="0">
                <a:solidFill>
                  <a:srgbClr val="1E2761"/>
                </a:solidFill>
                <a:latin typeface="Yu Gothic" pitchFamily="34" charset="0"/>
                <a:ea typeface="Yu Gothic" pitchFamily="34" charset="-122"/>
                <a:cs typeface="Yu Gothic" pitchFamily="34" charset="-120"/>
              </a:rPr>
              <a:t>新商品・サービスの価格設定</a:t>
            </a:r>
            <a:endParaRPr lang="en-US" sz="1350" dirty="0"/>
          </a:p>
        </p:txBody>
      </p:sp>
      <p:sp>
        <p:nvSpPr>
          <p:cNvPr id="14" name="Text 12"/>
          <p:cNvSpPr/>
          <p:nvPr/>
        </p:nvSpPr>
        <p:spPr>
          <a:xfrm>
            <a:off x="723748" y="4041648"/>
            <a:ext cx="3063240" cy="411480"/>
          </a:xfrm>
          <a:prstGeom prst="rect">
            <a:avLst/>
          </a:prstGeom>
          <a:noFill/>
          <a:ln/>
        </p:spPr>
        <p:txBody>
          <a:bodyPr wrap="square" lIns="0" tIns="0" rIns="0" bIns="0" rtlCol="0" anchor="ctr"/>
          <a:lstStyle/>
          <a:p>
            <a:pPr indent="0" marL="0">
              <a:buNone/>
            </a:pPr>
            <a:r>
              <a:rPr lang="en-US" sz="1150" dirty="0">
                <a:solidFill>
                  <a:srgbClr val="6B7280"/>
                </a:solidFill>
                <a:latin typeface="Yu Gothic" pitchFamily="34" charset="0"/>
                <a:ea typeface="Yu Gothic" pitchFamily="34" charset="-122"/>
                <a:cs typeface="Yu Gothic" pitchFamily="34" charset="-120"/>
              </a:rPr>
              <a:t>想定客役のAIに値ごろ感を聞く</a:t>
            </a:r>
            <a:endParaRPr lang="en-US" sz="1150" dirty="0"/>
          </a:p>
        </p:txBody>
      </p:sp>
      <p:sp>
        <p:nvSpPr>
          <p:cNvPr id="15" name="Shape 13"/>
          <p:cNvSpPr/>
          <p:nvPr/>
        </p:nvSpPr>
        <p:spPr>
          <a:xfrm>
            <a:off x="4335628" y="3200400"/>
            <a:ext cx="3520440" cy="1371600"/>
          </a:xfrm>
          <a:prstGeom prst="roundRect">
            <a:avLst>
              <a:gd name="adj" fmla="val 8000"/>
            </a:avLst>
          </a:prstGeom>
          <a:solidFill>
            <a:srgbClr val="EEF3FC"/>
          </a:solidFill>
          <a:ln/>
        </p:spPr>
      </p:sp>
      <p:sp>
        <p:nvSpPr>
          <p:cNvPr id="16" name="Text 14"/>
          <p:cNvSpPr/>
          <p:nvPr/>
        </p:nvSpPr>
        <p:spPr>
          <a:xfrm>
            <a:off x="4564228" y="3364992"/>
            <a:ext cx="3063240" cy="594360"/>
          </a:xfrm>
          <a:prstGeom prst="rect">
            <a:avLst/>
          </a:prstGeom>
          <a:noFill/>
          <a:ln/>
        </p:spPr>
        <p:txBody>
          <a:bodyPr wrap="square" lIns="0" tIns="0" rIns="0" bIns="0" rtlCol="0" anchor="ctr"/>
          <a:lstStyle/>
          <a:p>
            <a:pPr indent="0" marL="0">
              <a:lnSpc>
                <a:spcPct val="115000"/>
              </a:lnSpc>
              <a:buNone/>
            </a:pPr>
            <a:r>
              <a:rPr lang="en-US" sz="1350" b="1" dirty="0">
                <a:solidFill>
                  <a:srgbClr val="1E2761"/>
                </a:solidFill>
                <a:latin typeface="Yu Gothic" pitchFamily="34" charset="0"/>
                <a:ea typeface="Yu Gothic" pitchFamily="34" charset="-122"/>
                <a:cs typeface="Yu Gothic" pitchFamily="34" charset="-120"/>
              </a:rPr>
              <a:t>社長業の引き継ぎ書</a:t>
            </a:r>
            <a:endParaRPr lang="en-US" sz="1350" dirty="0"/>
          </a:p>
        </p:txBody>
      </p:sp>
      <p:sp>
        <p:nvSpPr>
          <p:cNvPr id="17" name="Text 15"/>
          <p:cNvSpPr/>
          <p:nvPr/>
        </p:nvSpPr>
        <p:spPr>
          <a:xfrm>
            <a:off x="4564228" y="4041648"/>
            <a:ext cx="3063240" cy="411480"/>
          </a:xfrm>
          <a:prstGeom prst="rect">
            <a:avLst/>
          </a:prstGeom>
          <a:noFill/>
          <a:ln/>
        </p:spPr>
        <p:txBody>
          <a:bodyPr wrap="square" lIns="0" tIns="0" rIns="0" bIns="0" rtlCol="0" anchor="ctr"/>
          <a:lstStyle/>
          <a:p>
            <a:pPr indent="0" marL="0">
              <a:buNone/>
            </a:pPr>
            <a:r>
              <a:rPr lang="en-US" sz="1150" dirty="0">
                <a:solidFill>
                  <a:srgbClr val="6B7280"/>
                </a:solidFill>
                <a:latin typeface="Yu Gothic" pitchFamily="34" charset="0"/>
                <a:ea typeface="Yu Gothic" pitchFamily="34" charset="-122"/>
                <a:cs typeface="Yu Gothic" pitchFamily="34" charset="-120"/>
              </a:rPr>
              <a:t>後継者役のAIに質問させて棚卸し</a:t>
            </a:r>
            <a:endParaRPr lang="en-US" sz="1150" dirty="0"/>
          </a:p>
        </p:txBody>
      </p:sp>
      <p:sp>
        <p:nvSpPr>
          <p:cNvPr id="18" name="Shape 16"/>
          <p:cNvSpPr/>
          <p:nvPr/>
        </p:nvSpPr>
        <p:spPr>
          <a:xfrm>
            <a:off x="8176108" y="3200400"/>
            <a:ext cx="3520440" cy="1371600"/>
          </a:xfrm>
          <a:prstGeom prst="roundRect">
            <a:avLst>
              <a:gd name="adj" fmla="val 8000"/>
            </a:avLst>
          </a:prstGeom>
          <a:solidFill>
            <a:srgbClr val="EEF3FC"/>
          </a:solidFill>
          <a:ln/>
        </p:spPr>
      </p:sp>
      <p:sp>
        <p:nvSpPr>
          <p:cNvPr id="19" name="Text 17"/>
          <p:cNvSpPr/>
          <p:nvPr/>
        </p:nvSpPr>
        <p:spPr>
          <a:xfrm>
            <a:off x="8404708" y="3364992"/>
            <a:ext cx="3063240" cy="594360"/>
          </a:xfrm>
          <a:prstGeom prst="rect">
            <a:avLst/>
          </a:prstGeom>
          <a:noFill/>
          <a:ln/>
        </p:spPr>
        <p:txBody>
          <a:bodyPr wrap="square" lIns="0" tIns="0" rIns="0" bIns="0" rtlCol="0" anchor="ctr"/>
          <a:lstStyle/>
          <a:p>
            <a:pPr indent="0" marL="0">
              <a:lnSpc>
                <a:spcPct val="115000"/>
              </a:lnSpc>
              <a:buNone/>
            </a:pPr>
            <a:r>
              <a:rPr lang="en-US" sz="1350" b="1" dirty="0">
                <a:solidFill>
                  <a:srgbClr val="1E2761"/>
                </a:solidFill>
                <a:latin typeface="Yu Gothic" pitchFamily="34" charset="0"/>
                <a:ea typeface="Yu Gothic" pitchFamily="34" charset="-122"/>
                <a:cs typeface="Yu Gothic" pitchFamily="34" charset="-120"/>
              </a:rPr>
              <a:t>ホームページの原稿</a:t>
            </a:r>
            <a:endParaRPr lang="en-US" sz="1350" dirty="0"/>
          </a:p>
        </p:txBody>
      </p:sp>
      <p:sp>
        <p:nvSpPr>
          <p:cNvPr id="20" name="Text 18"/>
          <p:cNvSpPr/>
          <p:nvPr/>
        </p:nvSpPr>
        <p:spPr>
          <a:xfrm>
            <a:off x="8404708" y="4041648"/>
            <a:ext cx="3063240" cy="411480"/>
          </a:xfrm>
          <a:prstGeom prst="rect">
            <a:avLst/>
          </a:prstGeom>
          <a:noFill/>
          <a:ln/>
        </p:spPr>
        <p:txBody>
          <a:bodyPr wrap="square" lIns="0" tIns="0" rIns="0" bIns="0" rtlCol="0" anchor="ctr"/>
          <a:lstStyle/>
          <a:p>
            <a:pPr indent="0" marL="0">
              <a:buNone/>
            </a:pPr>
            <a:r>
              <a:rPr lang="en-US" sz="1150" dirty="0">
                <a:solidFill>
                  <a:srgbClr val="6B7280"/>
                </a:solidFill>
                <a:latin typeface="Yu Gothic" pitchFamily="34" charset="0"/>
                <a:ea typeface="Yu Gothic" pitchFamily="34" charset="-122"/>
                <a:cs typeface="Yu Gothic" pitchFamily="34" charset="-120"/>
              </a:rPr>
              <a:t>初めての客役のAIに質問させる</a:t>
            </a:r>
            <a:endParaRPr lang="en-US" sz="1150" dirty="0"/>
          </a:p>
        </p:txBody>
      </p:sp>
      <p:sp>
        <p:nvSpPr>
          <p:cNvPr id="21" name="Text 19"/>
          <p:cNvSpPr/>
          <p:nvPr/>
        </p:nvSpPr>
        <p:spPr>
          <a:xfrm>
            <a:off x="640080" y="5120640"/>
            <a:ext cx="10972800" cy="457200"/>
          </a:xfrm>
          <a:prstGeom prst="rect">
            <a:avLst/>
          </a:prstGeom>
          <a:noFill/>
          <a:ln/>
        </p:spPr>
        <p:txBody>
          <a:bodyPr wrap="square" lIns="0" tIns="0" rIns="0" bIns="0" rtlCol="0" anchor="ctr"/>
          <a:lstStyle/>
          <a:p>
            <a:pPr algn="ctr" indent="0" marL="0">
              <a:buNone/>
            </a:pPr>
            <a:r>
              <a:rPr lang="en-US" sz="1600" b="1" dirty="0">
                <a:solidFill>
                  <a:srgbClr val="1E2761"/>
                </a:solidFill>
                <a:latin typeface="Yu Gothic" pitchFamily="34" charset="0"/>
                <a:ea typeface="Yu Gothic" pitchFamily="34" charset="-122"/>
                <a:cs typeface="Yu Gothic" pitchFamily="34" charset="-120"/>
              </a:rPr>
              <a:t>型はすべて同じ：「あなたはプロの◯◯。いきなり書かず、まず私に質問して」</a:t>
            </a:r>
            <a:endParaRPr lang="en-US" sz="1600" dirty="0"/>
          </a:p>
        </p:txBody>
      </p:sp>
      <p:sp>
        <p:nvSpPr>
          <p:cNvPr id="22" name="Text 20"/>
          <p:cNvSpPr/>
          <p:nvPr/>
        </p:nvSpPr>
        <p:spPr>
          <a:xfrm>
            <a:off x="640080" y="5669280"/>
            <a:ext cx="10972800" cy="365760"/>
          </a:xfrm>
          <a:prstGeom prst="rect">
            <a:avLst/>
          </a:prstGeom>
          <a:noFill/>
          <a:ln/>
        </p:spPr>
        <p:txBody>
          <a:bodyPr wrap="square" lIns="0" tIns="0" rIns="0" bIns="0" rtlCol="0" anchor="ctr"/>
          <a:lstStyle/>
          <a:p>
            <a:pPr algn="ctr" indent="0" marL="0">
              <a:buNone/>
            </a:pPr>
            <a:r>
              <a:rPr lang="en-US" sz="1200" i="1" dirty="0">
                <a:solidFill>
                  <a:srgbClr val="6B7280"/>
                </a:solidFill>
                <a:latin typeface="Yu Gothic" pitchFamily="34" charset="0"/>
                <a:ea typeface="Yu Gothic" pitchFamily="34" charset="-122"/>
                <a:cs typeface="Yu Gothic" pitchFamily="34" charset="-120"/>
              </a:rPr>
              <a:t>※ 6つの応用プロンプト全文は配布資料に掲載しています</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2103120"/>
            <a:ext cx="3657600" cy="548640"/>
          </a:xfrm>
          <a:prstGeom prst="rect">
            <a:avLst/>
          </a:prstGeom>
          <a:noFill/>
          <a:ln/>
        </p:spPr>
        <p:txBody>
          <a:bodyPr wrap="square" lIns="0" tIns="0" rIns="0" bIns="0" rtlCol="0" anchor="ctr"/>
          <a:lstStyle/>
          <a:p>
            <a:pPr indent="0" marL="0">
              <a:buNone/>
            </a:pPr>
            <a:r>
              <a:rPr lang="en-US" sz="2200" b="1" dirty="0">
                <a:solidFill>
                  <a:srgbClr val="E8A33D"/>
                </a:solidFill>
                <a:latin typeface="Yu Gothic" pitchFamily="34" charset="0"/>
                <a:ea typeface="Yu Gothic" pitchFamily="34" charset="-122"/>
                <a:cs typeface="Yu Gothic" pitchFamily="34" charset="-120"/>
              </a:rPr>
              <a:t>第4章</a:t>
            </a:r>
            <a:endParaRPr lang="en-US" sz="2200" dirty="0"/>
          </a:p>
        </p:txBody>
      </p:sp>
      <p:sp>
        <p:nvSpPr>
          <p:cNvPr id="3" name="Text 1"/>
          <p:cNvSpPr/>
          <p:nvPr/>
        </p:nvSpPr>
        <p:spPr>
          <a:xfrm>
            <a:off x="822960" y="2697480"/>
            <a:ext cx="10515600" cy="914400"/>
          </a:xfrm>
          <a:prstGeom prst="rect">
            <a:avLst/>
          </a:prstGeom>
          <a:noFill/>
          <a:ln/>
        </p:spPr>
        <p:txBody>
          <a:bodyPr wrap="square" lIns="0" tIns="0" rIns="0" bIns="0" rtlCol="0" anchor="ctr"/>
          <a:lstStyle/>
          <a:p>
            <a:pPr indent="0" marL="0">
              <a:buNone/>
            </a:pPr>
            <a:r>
              <a:rPr lang="en-US" sz="3600" b="1" dirty="0">
                <a:solidFill>
                  <a:srgbClr val="FFFFFF"/>
                </a:solidFill>
                <a:latin typeface="Yu Gothic" pitchFamily="34" charset="0"/>
                <a:ea typeface="Yu Gothic" pitchFamily="34" charset="-122"/>
                <a:cs typeface="Yu Gothic" pitchFamily="34" charset="-120"/>
              </a:rPr>
              <a:t>実演 — 見た目は高度、操作は一瞬</a:t>
            </a:r>
            <a:endParaRPr lang="en-US" sz="3600" dirty="0"/>
          </a:p>
        </p:txBody>
      </p:sp>
      <p:sp>
        <p:nvSpPr>
          <p:cNvPr id="4" name="Text 2"/>
          <p:cNvSpPr/>
          <p:nvPr/>
        </p:nvSpPr>
        <p:spPr>
          <a:xfrm>
            <a:off x="822960" y="3794760"/>
            <a:ext cx="10515600" cy="548640"/>
          </a:xfrm>
          <a:prstGeom prst="rect">
            <a:avLst/>
          </a:prstGeom>
          <a:noFill/>
          <a:ln/>
        </p:spPr>
        <p:txBody>
          <a:bodyPr wrap="square" lIns="0" tIns="0" rIns="0" bIns="0" rtlCol="0" anchor="ctr"/>
          <a:lstStyle/>
          <a:p>
            <a:pPr indent="0" marL="0">
              <a:buNone/>
            </a:pPr>
            <a:r>
              <a:rPr lang="en-US" sz="1600" dirty="0">
                <a:solidFill>
                  <a:srgbClr val="CADCFC"/>
                </a:solidFill>
                <a:latin typeface="Yu Gothic" pitchFamily="34" charset="0"/>
                <a:ea typeface="Yu Gothic" pitchFamily="34" charset="-122"/>
                <a:cs typeface="Yu Gothic" pitchFamily="34" charset="-120"/>
              </a:rPr>
              <a:t>FAX注文書の表データ化／2分でできる社内AI</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FFFFFF"/>
                </a:solidFill>
                <a:latin typeface="Yu Gothic" pitchFamily="34" charset="0"/>
                <a:ea typeface="Yu Gothic" pitchFamily="34" charset="-122"/>
                <a:cs typeface="Yu Gothic" pitchFamily="34" charset="-120"/>
              </a:rPr>
              <a:t>実演① — 手書きのFAX注文書が、3秒で表になる</a:t>
            </a:r>
            <a:endParaRPr lang="en-US" sz="2700" dirty="0"/>
          </a:p>
        </p:txBody>
      </p:sp>
      <p:sp>
        <p:nvSpPr>
          <p:cNvPr id="3" name="Text 1"/>
          <p:cNvSpPr/>
          <p:nvPr/>
        </p:nvSpPr>
        <p:spPr>
          <a:xfrm>
            <a:off x="548640" y="1097280"/>
            <a:ext cx="10058400" cy="365760"/>
          </a:xfrm>
          <a:prstGeom prst="rect">
            <a:avLst/>
          </a:prstGeom>
          <a:noFill/>
          <a:ln/>
        </p:spPr>
        <p:txBody>
          <a:bodyPr wrap="square" lIns="0" tIns="0" rIns="0" bIns="0" rtlCol="0" anchor="ctr"/>
          <a:lstStyle/>
          <a:p>
            <a:pPr indent="0" marL="0">
              <a:buNone/>
            </a:pPr>
            <a:r>
              <a:rPr lang="en-US" sz="1400" dirty="0">
                <a:solidFill>
                  <a:srgbClr val="CADCFC"/>
                </a:solidFill>
                <a:latin typeface="Yu Gothic" pitchFamily="34" charset="0"/>
                <a:ea typeface="Yu Gothic" pitchFamily="34" charset="-122"/>
                <a:cs typeface="Yu Gothic" pitchFamily="34" charset="-120"/>
              </a:rPr>
              <a:t>ここからの2本は、見ているだけでOKです</a:t>
            </a:r>
            <a:endParaRPr lang="en-US" sz="1400" dirty="0"/>
          </a:p>
        </p:txBody>
      </p:sp>
      <p:sp>
        <p:nvSpPr>
          <p:cNvPr id="4" name="Shape 2"/>
          <p:cNvSpPr/>
          <p:nvPr/>
        </p:nvSpPr>
        <p:spPr>
          <a:xfrm>
            <a:off x="914400" y="1828800"/>
            <a:ext cx="1188720" cy="1188720"/>
          </a:xfrm>
          <a:prstGeom prst="ellipse">
            <a:avLst/>
          </a:prstGeom>
          <a:solidFill>
            <a:srgbClr val="2A3778"/>
          </a:solidFill>
          <a:ln/>
        </p:spPr>
      </p:sp>
      <p:pic>
        <p:nvPicPr>
          <p:cNvPr id="5" name="Image 0" descr="preencoded.png">    </p:cNvPr>
          <p:cNvPicPr>
            <a:picLocks noChangeAspect="1"/>
          </p:cNvPicPr>
          <p:nvPr/>
        </p:nvPicPr>
        <p:blipFill>
          <a:blip r:embed="rId1"/>
          <a:stretch>
            <a:fillRect/>
          </a:stretch>
        </p:blipFill>
        <p:spPr>
          <a:xfrm>
            <a:off x="1223467" y="2137867"/>
            <a:ext cx="570586" cy="570586"/>
          </a:xfrm>
          <a:prstGeom prst="rect">
            <a:avLst/>
          </a:prstGeom>
        </p:spPr>
      </p:pic>
      <p:sp>
        <p:nvSpPr>
          <p:cNvPr id="6" name="Text 3"/>
          <p:cNvSpPr/>
          <p:nvPr/>
        </p:nvSpPr>
        <p:spPr>
          <a:xfrm>
            <a:off x="2468880" y="1828800"/>
            <a:ext cx="8869680" cy="2011680"/>
          </a:xfrm>
          <a:prstGeom prst="rect">
            <a:avLst/>
          </a:prstGeom>
          <a:noFill/>
          <a:ln/>
        </p:spPr>
        <p:txBody>
          <a:bodyPr wrap="square" rtlCol="0" anchor="ctr"/>
          <a:lstStyle/>
          <a:p>
            <a:pPr marL="342900" indent="-342900">
              <a:lnSpc>
                <a:spcPct val="120000"/>
              </a:lnSpc>
              <a:spcAft>
                <a:spcPts val="1400"/>
              </a:spcAft>
              <a:buSzPct val="100000"/>
              <a:buChar char="•"/>
            </a:pPr>
            <a:r>
              <a:rPr lang="en-US" sz="1600" dirty="0">
                <a:solidFill>
                  <a:srgbClr val="FFFFFF"/>
                </a:solidFill>
                <a:latin typeface="Yu Gothic" pitchFamily="34" charset="0"/>
                <a:ea typeface="Yu Gothic" pitchFamily="34" charset="-122"/>
                <a:cs typeface="Yu Gothic" pitchFamily="34" charset="-120"/>
              </a:rPr>
              <a:t>この紙、毎日届いていませんか？（実物をお見せします）</a:t>
            </a:r>
            <a:endParaRPr lang="en-US" sz="1600" dirty="0"/>
          </a:p>
          <a:p>
            <a:pPr marL="342900" indent="-342900">
              <a:lnSpc>
                <a:spcPct val="120000"/>
              </a:lnSpc>
              <a:spcAft>
                <a:spcPts val="1400"/>
              </a:spcAft>
              <a:buSzPct val="100000"/>
              <a:buChar char="•"/>
            </a:pPr>
            <a:r>
              <a:rPr lang="en-US" sz="1600" dirty="0">
                <a:solidFill>
                  <a:srgbClr val="FFFFFF"/>
                </a:solidFill>
                <a:latin typeface="Yu Gothic" pitchFamily="34" charset="0"/>
                <a:ea typeface="Yu Gothic" pitchFamily="34" charset="-122"/>
                <a:cs typeface="Yu Gothic" pitchFamily="34" charset="-120"/>
              </a:rPr>
              <a:t>スマホで撮って、送るだけ。品名・数量・納期の表になります</a:t>
            </a:r>
            <a:endParaRPr lang="en-US" sz="1600" dirty="0"/>
          </a:p>
          <a:p>
            <a:pPr marL="342900" indent="-342900">
              <a:lnSpc>
                <a:spcPct val="120000"/>
              </a:lnSpc>
              <a:spcAft>
                <a:spcPts val="1400"/>
              </a:spcAft>
              <a:buSzPct val="100000"/>
              <a:buChar char="•"/>
            </a:pPr>
            <a:r>
              <a:rPr lang="en-US" sz="1600" dirty="0">
                <a:solidFill>
                  <a:srgbClr val="FFFFFF"/>
                </a:solidFill>
                <a:latin typeface="Yu Gothic" pitchFamily="34" charset="0"/>
                <a:ea typeface="Yu Gothic" pitchFamily="34" charset="-122"/>
                <a:cs typeface="Yu Gothic" pitchFamily="34" charset="-120"/>
              </a:rPr>
              <a:t>読み取りに自信がない字は、勝手に想像せず（？）を付けて聞き返してきます</a:t>
            </a:r>
            <a:endParaRPr lang="en-US" sz="1600" dirty="0"/>
          </a:p>
        </p:txBody>
      </p:sp>
      <p:sp>
        <p:nvSpPr>
          <p:cNvPr id="7" name="Shape 4"/>
          <p:cNvSpPr/>
          <p:nvPr/>
        </p:nvSpPr>
        <p:spPr>
          <a:xfrm>
            <a:off x="2194560" y="4389120"/>
            <a:ext cx="7772400" cy="1005840"/>
          </a:xfrm>
          <a:prstGeom prst="roundRect">
            <a:avLst>
              <a:gd name="adj" fmla="val 10909"/>
            </a:avLst>
          </a:prstGeom>
          <a:solidFill>
            <a:srgbClr val="2A3778"/>
          </a:solidFill>
          <a:ln/>
        </p:spPr>
      </p:sp>
      <p:sp>
        <p:nvSpPr>
          <p:cNvPr id="8" name="Text 5"/>
          <p:cNvSpPr/>
          <p:nvPr/>
        </p:nvSpPr>
        <p:spPr>
          <a:xfrm>
            <a:off x="2560320" y="4389120"/>
            <a:ext cx="7223760" cy="1005840"/>
          </a:xfrm>
          <a:prstGeom prst="rect">
            <a:avLst/>
          </a:prstGeom>
          <a:noFill/>
          <a:ln/>
        </p:spPr>
        <p:txBody>
          <a:bodyPr wrap="square" lIns="0" tIns="0" rIns="0" bIns="0" rtlCol="0" anchor="ctr"/>
          <a:lstStyle/>
          <a:p>
            <a:pPr indent="0" marL="0">
              <a:buNone/>
            </a:pPr>
            <a:r>
              <a:rPr lang="en-US" sz="1800" b="1" dirty="0">
                <a:solidFill>
                  <a:srgbClr val="E8A33D"/>
                </a:solidFill>
                <a:latin typeface="Yu Gothic" pitchFamily="34" charset="0"/>
                <a:ea typeface="Yu Gothic" pitchFamily="34" charset="-122"/>
                <a:cs typeface="Yu Gothic" pitchFamily="34" charset="-120"/>
              </a:rPr>
              <a:t>毎朝の転記作業を、ゼロにできます</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出力結果 — 手書きがこうなる</a:t>
            </a:r>
            <a:endParaRPr lang="en-US" sz="27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2960" y="1463040"/>
          <a:ext cx="10515600" cy="914400"/>
        </p:xfrm>
        <a:graphic>
          <a:graphicData uri="http://schemas.openxmlformats.org/drawingml/2006/table">
            <a:tbl>
              <a:tblPr/>
              <a:tblGrid>
                <a:gridCol w="822960"/>
                <a:gridCol w="2926080"/>
                <a:gridCol w="2560320"/>
                <a:gridCol w="2011680"/>
                <a:gridCol w="2194560"/>
              </a:tblGrid>
              <a:tr h="502920">
                <a:tc>
                  <a:txBody>
                    <a:bodyPr/>
                    <a:lstStyle/>
                    <a:p>
                      <a:pPr indent="0" marL="0">
                        <a:buNone/>
                      </a:pPr>
                      <a:r>
                        <a:rPr lang="en-US" sz="1400" b="1" dirty="0">
                          <a:solidFill>
                            <a:srgbClr val="FFFFFF"/>
                          </a:solidFill>
                          <a:latin typeface="Yu Gothic" pitchFamily="34" charset="0"/>
                          <a:ea typeface="Yu Gothic" pitchFamily="34" charset="-122"/>
                          <a:cs typeface="Yu Gothic" pitchFamily="34" charset="-120"/>
                        </a:rPr>
                        <a:t>No.</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Yu Gothic" pitchFamily="34" charset="0"/>
                          <a:ea typeface="Yu Gothic" pitchFamily="34" charset="-122"/>
                          <a:cs typeface="Yu Gothic" pitchFamily="34" charset="-120"/>
                        </a:rPr>
                        <a:t>品名</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Yu Gothic" pitchFamily="34" charset="0"/>
                          <a:ea typeface="Yu Gothic" pitchFamily="34" charset="-122"/>
                          <a:cs typeface="Yu Gothic" pitchFamily="34" charset="-120"/>
                        </a:rPr>
                        <a:t>規格・寸法</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Yu Gothic" pitchFamily="34" charset="0"/>
                          <a:ea typeface="Yu Gothic" pitchFamily="34" charset="-122"/>
                          <a:cs typeface="Yu Gothic" pitchFamily="34" charset="-120"/>
                        </a:rPr>
                        <a:t>数量</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Yu Gothic" pitchFamily="34" charset="0"/>
                          <a:ea typeface="Yu Gothic" pitchFamily="34" charset="-122"/>
                          <a:cs typeface="Yu Gothic" pitchFamily="34" charset="-120"/>
                        </a:rPr>
                        <a:t>納期</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1E2761"/>
                    </a:solidFill>
                  </a:tcPr>
                </a:tc>
              </a:tr>
              <a:tr h="502920">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1</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SUS304 板 t1.5</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300×450</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20</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8/10</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2</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A5052 アングル</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L=2000</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15本</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8/19（訂正後の日付を採用）</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3</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M8 六角ボルト</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L=30 ユニクロ</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200（？）</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至急</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r>
            </a:tbl>
          </a:graphicData>
        </a:graphic>
      </p:graphicFrame>
      <p:sp>
        <p:nvSpPr>
          <p:cNvPr id="4" name="Text 1"/>
          <p:cNvSpPr/>
          <p:nvPr/>
        </p:nvSpPr>
        <p:spPr>
          <a:xfrm>
            <a:off x="822960" y="3931920"/>
            <a:ext cx="10515600" cy="1463040"/>
          </a:xfrm>
          <a:prstGeom prst="rect">
            <a:avLst/>
          </a:prstGeom>
          <a:noFill/>
          <a:ln/>
        </p:spPr>
        <p:txBody>
          <a:bodyPr wrap="square" rtlCol="0" anchor="ctr"/>
          <a:lstStyle/>
          <a:p>
            <a:pPr marL="342900" indent="-342900">
              <a:spcAft>
                <a:spcPts val="1000"/>
              </a:spcAft>
              <a:buSzPct val="100000"/>
              <a:buChar char="•"/>
            </a:pPr>
            <a:r>
              <a:rPr lang="en-US" sz="1500" dirty="0">
                <a:solidFill>
                  <a:srgbClr val="333333"/>
                </a:solidFill>
                <a:latin typeface="Yu Gothic" pitchFamily="34" charset="0"/>
                <a:ea typeface="Yu Gothic" pitchFamily="34" charset="-122"/>
                <a:cs typeface="Yu Gothic" pitchFamily="34" charset="-120"/>
              </a:rPr>
              <a:t>二重線の訂正を読み取り、訂正後の「8/19」を採用している</a:t>
            </a:r>
            <a:endParaRPr lang="en-US" sz="1500" dirty="0"/>
          </a:p>
          <a:p>
            <a:pPr marL="342900" indent="-342900">
              <a:spcAft>
                <a:spcPts val="1000"/>
              </a:spcAft>
              <a:buSzPct val="100000"/>
              <a:buChar char="•"/>
            </a:pPr>
            <a:r>
              <a:rPr lang="en-US" sz="1500" dirty="0">
                <a:solidFill>
                  <a:srgbClr val="333333"/>
                </a:solidFill>
                <a:latin typeface="Yu Gothic" pitchFamily="34" charset="0"/>
                <a:ea typeface="Yu Gothic" pitchFamily="34" charset="-122"/>
                <a:cs typeface="Yu Gothic" pitchFamily="34" charset="-120"/>
              </a:rPr>
              <a:t>つぶれた字は勝手に想像せず「（？）」を付けて確認を求めてくる</a:t>
            </a:r>
            <a:endParaRPr lang="en-US" sz="1500" dirty="0"/>
          </a:p>
          <a:p>
            <a:pPr marL="342900" indent="-342900">
              <a:spcAft>
                <a:spcPts val="1000"/>
              </a:spcAft>
              <a:buSzPct val="100000"/>
              <a:buChar char="•"/>
            </a:pPr>
            <a:r>
              <a:rPr lang="en-US" sz="1500" dirty="0">
                <a:solidFill>
                  <a:srgbClr val="333333"/>
                </a:solidFill>
                <a:latin typeface="Yu Gothic" pitchFamily="34" charset="0"/>
                <a:ea typeface="Yu Gothic" pitchFamily="34" charset="-122"/>
                <a:cs typeface="Yu Gothic" pitchFamily="34" charset="-120"/>
              </a:rPr>
              <a:t>「Excelに貼れる形式にして」と頼めば、そのまま貼り付け可能</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FFFFFF"/>
                </a:solidFill>
                <a:latin typeface="Yu Gothic" pitchFamily="34" charset="0"/>
                <a:ea typeface="Yu Gothic" pitchFamily="34" charset="-122"/>
                <a:cs typeface="Yu Gothic" pitchFamily="34" charset="-120"/>
              </a:rPr>
              <a:t>実演② — 社内の何でも答えるAI、作るのに2分でした</a:t>
            </a:r>
            <a:endParaRPr lang="en-US" sz="2700" dirty="0"/>
          </a:p>
        </p:txBody>
      </p:sp>
      <p:sp>
        <p:nvSpPr>
          <p:cNvPr id="3" name="Shape 1"/>
          <p:cNvSpPr/>
          <p:nvPr/>
        </p:nvSpPr>
        <p:spPr>
          <a:xfrm>
            <a:off x="914400" y="1828800"/>
            <a:ext cx="1188720" cy="1188720"/>
          </a:xfrm>
          <a:prstGeom prst="ellipse">
            <a:avLst/>
          </a:prstGeom>
          <a:solidFill>
            <a:srgbClr val="2A3778"/>
          </a:solidFill>
          <a:ln/>
        </p:spPr>
      </p:sp>
      <p:pic>
        <p:nvPicPr>
          <p:cNvPr id="4" name="Image 0" descr="preencoded.png">    </p:cNvPr>
          <p:cNvPicPr>
            <a:picLocks noChangeAspect="1"/>
          </p:cNvPicPr>
          <p:nvPr/>
        </p:nvPicPr>
        <p:blipFill>
          <a:blip r:embed="rId1"/>
          <a:stretch>
            <a:fillRect/>
          </a:stretch>
        </p:blipFill>
        <p:spPr>
          <a:xfrm>
            <a:off x="1223467" y="2137867"/>
            <a:ext cx="570586" cy="570586"/>
          </a:xfrm>
          <a:prstGeom prst="rect">
            <a:avLst/>
          </a:prstGeom>
        </p:spPr>
      </p:pic>
      <p:sp>
        <p:nvSpPr>
          <p:cNvPr id="5" name="Text 2"/>
          <p:cNvSpPr/>
          <p:nvPr/>
        </p:nvSpPr>
        <p:spPr>
          <a:xfrm>
            <a:off x="2468880" y="1828800"/>
            <a:ext cx="8869680" cy="2194560"/>
          </a:xfrm>
          <a:prstGeom prst="rect">
            <a:avLst/>
          </a:prstGeom>
          <a:noFill/>
          <a:ln/>
        </p:spPr>
        <p:txBody>
          <a:bodyPr wrap="square" rtlCol="0" anchor="ctr"/>
          <a:lstStyle/>
          <a:p>
            <a:pPr marL="342900" indent="-342900">
              <a:lnSpc>
                <a:spcPct val="120000"/>
              </a:lnSpc>
              <a:spcAft>
                <a:spcPts val="1400"/>
              </a:spcAft>
              <a:buSzPct val="100000"/>
              <a:buChar char="•"/>
            </a:pPr>
            <a:r>
              <a:rPr lang="en-US" sz="1600" dirty="0">
                <a:solidFill>
                  <a:srgbClr val="FFFFFF"/>
                </a:solidFill>
                <a:latin typeface="Yu Gothic" pitchFamily="34" charset="0"/>
                <a:ea typeface="Yu Gothic" pitchFamily="34" charset="-122"/>
                <a:cs typeface="Yu Gothic" pitchFamily="34" charset="-120"/>
              </a:rPr>
              <a:t>「有休の繰越は？」「慶弔休暇は何日？」——全部規則に書いてあるのに、誰も読まない</a:t>
            </a:r>
            <a:endParaRPr lang="en-US" sz="1600" dirty="0"/>
          </a:p>
          <a:p>
            <a:pPr marL="342900" indent="-342900">
              <a:lnSpc>
                <a:spcPct val="120000"/>
              </a:lnSpc>
              <a:spcAft>
                <a:spcPts val="1400"/>
              </a:spcAft>
              <a:buSzPct val="100000"/>
              <a:buChar char="•"/>
            </a:pPr>
            <a:r>
              <a:rPr lang="en-US" sz="1600" dirty="0">
                <a:solidFill>
                  <a:srgbClr val="FFFFFF"/>
                </a:solidFill>
                <a:latin typeface="Yu Gothic" pitchFamily="34" charset="0"/>
                <a:ea typeface="Yu Gothic" pitchFamily="34" charset="-122"/>
                <a:cs typeface="Yu Gothic" pitchFamily="34" charset="-120"/>
              </a:rPr>
              <a:t>就業規則のPDFをAIに読み込ませると、根拠の条文つきで即答する社内AIになります</a:t>
            </a:r>
            <a:endParaRPr lang="en-US" sz="1600" dirty="0"/>
          </a:p>
          <a:p>
            <a:pPr marL="342900" indent="-342900">
              <a:lnSpc>
                <a:spcPct val="120000"/>
              </a:lnSpc>
              <a:spcAft>
                <a:spcPts val="1400"/>
              </a:spcAft>
              <a:buSzPct val="100000"/>
              <a:buChar char="•"/>
            </a:pPr>
            <a:r>
              <a:rPr lang="en-US" sz="1600" dirty="0">
                <a:solidFill>
                  <a:srgbClr val="FFFFFF"/>
                </a:solidFill>
                <a:latin typeface="Yu Gothic" pitchFamily="34" charset="0"/>
                <a:ea typeface="Yu Gothic" pitchFamily="34" charset="-122"/>
                <a:cs typeface="Yu Gothic" pitchFamily="34" charset="-120"/>
              </a:rPr>
              <a:t>かかった作業は、ファイルをアップロードしただけ</a:t>
            </a:r>
            <a:endParaRPr lang="en-US" sz="1600" dirty="0"/>
          </a:p>
        </p:txBody>
      </p:sp>
      <p:sp>
        <p:nvSpPr>
          <p:cNvPr id="6" name="Text 3"/>
          <p:cNvSpPr/>
          <p:nvPr/>
        </p:nvSpPr>
        <p:spPr>
          <a:xfrm>
            <a:off x="548640" y="6126480"/>
            <a:ext cx="11064240" cy="320040"/>
          </a:xfrm>
          <a:prstGeom prst="rect">
            <a:avLst/>
          </a:prstGeom>
          <a:noFill/>
          <a:ln/>
        </p:spPr>
        <p:txBody>
          <a:bodyPr wrap="square" lIns="0" tIns="0" rIns="0" bIns="0" rtlCol="0" anchor="ctr"/>
          <a:lstStyle/>
          <a:p>
            <a:pPr indent="0" marL="0">
              <a:buNone/>
            </a:pPr>
            <a:r>
              <a:rPr lang="en-US" sz="1100" dirty="0">
                <a:solidFill>
                  <a:srgbClr val="CADCFC"/>
                </a:solidFill>
                <a:latin typeface="Yu Gothic" pitchFamily="34" charset="0"/>
                <a:ea typeface="Yu Gothic" pitchFamily="34" charset="-122"/>
                <a:cs typeface="Yu Gothic" pitchFamily="34" charset="-120"/>
              </a:rPr>
              <a:t>使用ツール：Google NotebookLM（無料・Googleアカウントが必要）※今日は覚えなくてOK</a:t>
            </a:r>
            <a:endParaRPr lang="en-US" sz="1100" dirty="0"/>
          </a:p>
        </p:txBody>
      </p:sp>
      <p:sp>
        <p:nvSpPr>
          <p:cNvPr id="7" name="Shape 4"/>
          <p:cNvSpPr/>
          <p:nvPr/>
        </p:nvSpPr>
        <p:spPr>
          <a:xfrm>
            <a:off x="2194560" y="4480560"/>
            <a:ext cx="7772400" cy="1005840"/>
          </a:xfrm>
          <a:prstGeom prst="roundRect">
            <a:avLst>
              <a:gd name="adj" fmla="val 10909"/>
            </a:avLst>
          </a:prstGeom>
          <a:solidFill>
            <a:srgbClr val="2A3778"/>
          </a:solidFill>
          <a:ln/>
        </p:spPr>
      </p:sp>
      <p:sp>
        <p:nvSpPr>
          <p:cNvPr id="8" name="Text 5"/>
          <p:cNvSpPr/>
          <p:nvPr/>
        </p:nvSpPr>
        <p:spPr>
          <a:xfrm>
            <a:off x="2560320" y="4480560"/>
            <a:ext cx="7223760" cy="1005840"/>
          </a:xfrm>
          <a:prstGeom prst="rect">
            <a:avLst/>
          </a:prstGeom>
          <a:noFill/>
          <a:ln/>
        </p:spPr>
        <p:txBody>
          <a:bodyPr wrap="square" lIns="0" tIns="0" rIns="0" bIns="0" rtlCol="0" anchor="ctr"/>
          <a:lstStyle/>
          <a:p>
            <a:pPr indent="0" marL="0">
              <a:buNone/>
            </a:pPr>
            <a:r>
              <a:rPr lang="en-US" sz="1800" b="1" dirty="0">
                <a:solidFill>
                  <a:srgbClr val="E8A33D"/>
                </a:solidFill>
                <a:latin typeface="Yu Gothic" pitchFamily="34" charset="0"/>
                <a:ea typeface="Yu Gothic" pitchFamily="34" charset="-122"/>
                <a:cs typeface="Yu Gothic" pitchFamily="34" charset="-120"/>
              </a:rPr>
              <a:t>御社のマニュアル・規程で作るところは、個別相談で</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出力結果 — 就業規則を読み込ませたAIの回答</a:t>
            </a:r>
            <a:endParaRPr lang="en-US" sz="2700" dirty="0"/>
          </a:p>
        </p:txBody>
      </p:sp>
      <p:sp>
        <p:nvSpPr>
          <p:cNvPr id="3" name="Shape 1"/>
          <p:cNvSpPr/>
          <p:nvPr/>
        </p:nvSpPr>
        <p:spPr>
          <a:xfrm>
            <a:off x="822960" y="1417320"/>
            <a:ext cx="10515600" cy="1325880"/>
          </a:xfrm>
          <a:prstGeom prst="roundRect">
            <a:avLst>
              <a:gd name="adj" fmla="val 8276"/>
            </a:avLst>
          </a:prstGeom>
          <a:solidFill>
            <a:srgbClr val="EEF3FC"/>
          </a:solidFill>
          <a:ln/>
        </p:spPr>
      </p:sp>
      <p:sp>
        <p:nvSpPr>
          <p:cNvPr id="4" name="Text 2"/>
          <p:cNvSpPr/>
          <p:nvPr/>
        </p:nvSpPr>
        <p:spPr>
          <a:xfrm>
            <a:off x="1097280" y="1554480"/>
            <a:ext cx="9966960" cy="457200"/>
          </a:xfrm>
          <a:prstGeom prst="rect">
            <a:avLst/>
          </a:prstGeom>
          <a:noFill/>
          <a:ln/>
        </p:spPr>
        <p:txBody>
          <a:bodyPr wrap="square" lIns="0" tIns="0" rIns="0" bIns="0" rtlCol="0" anchor="ctr"/>
          <a:lstStyle/>
          <a:p>
            <a:pPr indent="0" marL="0">
              <a:buNone/>
            </a:pPr>
            <a:r>
              <a:rPr lang="en-US" sz="1500" b="1" dirty="0">
                <a:solidFill>
                  <a:srgbClr val="1E2761"/>
                </a:solidFill>
                <a:latin typeface="Yu Gothic" pitchFamily="34" charset="0"/>
                <a:ea typeface="Yu Gothic" pitchFamily="34" charset="-122"/>
                <a:cs typeface="Yu Gothic" pitchFamily="34" charset="-120"/>
              </a:rPr>
              <a:t>Q. 結婚したら休みは何日もらえますか？</a:t>
            </a:r>
            <a:endParaRPr lang="en-US" sz="1500" dirty="0"/>
          </a:p>
        </p:txBody>
      </p:sp>
      <p:sp>
        <p:nvSpPr>
          <p:cNvPr id="5" name="Text 3"/>
          <p:cNvSpPr/>
          <p:nvPr/>
        </p:nvSpPr>
        <p:spPr>
          <a:xfrm>
            <a:off x="1097280" y="2057400"/>
            <a:ext cx="9966960" cy="548640"/>
          </a:xfrm>
          <a:prstGeom prst="rect">
            <a:avLst/>
          </a:prstGeom>
          <a:noFill/>
          <a:ln/>
        </p:spPr>
        <p:txBody>
          <a:bodyPr wrap="square" lIns="0" tIns="0" rIns="0" bIns="0" rtlCol="0" anchor="ctr"/>
          <a:lstStyle/>
          <a:p>
            <a:pPr indent="0" marL="0">
              <a:buNone/>
            </a:pPr>
            <a:r>
              <a:rPr lang="en-US" sz="1400" dirty="0">
                <a:solidFill>
                  <a:srgbClr val="333333"/>
                </a:solidFill>
                <a:latin typeface="Yu Gothic" pitchFamily="34" charset="0"/>
                <a:ea typeface="Yu Gothic" pitchFamily="34" charset="-122"/>
                <a:cs typeface="Yu Gothic" pitchFamily="34" charset="-120"/>
              </a:rPr>
              <a:t>A. 本人が結婚するときは5日の慶弔休暇（有給）が取得できます。【根拠：第22条】</a:t>
            </a:r>
            <a:endParaRPr lang="en-US" sz="1400" dirty="0"/>
          </a:p>
        </p:txBody>
      </p:sp>
      <p:sp>
        <p:nvSpPr>
          <p:cNvPr id="6" name="Shape 4"/>
          <p:cNvSpPr/>
          <p:nvPr/>
        </p:nvSpPr>
        <p:spPr>
          <a:xfrm>
            <a:off x="822960" y="2926080"/>
            <a:ext cx="10515600" cy="1325880"/>
          </a:xfrm>
          <a:prstGeom prst="roundRect">
            <a:avLst>
              <a:gd name="adj" fmla="val 8276"/>
            </a:avLst>
          </a:prstGeom>
          <a:solidFill>
            <a:srgbClr val="EEF3FC"/>
          </a:solidFill>
          <a:ln/>
        </p:spPr>
      </p:sp>
      <p:sp>
        <p:nvSpPr>
          <p:cNvPr id="7" name="Text 5"/>
          <p:cNvSpPr/>
          <p:nvPr/>
        </p:nvSpPr>
        <p:spPr>
          <a:xfrm>
            <a:off x="1097280" y="3063240"/>
            <a:ext cx="9966960" cy="457200"/>
          </a:xfrm>
          <a:prstGeom prst="rect">
            <a:avLst/>
          </a:prstGeom>
          <a:noFill/>
          <a:ln/>
        </p:spPr>
        <p:txBody>
          <a:bodyPr wrap="square" lIns="0" tIns="0" rIns="0" bIns="0" rtlCol="0" anchor="ctr"/>
          <a:lstStyle/>
          <a:p>
            <a:pPr indent="0" marL="0">
              <a:buNone/>
            </a:pPr>
            <a:r>
              <a:rPr lang="en-US" sz="1500" b="1" dirty="0">
                <a:solidFill>
                  <a:srgbClr val="1E2761"/>
                </a:solidFill>
                <a:latin typeface="Yu Gothic" pitchFamily="34" charset="0"/>
                <a:ea typeface="Yu Gothic" pitchFamily="34" charset="-122"/>
                <a:cs typeface="Yu Gothic" pitchFamily="34" charset="-120"/>
              </a:rPr>
              <a:t>Q. 有給休暇は来年に繰り越せますか？</a:t>
            </a:r>
            <a:endParaRPr lang="en-US" sz="1500" dirty="0"/>
          </a:p>
        </p:txBody>
      </p:sp>
      <p:sp>
        <p:nvSpPr>
          <p:cNvPr id="8" name="Text 6"/>
          <p:cNvSpPr/>
          <p:nvPr/>
        </p:nvSpPr>
        <p:spPr>
          <a:xfrm>
            <a:off x="1097280" y="3566160"/>
            <a:ext cx="9966960" cy="548640"/>
          </a:xfrm>
          <a:prstGeom prst="rect">
            <a:avLst/>
          </a:prstGeom>
          <a:noFill/>
          <a:ln/>
        </p:spPr>
        <p:txBody>
          <a:bodyPr wrap="square" lIns="0" tIns="0" rIns="0" bIns="0" rtlCol="0" anchor="ctr"/>
          <a:lstStyle/>
          <a:p>
            <a:pPr indent="0" marL="0">
              <a:buNone/>
            </a:pPr>
            <a:r>
              <a:rPr lang="en-US" sz="1400" dirty="0">
                <a:solidFill>
                  <a:srgbClr val="333333"/>
                </a:solidFill>
                <a:latin typeface="Yu Gothic" pitchFamily="34" charset="0"/>
                <a:ea typeface="Yu Gothic" pitchFamily="34" charset="-122"/>
                <a:cs typeface="Yu Gothic" pitchFamily="34" charset="-120"/>
              </a:rPr>
              <a:t>A. 翌年度に限り繰り越せます。保有日数の上限は40日です。【根拠：第21条】</a:t>
            </a:r>
            <a:endParaRPr lang="en-US" sz="1400" dirty="0"/>
          </a:p>
        </p:txBody>
      </p:sp>
      <p:sp>
        <p:nvSpPr>
          <p:cNvPr id="9" name="Shape 7"/>
          <p:cNvSpPr/>
          <p:nvPr/>
        </p:nvSpPr>
        <p:spPr>
          <a:xfrm>
            <a:off x="822960" y="4434840"/>
            <a:ext cx="10515600" cy="1325880"/>
          </a:xfrm>
          <a:prstGeom prst="roundRect">
            <a:avLst>
              <a:gd name="adj" fmla="val 8276"/>
            </a:avLst>
          </a:prstGeom>
          <a:solidFill>
            <a:srgbClr val="EEF3FC"/>
          </a:solidFill>
          <a:ln/>
        </p:spPr>
      </p:sp>
      <p:sp>
        <p:nvSpPr>
          <p:cNvPr id="10" name="Text 8"/>
          <p:cNvSpPr/>
          <p:nvPr/>
        </p:nvSpPr>
        <p:spPr>
          <a:xfrm>
            <a:off x="1097280" y="4572000"/>
            <a:ext cx="9966960" cy="457200"/>
          </a:xfrm>
          <a:prstGeom prst="rect">
            <a:avLst/>
          </a:prstGeom>
          <a:noFill/>
          <a:ln/>
        </p:spPr>
        <p:txBody>
          <a:bodyPr wrap="square" lIns="0" tIns="0" rIns="0" bIns="0" rtlCol="0" anchor="ctr"/>
          <a:lstStyle/>
          <a:p>
            <a:pPr indent="0" marL="0">
              <a:buNone/>
            </a:pPr>
            <a:r>
              <a:rPr lang="en-US" sz="1500" b="1" dirty="0">
                <a:solidFill>
                  <a:srgbClr val="1E2761"/>
                </a:solidFill>
                <a:latin typeface="Yu Gothic" pitchFamily="34" charset="0"/>
                <a:ea typeface="Yu Gothic" pitchFamily="34" charset="-122"/>
                <a:cs typeface="Yu Gothic" pitchFamily="34" charset="-120"/>
              </a:rPr>
              <a:t>Q. 副業はしていいですか？</a:t>
            </a:r>
            <a:endParaRPr lang="en-US" sz="1500" dirty="0"/>
          </a:p>
        </p:txBody>
      </p:sp>
      <p:sp>
        <p:nvSpPr>
          <p:cNvPr id="11" name="Text 9"/>
          <p:cNvSpPr/>
          <p:nvPr/>
        </p:nvSpPr>
        <p:spPr>
          <a:xfrm>
            <a:off x="1097280" y="5074920"/>
            <a:ext cx="9966960" cy="548640"/>
          </a:xfrm>
          <a:prstGeom prst="rect">
            <a:avLst/>
          </a:prstGeom>
          <a:noFill/>
          <a:ln/>
        </p:spPr>
        <p:txBody>
          <a:bodyPr wrap="square" lIns="0" tIns="0" rIns="0" bIns="0" rtlCol="0" anchor="ctr"/>
          <a:lstStyle/>
          <a:p>
            <a:pPr indent="0" marL="0">
              <a:buNone/>
            </a:pPr>
            <a:r>
              <a:rPr lang="en-US" sz="1400" dirty="0">
                <a:solidFill>
                  <a:srgbClr val="333333"/>
                </a:solidFill>
                <a:latin typeface="Yu Gothic" pitchFamily="34" charset="0"/>
                <a:ea typeface="Yu Gothic" pitchFamily="34" charset="-122"/>
                <a:cs typeface="Yu Gothic" pitchFamily="34" charset="-120"/>
              </a:rPr>
              <a:t>A. 事前に会社へ届け出て許可を受ける必要があります。【根拠：第13条】</a:t>
            </a:r>
            <a:endParaRPr lang="en-US" sz="1400" dirty="0"/>
          </a:p>
        </p:txBody>
      </p:sp>
      <p:sp>
        <p:nvSpPr>
          <p:cNvPr id="12" name="Text 10"/>
          <p:cNvSpPr/>
          <p:nvPr/>
        </p:nvSpPr>
        <p:spPr>
          <a:xfrm>
            <a:off x="822960" y="5989320"/>
            <a:ext cx="10515600" cy="411480"/>
          </a:xfrm>
          <a:prstGeom prst="rect">
            <a:avLst/>
          </a:prstGeom>
          <a:noFill/>
          <a:ln/>
        </p:spPr>
        <p:txBody>
          <a:bodyPr wrap="square" lIns="0" tIns="0" rIns="0" bIns="0" rtlCol="0" anchor="ctr"/>
          <a:lstStyle/>
          <a:p>
            <a:pPr indent="0" marL="0">
              <a:buNone/>
            </a:pPr>
            <a:r>
              <a:rPr lang="en-US" sz="1400" b="1" dirty="0">
                <a:solidFill>
                  <a:srgbClr val="1E2761"/>
                </a:solidFill>
                <a:latin typeface="Yu Gothic" pitchFamily="34" charset="0"/>
                <a:ea typeface="Yu Gothic" pitchFamily="34" charset="-122"/>
                <a:cs typeface="Yu Gothic" pitchFamily="34" charset="-120"/>
              </a:rPr>
              <a:t>条文を根拠として示すので、答えの確認が一瞬でできる（ここが普通のChatGPTとの違い）</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2103120"/>
            <a:ext cx="3657600" cy="548640"/>
          </a:xfrm>
          <a:prstGeom prst="rect">
            <a:avLst/>
          </a:prstGeom>
          <a:noFill/>
          <a:ln/>
        </p:spPr>
        <p:txBody>
          <a:bodyPr wrap="square" lIns="0" tIns="0" rIns="0" bIns="0" rtlCol="0" anchor="ctr"/>
          <a:lstStyle/>
          <a:p>
            <a:pPr indent="0" marL="0">
              <a:buNone/>
            </a:pPr>
            <a:r>
              <a:rPr lang="en-US" sz="2200" b="1" dirty="0">
                <a:solidFill>
                  <a:srgbClr val="E8A33D"/>
                </a:solidFill>
                <a:latin typeface="Yu Gothic" pitchFamily="34" charset="0"/>
                <a:ea typeface="Yu Gothic" pitchFamily="34" charset="-122"/>
                <a:cs typeface="Yu Gothic" pitchFamily="34" charset="-120"/>
              </a:rPr>
              <a:t>第5章</a:t>
            </a:r>
            <a:endParaRPr lang="en-US" sz="2200" dirty="0"/>
          </a:p>
        </p:txBody>
      </p:sp>
      <p:sp>
        <p:nvSpPr>
          <p:cNvPr id="3" name="Text 1"/>
          <p:cNvSpPr/>
          <p:nvPr/>
        </p:nvSpPr>
        <p:spPr>
          <a:xfrm>
            <a:off x="822960" y="2697480"/>
            <a:ext cx="10515600" cy="914400"/>
          </a:xfrm>
          <a:prstGeom prst="rect">
            <a:avLst/>
          </a:prstGeom>
          <a:noFill/>
          <a:ln/>
        </p:spPr>
        <p:txBody>
          <a:bodyPr wrap="square" lIns="0" tIns="0" rIns="0" bIns="0" rtlCol="0" anchor="ctr"/>
          <a:lstStyle/>
          <a:p>
            <a:pPr indent="0" marL="0">
              <a:buNone/>
            </a:pPr>
            <a:r>
              <a:rPr lang="en-US" sz="3600" b="1" dirty="0">
                <a:solidFill>
                  <a:srgbClr val="FFFFFF"/>
                </a:solidFill>
                <a:latin typeface="Yu Gothic" pitchFamily="34" charset="0"/>
                <a:ea typeface="Yu Gothic" pitchFamily="34" charset="-122"/>
                <a:cs typeface="Yu Gothic" pitchFamily="34" charset="-120"/>
              </a:rPr>
              <a:t>どの業務から始めるか</a:t>
            </a:r>
            <a:endParaRPr lang="en-US" sz="3600" dirty="0"/>
          </a:p>
        </p:txBody>
      </p:sp>
      <p:sp>
        <p:nvSpPr>
          <p:cNvPr id="4" name="Text 2"/>
          <p:cNvSpPr/>
          <p:nvPr/>
        </p:nvSpPr>
        <p:spPr>
          <a:xfrm>
            <a:off x="822960" y="3794760"/>
            <a:ext cx="10515600" cy="548640"/>
          </a:xfrm>
          <a:prstGeom prst="rect">
            <a:avLst/>
          </a:prstGeom>
          <a:noFill/>
          <a:ln/>
        </p:spPr>
        <p:txBody>
          <a:bodyPr wrap="square" lIns="0" tIns="0" rIns="0" bIns="0" rtlCol="0" anchor="ctr"/>
          <a:lstStyle/>
          <a:p>
            <a:pPr indent="0" marL="0">
              <a:buNone/>
            </a:pPr>
            <a:r>
              <a:rPr lang="en-US" sz="1600" dirty="0">
                <a:solidFill>
                  <a:srgbClr val="CADCFC"/>
                </a:solidFill>
                <a:latin typeface="Yu Gothic" pitchFamily="34" charset="0"/>
                <a:ea typeface="Yu Gothic" pitchFamily="34" charset="-122"/>
                <a:cs typeface="Yu Gothic" pitchFamily="34" charset="-120"/>
              </a:rPr>
              <a:t>4つの箱で仕分けて、最初の1業務を決める</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ワーク3 — 自社の業務を「4つの箱」に仕分ける(15分)</a:t>
            </a:r>
            <a:endParaRPr lang="en-US" sz="2700" dirty="0"/>
          </a:p>
        </p:txBody>
      </p:sp>
      <p:sp>
        <p:nvSpPr>
          <p:cNvPr id="3" name="Shape 1"/>
          <p:cNvSpPr/>
          <p:nvPr/>
        </p:nvSpPr>
        <p:spPr>
          <a:xfrm>
            <a:off x="548640" y="1051560"/>
            <a:ext cx="2011680" cy="457200"/>
          </a:xfrm>
          <a:prstGeom prst="roundRect">
            <a:avLst>
              <a:gd name="adj" fmla="val 50000"/>
            </a:avLst>
          </a:prstGeom>
          <a:solidFill>
            <a:srgbClr val="E8A33D"/>
          </a:solidFill>
          <a:ln/>
        </p:spPr>
      </p:sp>
      <p:sp>
        <p:nvSpPr>
          <p:cNvPr id="4" name="Text 2"/>
          <p:cNvSpPr/>
          <p:nvPr/>
        </p:nvSpPr>
        <p:spPr>
          <a:xfrm>
            <a:off x="548640" y="1051560"/>
            <a:ext cx="2011680" cy="457200"/>
          </a:xfrm>
          <a:prstGeom prst="rect">
            <a:avLst/>
          </a:prstGeom>
          <a:noFill/>
          <a:ln/>
        </p:spPr>
        <p:txBody>
          <a:bodyPr wrap="square" lIns="0" tIns="0" rIns="0" bIns="0" rtlCol="0" anchor="ctr"/>
          <a:lstStyle/>
          <a:p>
            <a:pPr algn="ctr" indent="0" marL="0">
              <a:buNone/>
            </a:pPr>
            <a:r>
              <a:rPr lang="en-US" sz="1400" b="1" dirty="0">
                <a:solidFill>
                  <a:srgbClr val="1E2761"/>
                </a:solidFill>
                <a:latin typeface="Yu Gothic" pitchFamily="34" charset="0"/>
                <a:ea typeface="Yu Gothic" pitchFamily="34" charset="-122"/>
                <a:cs typeface="Yu Gothic" pitchFamily="34" charset="-120"/>
              </a:rPr>
              <a:t>ワーク 3</a:t>
            </a:r>
            <a:endParaRPr lang="en-US" sz="1400" dirty="0"/>
          </a:p>
        </p:txBody>
      </p:sp>
      <p:sp>
        <p:nvSpPr>
          <p:cNvPr id="5" name="Shape 3"/>
          <p:cNvSpPr/>
          <p:nvPr/>
        </p:nvSpPr>
        <p:spPr>
          <a:xfrm>
            <a:off x="868680" y="1828800"/>
            <a:ext cx="3200400" cy="1874520"/>
          </a:xfrm>
          <a:prstGeom prst="roundRect">
            <a:avLst>
              <a:gd name="adj" fmla="val 3902"/>
            </a:avLst>
          </a:prstGeom>
          <a:solidFill>
            <a:srgbClr val="F3F4F6"/>
          </a:solidFill>
          <a:ln/>
        </p:spPr>
      </p:sp>
      <p:sp>
        <p:nvSpPr>
          <p:cNvPr id="6" name="Text 4"/>
          <p:cNvSpPr/>
          <p:nvPr/>
        </p:nvSpPr>
        <p:spPr>
          <a:xfrm>
            <a:off x="1051560" y="1965960"/>
            <a:ext cx="2834640" cy="548640"/>
          </a:xfrm>
          <a:prstGeom prst="rect">
            <a:avLst/>
          </a:prstGeom>
          <a:noFill/>
          <a:ln/>
        </p:spPr>
        <p:txBody>
          <a:bodyPr wrap="square" lIns="0" tIns="0" rIns="0" bIns="0" rtlCol="0" anchor="ctr"/>
          <a:lstStyle/>
          <a:p>
            <a:pPr indent="0" marL="0">
              <a:lnSpc>
                <a:spcPct val="110000"/>
              </a:lnSpc>
              <a:buNone/>
            </a:pPr>
            <a:r>
              <a:rPr lang="en-US" sz="1250" b="1" dirty="0">
                <a:solidFill>
                  <a:srgbClr val="1E2761"/>
                </a:solidFill>
                <a:latin typeface="Yu Gothic" pitchFamily="34" charset="0"/>
                <a:ea typeface="Yu Gothic" pitchFamily="34" charset="-122"/>
                <a:cs typeface="Yu Gothic" pitchFamily="34" charset="-120"/>
              </a:rPr>
              <a:t>よくある × やり方が毎回違う</a:t>
            </a:r>
            <a:endParaRPr lang="en-US" sz="1250" dirty="0"/>
          </a:p>
        </p:txBody>
      </p:sp>
      <p:sp>
        <p:nvSpPr>
          <p:cNvPr id="7" name="Text 5"/>
          <p:cNvSpPr/>
          <p:nvPr/>
        </p:nvSpPr>
        <p:spPr>
          <a:xfrm>
            <a:off x="1051560" y="2560320"/>
            <a:ext cx="2834640" cy="1005840"/>
          </a:xfrm>
          <a:prstGeom prst="rect">
            <a:avLst/>
          </a:prstGeom>
          <a:noFill/>
          <a:ln/>
        </p:spPr>
        <p:txBody>
          <a:bodyPr wrap="square" lIns="0" tIns="0" rIns="0" bIns="0" rtlCol="0" anchor="ctr"/>
          <a:lstStyle/>
          <a:p>
            <a:pPr indent="0" marL="0">
              <a:lnSpc>
                <a:spcPct val="125000"/>
              </a:lnSpc>
              <a:buNone/>
            </a:pPr>
            <a:r>
              <a:rPr lang="en-US" sz="1200" dirty="0">
                <a:solidFill>
                  <a:srgbClr val="333333"/>
                </a:solidFill>
                <a:latin typeface="Yu Gothic" pitchFamily="34" charset="0"/>
                <a:ea typeface="Yu Gothic" pitchFamily="34" charset="-122"/>
                <a:cs typeface="Yu Gothic" pitchFamily="34" charset="-120"/>
              </a:rPr>
              <a:t>例：個別の相談対応</a:t>
            </a:r>
            <a:endParaRPr lang="en-US" sz="1200" dirty="0"/>
          </a:p>
          <a:p>
            <a:pPr indent="0" marL="0">
              <a:lnSpc>
                <a:spcPct val="125000"/>
              </a:lnSpc>
              <a:buNone/>
            </a:pPr>
            <a:r>
              <a:rPr lang="en-US" sz="1200" dirty="0">
                <a:solidFill>
                  <a:srgbClr val="333333"/>
                </a:solidFill>
                <a:latin typeface="Yu Gothic" pitchFamily="34" charset="0"/>
                <a:ea typeface="Yu Gothic" pitchFamily="34" charset="-122"/>
                <a:cs typeface="Yu Gothic" pitchFamily="34" charset="-120"/>
              </a:rPr>
              <a:t>→ 逆質問法で「壁打ち」</a:t>
            </a:r>
            <a:endParaRPr lang="en-US" sz="1200" dirty="0"/>
          </a:p>
        </p:txBody>
      </p:sp>
      <p:sp>
        <p:nvSpPr>
          <p:cNvPr id="8" name="Shape 6"/>
          <p:cNvSpPr/>
          <p:nvPr/>
        </p:nvSpPr>
        <p:spPr>
          <a:xfrm>
            <a:off x="4160520" y="1828800"/>
            <a:ext cx="3200400" cy="1874520"/>
          </a:xfrm>
          <a:prstGeom prst="roundRect">
            <a:avLst>
              <a:gd name="adj" fmla="val 3902"/>
            </a:avLst>
          </a:prstGeom>
          <a:solidFill>
            <a:srgbClr val="1E2761"/>
          </a:solidFill>
          <a:ln/>
        </p:spPr>
      </p:sp>
      <p:sp>
        <p:nvSpPr>
          <p:cNvPr id="9" name="Text 7"/>
          <p:cNvSpPr/>
          <p:nvPr/>
        </p:nvSpPr>
        <p:spPr>
          <a:xfrm>
            <a:off x="4343400" y="1965960"/>
            <a:ext cx="2834640" cy="548640"/>
          </a:xfrm>
          <a:prstGeom prst="rect">
            <a:avLst/>
          </a:prstGeom>
          <a:noFill/>
          <a:ln/>
        </p:spPr>
        <p:txBody>
          <a:bodyPr wrap="square" lIns="0" tIns="0" rIns="0" bIns="0" rtlCol="0" anchor="ctr"/>
          <a:lstStyle/>
          <a:p>
            <a:pPr indent="0" marL="0">
              <a:lnSpc>
                <a:spcPct val="110000"/>
              </a:lnSpc>
              <a:buNone/>
            </a:pPr>
            <a:r>
              <a:rPr lang="en-US" sz="1250" b="1" dirty="0">
                <a:solidFill>
                  <a:srgbClr val="E8A33D"/>
                </a:solidFill>
                <a:latin typeface="Yu Gothic" pitchFamily="34" charset="0"/>
                <a:ea typeface="Yu Gothic" pitchFamily="34" charset="-122"/>
                <a:cs typeface="Yu Gothic" pitchFamily="34" charset="-120"/>
              </a:rPr>
              <a:t>よくある × やり方が決まっている</a:t>
            </a:r>
            <a:endParaRPr lang="en-US" sz="1250" dirty="0"/>
          </a:p>
        </p:txBody>
      </p:sp>
      <p:sp>
        <p:nvSpPr>
          <p:cNvPr id="10" name="Text 8"/>
          <p:cNvSpPr/>
          <p:nvPr/>
        </p:nvSpPr>
        <p:spPr>
          <a:xfrm>
            <a:off x="4343400" y="2560320"/>
            <a:ext cx="2834640" cy="100584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Yu Gothic" pitchFamily="34" charset="0"/>
                <a:ea typeface="Yu Gothic" pitchFamily="34" charset="-122"/>
                <a:cs typeface="Yu Gothic" pitchFamily="34" charset="-120"/>
              </a:rPr>
              <a:t>例：見積・日報・定型メール</a:t>
            </a:r>
            <a:endParaRPr lang="en-US" sz="1200" dirty="0"/>
          </a:p>
          <a:p>
            <a:pPr indent="0" marL="0">
              <a:lnSpc>
                <a:spcPct val="125000"/>
              </a:lnSpc>
              <a:buNone/>
            </a:pPr>
            <a:r>
              <a:rPr lang="en-US" sz="1200" dirty="0">
                <a:solidFill>
                  <a:srgbClr val="FFFFFF"/>
                </a:solidFill>
                <a:latin typeface="Yu Gothic" pitchFamily="34" charset="0"/>
                <a:ea typeface="Yu Gothic" pitchFamily="34" charset="-122"/>
                <a:cs typeface="Yu Gothic" pitchFamily="34" charset="-120"/>
              </a:rPr>
              <a:t>→ 今すぐAIに下書きさせる</a:t>
            </a:r>
            <a:endParaRPr lang="en-US" sz="1200" dirty="0"/>
          </a:p>
        </p:txBody>
      </p:sp>
      <p:sp>
        <p:nvSpPr>
          <p:cNvPr id="11" name="Shape 9"/>
          <p:cNvSpPr/>
          <p:nvPr/>
        </p:nvSpPr>
        <p:spPr>
          <a:xfrm>
            <a:off x="868680" y="3794760"/>
            <a:ext cx="3200400" cy="1874520"/>
          </a:xfrm>
          <a:prstGeom prst="roundRect">
            <a:avLst>
              <a:gd name="adj" fmla="val 3902"/>
            </a:avLst>
          </a:prstGeom>
          <a:solidFill>
            <a:srgbClr val="F3F4F6"/>
          </a:solidFill>
          <a:ln/>
        </p:spPr>
      </p:sp>
      <p:sp>
        <p:nvSpPr>
          <p:cNvPr id="12" name="Text 10"/>
          <p:cNvSpPr/>
          <p:nvPr/>
        </p:nvSpPr>
        <p:spPr>
          <a:xfrm>
            <a:off x="1051560" y="3931920"/>
            <a:ext cx="2834640" cy="548640"/>
          </a:xfrm>
          <a:prstGeom prst="rect">
            <a:avLst/>
          </a:prstGeom>
          <a:noFill/>
          <a:ln/>
        </p:spPr>
        <p:txBody>
          <a:bodyPr wrap="square" lIns="0" tIns="0" rIns="0" bIns="0" rtlCol="0" anchor="ctr"/>
          <a:lstStyle/>
          <a:p>
            <a:pPr indent="0" marL="0">
              <a:lnSpc>
                <a:spcPct val="110000"/>
              </a:lnSpc>
              <a:buNone/>
            </a:pPr>
            <a:r>
              <a:rPr lang="en-US" sz="1250" b="1" dirty="0">
                <a:solidFill>
                  <a:srgbClr val="1E2761"/>
                </a:solidFill>
                <a:latin typeface="Yu Gothic" pitchFamily="34" charset="0"/>
                <a:ea typeface="Yu Gothic" pitchFamily="34" charset="-122"/>
                <a:cs typeface="Yu Gothic" pitchFamily="34" charset="-120"/>
              </a:rPr>
              <a:t>たまに × 毎回違う</a:t>
            </a:r>
            <a:endParaRPr lang="en-US" sz="1250" dirty="0"/>
          </a:p>
        </p:txBody>
      </p:sp>
      <p:sp>
        <p:nvSpPr>
          <p:cNvPr id="13" name="Text 11"/>
          <p:cNvSpPr/>
          <p:nvPr/>
        </p:nvSpPr>
        <p:spPr>
          <a:xfrm>
            <a:off x="1051560" y="4526280"/>
            <a:ext cx="2834640" cy="1005840"/>
          </a:xfrm>
          <a:prstGeom prst="rect">
            <a:avLst/>
          </a:prstGeom>
          <a:noFill/>
          <a:ln/>
        </p:spPr>
        <p:txBody>
          <a:bodyPr wrap="square" lIns="0" tIns="0" rIns="0" bIns="0" rtlCol="0" anchor="ctr"/>
          <a:lstStyle/>
          <a:p>
            <a:pPr indent="0" marL="0">
              <a:lnSpc>
                <a:spcPct val="125000"/>
              </a:lnSpc>
              <a:buNone/>
            </a:pPr>
            <a:r>
              <a:rPr lang="en-US" sz="1200" dirty="0">
                <a:solidFill>
                  <a:srgbClr val="333333"/>
                </a:solidFill>
                <a:latin typeface="Yu Gothic" pitchFamily="34" charset="0"/>
                <a:ea typeface="Yu Gothic" pitchFamily="34" charset="-122"/>
                <a:cs typeface="Yu Gothic" pitchFamily="34" charset="-120"/>
              </a:rPr>
              <a:t>例：トラブル対応</a:t>
            </a:r>
            <a:endParaRPr lang="en-US" sz="1200" dirty="0"/>
          </a:p>
          <a:p>
            <a:pPr indent="0" marL="0">
              <a:lnSpc>
                <a:spcPct val="125000"/>
              </a:lnSpc>
              <a:buNone/>
            </a:pPr>
            <a:r>
              <a:rPr lang="en-US" sz="1200" dirty="0">
                <a:solidFill>
                  <a:srgbClr val="333333"/>
                </a:solidFill>
                <a:latin typeface="Yu Gothic" pitchFamily="34" charset="0"/>
                <a:ea typeface="Yu Gothic" pitchFamily="34" charset="-122"/>
                <a:cs typeface="Yu Gothic" pitchFamily="34" charset="-120"/>
              </a:rPr>
              <a:t>→ 人がやる（AIは相談相手）</a:t>
            </a:r>
            <a:endParaRPr lang="en-US" sz="1200" dirty="0"/>
          </a:p>
        </p:txBody>
      </p:sp>
      <p:sp>
        <p:nvSpPr>
          <p:cNvPr id="14" name="Shape 12"/>
          <p:cNvSpPr/>
          <p:nvPr/>
        </p:nvSpPr>
        <p:spPr>
          <a:xfrm>
            <a:off x="4160520" y="3794760"/>
            <a:ext cx="3200400" cy="1874520"/>
          </a:xfrm>
          <a:prstGeom prst="roundRect">
            <a:avLst>
              <a:gd name="adj" fmla="val 3902"/>
            </a:avLst>
          </a:prstGeom>
          <a:solidFill>
            <a:srgbClr val="F3F4F6"/>
          </a:solidFill>
          <a:ln/>
        </p:spPr>
      </p:sp>
      <p:sp>
        <p:nvSpPr>
          <p:cNvPr id="15" name="Text 13"/>
          <p:cNvSpPr/>
          <p:nvPr/>
        </p:nvSpPr>
        <p:spPr>
          <a:xfrm>
            <a:off x="4343400" y="3931920"/>
            <a:ext cx="2834640" cy="548640"/>
          </a:xfrm>
          <a:prstGeom prst="rect">
            <a:avLst/>
          </a:prstGeom>
          <a:noFill/>
          <a:ln/>
        </p:spPr>
        <p:txBody>
          <a:bodyPr wrap="square" lIns="0" tIns="0" rIns="0" bIns="0" rtlCol="0" anchor="ctr"/>
          <a:lstStyle/>
          <a:p>
            <a:pPr indent="0" marL="0">
              <a:lnSpc>
                <a:spcPct val="110000"/>
              </a:lnSpc>
              <a:buNone/>
            </a:pPr>
            <a:r>
              <a:rPr lang="en-US" sz="1250" b="1" dirty="0">
                <a:solidFill>
                  <a:srgbClr val="1E2761"/>
                </a:solidFill>
                <a:latin typeface="Yu Gothic" pitchFamily="34" charset="0"/>
                <a:ea typeface="Yu Gothic" pitchFamily="34" charset="-122"/>
                <a:cs typeface="Yu Gothic" pitchFamily="34" charset="-120"/>
              </a:rPr>
              <a:t>たまに × 決まっている</a:t>
            </a:r>
            <a:endParaRPr lang="en-US" sz="1250" dirty="0"/>
          </a:p>
        </p:txBody>
      </p:sp>
      <p:sp>
        <p:nvSpPr>
          <p:cNvPr id="16" name="Text 14"/>
          <p:cNvSpPr/>
          <p:nvPr/>
        </p:nvSpPr>
        <p:spPr>
          <a:xfrm>
            <a:off x="4343400" y="4526280"/>
            <a:ext cx="2834640" cy="1005840"/>
          </a:xfrm>
          <a:prstGeom prst="rect">
            <a:avLst/>
          </a:prstGeom>
          <a:noFill/>
          <a:ln/>
        </p:spPr>
        <p:txBody>
          <a:bodyPr wrap="square" lIns="0" tIns="0" rIns="0" bIns="0" rtlCol="0" anchor="ctr"/>
          <a:lstStyle/>
          <a:p>
            <a:pPr indent="0" marL="0">
              <a:lnSpc>
                <a:spcPct val="125000"/>
              </a:lnSpc>
              <a:buNone/>
            </a:pPr>
            <a:r>
              <a:rPr lang="en-US" sz="1200" dirty="0">
                <a:solidFill>
                  <a:srgbClr val="333333"/>
                </a:solidFill>
                <a:latin typeface="Yu Gothic" pitchFamily="34" charset="0"/>
                <a:ea typeface="Yu Gothic" pitchFamily="34" charset="-122"/>
                <a:cs typeface="Yu Gothic" pitchFamily="34" charset="-120"/>
              </a:rPr>
              <a:t>例：年1回の申請書類</a:t>
            </a:r>
            <a:endParaRPr lang="en-US" sz="1200" dirty="0"/>
          </a:p>
          <a:p>
            <a:pPr indent="0" marL="0">
              <a:lnSpc>
                <a:spcPct val="125000"/>
              </a:lnSpc>
              <a:buNone/>
            </a:pPr>
            <a:r>
              <a:rPr lang="en-US" sz="1200" dirty="0">
                <a:solidFill>
                  <a:srgbClr val="333333"/>
                </a:solidFill>
                <a:latin typeface="Yu Gothic" pitchFamily="34" charset="0"/>
                <a:ea typeface="Yu Gothic" pitchFamily="34" charset="-122"/>
                <a:cs typeface="Yu Gothic" pitchFamily="34" charset="-120"/>
              </a:rPr>
              <a:t>→ 手順だけ文書化しておく</a:t>
            </a:r>
            <a:endParaRPr lang="en-US" sz="1200" dirty="0"/>
          </a:p>
        </p:txBody>
      </p:sp>
      <p:sp>
        <p:nvSpPr>
          <p:cNvPr id="17" name="Shape 15"/>
          <p:cNvSpPr/>
          <p:nvPr/>
        </p:nvSpPr>
        <p:spPr>
          <a:xfrm>
            <a:off x="7772400" y="1783080"/>
            <a:ext cx="3886200" cy="3931920"/>
          </a:xfrm>
          <a:prstGeom prst="roundRect">
            <a:avLst>
              <a:gd name="adj" fmla="val 2824"/>
            </a:avLst>
          </a:prstGeom>
          <a:solidFill>
            <a:srgbClr val="EEF3FC"/>
          </a:solidFill>
          <a:ln/>
        </p:spPr>
      </p:sp>
      <p:sp>
        <p:nvSpPr>
          <p:cNvPr id="18" name="Text 16"/>
          <p:cNvSpPr/>
          <p:nvPr/>
        </p:nvSpPr>
        <p:spPr>
          <a:xfrm>
            <a:off x="8092440" y="2011680"/>
            <a:ext cx="3200400" cy="365760"/>
          </a:xfrm>
          <a:prstGeom prst="rect">
            <a:avLst/>
          </a:prstGeom>
          <a:noFill/>
          <a:ln/>
        </p:spPr>
        <p:txBody>
          <a:bodyPr wrap="square" lIns="0" tIns="0" rIns="0" bIns="0" rtlCol="0" anchor="ctr"/>
          <a:lstStyle/>
          <a:p>
            <a:pPr indent="0" marL="0">
              <a:buNone/>
            </a:pPr>
            <a:r>
              <a:rPr lang="en-US" sz="1400" b="1" dirty="0">
                <a:solidFill>
                  <a:srgbClr val="1E2761"/>
                </a:solidFill>
                <a:latin typeface="Yu Gothic" pitchFamily="34" charset="0"/>
                <a:ea typeface="Yu Gothic" pitchFamily="34" charset="-122"/>
                <a:cs typeface="Yu Gothic" pitchFamily="34" charset="-120"/>
              </a:rPr>
              <a:t>やること</a:t>
            </a:r>
            <a:endParaRPr lang="en-US" sz="1400" dirty="0"/>
          </a:p>
        </p:txBody>
      </p:sp>
      <p:sp>
        <p:nvSpPr>
          <p:cNvPr id="19" name="Text 17"/>
          <p:cNvSpPr/>
          <p:nvPr/>
        </p:nvSpPr>
        <p:spPr>
          <a:xfrm>
            <a:off x="8092440" y="2423160"/>
            <a:ext cx="3291840" cy="3017520"/>
          </a:xfrm>
          <a:prstGeom prst="rect">
            <a:avLst/>
          </a:prstGeom>
          <a:noFill/>
          <a:ln/>
        </p:spPr>
        <p:txBody>
          <a:bodyPr wrap="square" rtlCol="0" anchor="ctr"/>
          <a:lstStyle/>
          <a:p>
            <a:pPr marL="342900" indent="-342900">
              <a:lnSpc>
                <a:spcPct val="125000"/>
              </a:lnSpc>
              <a:spcAft>
                <a:spcPts val="1200"/>
              </a:spcAft>
              <a:buSzPct val="100000"/>
              <a:buChar char="•"/>
            </a:pPr>
            <a:r>
              <a:rPr lang="en-US" sz="1250" dirty="0">
                <a:solidFill>
                  <a:srgbClr val="333333"/>
                </a:solidFill>
                <a:latin typeface="Yu Gothic" pitchFamily="34" charset="0"/>
                <a:ea typeface="Yu Gothic" pitchFamily="34" charset="-122"/>
                <a:cs typeface="Yu Gothic" pitchFamily="34" charset="-120"/>
              </a:rPr>
              <a:t>配布シートに自社の業務を10個書き出す</a:t>
            </a:r>
            <a:endParaRPr lang="en-US" sz="1250" dirty="0"/>
          </a:p>
          <a:p>
            <a:pPr marL="342900" indent="-342900">
              <a:lnSpc>
                <a:spcPct val="125000"/>
              </a:lnSpc>
              <a:spcAft>
                <a:spcPts val="1200"/>
              </a:spcAft>
              <a:buSzPct val="100000"/>
              <a:buChar char="•"/>
            </a:pPr>
            <a:r>
              <a:rPr lang="en-US" sz="1250" dirty="0">
                <a:solidFill>
                  <a:srgbClr val="333333"/>
                </a:solidFill>
                <a:latin typeface="Yu Gothic" pitchFamily="34" charset="0"/>
                <a:ea typeface="Yu Gothic" pitchFamily="34" charset="-122"/>
                <a:cs typeface="Yu Gothic" pitchFamily="34" charset="-120"/>
              </a:rPr>
              <a:t>それぞれを4つの箱のどれかに置く</a:t>
            </a:r>
            <a:endParaRPr lang="en-US" sz="1250" dirty="0"/>
          </a:p>
          <a:p>
            <a:pPr marL="342900" indent="-342900">
              <a:lnSpc>
                <a:spcPct val="125000"/>
              </a:lnSpc>
              <a:spcAft>
                <a:spcPts val="1200"/>
              </a:spcAft>
              <a:buSzPct val="100000"/>
              <a:buChar char="•"/>
            </a:pPr>
            <a:r>
              <a:rPr lang="en-US" sz="1250" dirty="0">
                <a:solidFill>
                  <a:srgbClr val="333333"/>
                </a:solidFill>
                <a:latin typeface="Yu Gothic" pitchFamily="34" charset="0"/>
                <a:ea typeface="Yu Gothic" pitchFamily="34" charset="-122"/>
                <a:cs typeface="Yu Gothic" pitchFamily="34" charset="-120"/>
              </a:rPr>
              <a:t>右上（濃い箱）に入った業務から1つ選ぶ</a:t>
            </a:r>
            <a:endParaRPr lang="en-US" sz="1250" dirty="0"/>
          </a:p>
          <a:p>
            <a:pPr marL="342900" indent="-342900">
              <a:lnSpc>
                <a:spcPct val="125000"/>
              </a:lnSpc>
              <a:spcAft>
                <a:spcPts val="1200"/>
              </a:spcAft>
              <a:buSzPct val="100000"/>
              <a:buChar char="•"/>
            </a:pPr>
            <a:r>
              <a:rPr lang="en-US" sz="1250" dirty="0">
                <a:solidFill>
                  <a:srgbClr val="333333"/>
                </a:solidFill>
                <a:latin typeface="Yu Gothic" pitchFamily="34" charset="0"/>
                <a:ea typeface="Yu Gothic" pitchFamily="34" charset="-122"/>
                <a:cs typeface="Yu Gothic" pitchFamily="34" charset="-120"/>
              </a:rPr>
              <a:t>それが、あなたの会社の「最初の1業務」</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仕分け例 — 架空の板金加工会社の場合</a:t>
            </a:r>
            <a:endParaRPr lang="en-US" sz="2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2960" y="1463040"/>
          <a:ext cx="10515600" cy="914400"/>
        </p:xfrm>
        <a:graphic>
          <a:graphicData uri="http://schemas.openxmlformats.org/drawingml/2006/table">
            <a:tbl>
              <a:tblPr/>
              <a:tblGrid>
                <a:gridCol w="3291840"/>
                <a:gridCol w="1371600"/>
                <a:gridCol w="1645920"/>
                <a:gridCol w="4206240"/>
              </a:tblGrid>
              <a:tr h="502920">
                <a:tc>
                  <a:txBody>
                    <a:bodyPr/>
                    <a:lstStyle/>
                    <a:p>
                      <a:pPr indent="0" marL="0">
                        <a:buNone/>
                      </a:pPr>
                      <a:r>
                        <a:rPr lang="en-US" sz="1400" b="1" dirty="0">
                          <a:solidFill>
                            <a:srgbClr val="FFFFFF"/>
                          </a:solidFill>
                          <a:latin typeface="Yu Gothic" pitchFamily="34" charset="0"/>
                          <a:ea typeface="Yu Gothic" pitchFamily="34" charset="-122"/>
                          <a:cs typeface="Yu Gothic" pitchFamily="34" charset="-120"/>
                        </a:rPr>
                        <a:t>業務</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Yu Gothic" pitchFamily="34" charset="0"/>
                          <a:ea typeface="Yu Gothic" pitchFamily="34" charset="-122"/>
                          <a:cs typeface="Yu Gothic" pitchFamily="34" charset="-120"/>
                        </a:rPr>
                        <a:t>よくある</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Yu Gothic" pitchFamily="34" charset="0"/>
                          <a:ea typeface="Yu Gothic" pitchFamily="34" charset="-122"/>
                          <a:cs typeface="Yu Gothic" pitchFamily="34" charset="-120"/>
                        </a:rPr>
                        <a:t>決まっている</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Yu Gothic" pitchFamily="34" charset="0"/>
                          <a:ea typeface="Yu Gothic" pitchFamily="34" charset="-122"/>
                          <a:cs typeface="Yu Gothic" pitchFamily="34" charset="-120"/>
                        </a:rPr>
                        <a:t>判定</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1E2761"/>
                    </a:solidFill>
                  </a:tcPr>
                </a:tc>
              </a:tr>
              <a:tr h="502920">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見積書の作成</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右上 → 最初の1業務に決定</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日報・週報</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右上 → 2番目の候補</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取引先からの技術的な相談</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左上 → 逆質問法で壁打ち</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クレーム・トラブル対応</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左下 → 人がやる（AIは相談相手）</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年1回の許認可の更新書類</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400" dirty="0">
                          <a:solidFill>
                            <a:srgbClr val="333333"/>
                          </a:solidFill>
                          <a:latin typeface="Yu Gothic" pitchFamily="34" charset="0"/>
                          <a:ea typeface="Yu Gothic" pitchFamily="34" charset="-122"/>
                          <a:cs typeface="Yu Gothic" pitchFamily="34" charset="-120"/>
                        </a:rPr>
                        <a:t>右下 → 手順だけ文書化しておく</a:t>
                      </a:r>
                      <a:endParaRPr lang="en-US" sz="1400" dirty="0">
                        <a:latin typeface="Yu Gothic" charset="0"/>
                        <a:ea typeface="Yu Gothic" charset="0"/>
                        <a:cs typeface="Yu Gothic" charset="0"/>
                      </a:endParaRPr>
                    </a:p>
                  </a:txBody>
                  <a:tcPr marL="91440" marR="91440" marT="91440" marB="91440"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r>
            </a:tbl>
          </a:graphicData>
        </a:graphic>
      </p:graphicFrame>
      <p:sp>
        <p:nvSpPr>
          <p:cNvPr id="4" name="Shape 1"/>
          <p:cNvSpPr/>
          <p:nvPr/>
        </p:nvSpPr>
        <p:spPr>
          <a:xfrm>
            <a:off x="2194560" y="4846320"/>
            <a:ext cx="7772400" cy="685800"/>
          </a:xfrm>
          <a:prstGeom prst="roundRect">
            <a:avLst>
              <a:gd name="adj" fmla="val 16000"/>
            </a:avLst>
          </a:prstGeom>
          <a:solidFill>
            <a:srgbClr val="E8A33D"/>
          </a:solidFill>
          <a:ln/>
        </p:spPr>
      </p:sp>
      <p:sp>
        <p:nvSpPr>
          <p:cNvPr id="5" name="Text 2"/>
          <p:cNvSpPr/>
          <p:nvPr/>
        </p:nvSpPr>
        <p:spPr>
          <a:xfrm>
            <a:off x="2468880" y="4846320"/>
            <a:ext cx="7223760" cy="685800"/>
          </a:xfrm>
          <a:prstGeom prst="rect">
            <a:avLst/>
          </a:prstGeom>
          <a:noFill/>
          <a:ln/>
        </p:spPr>
        <p:txBody>
          <a:bodyPr wrap="square" lIns="0" tIns="0" rIns="0" bIns="0" rtlCol="0" anchor="ctr"/>
          <a:lstStyle/>
          <a:p>
            <a:pPr indent="0" marL="0">
              <a:buNone/>
            </a:pPr>
            <a:r>
              <a:rPr lang="en-US" sz="1500" b="1" dirty="0">
                <a:solidFill>
                  <a:srgbClr val="1E2761"/>
                </a:solidFill>
                <a:latin typeface="Yu Gothic" pitchFamily="34" charset="0"/>
                <a:ea typeface="Yu Gothic" pitchFamily="34" charset="-122"/>
                <a:cs typeface="Yu Gothic" pitchFamily="34" charset="-120"/>
              </a:rPr>
              <a:t>⏸ 動画を止めて、あなたの業務を10個書き出してみてください</a:t>
            </a:r>
            <a:endParaRPr lang="en-US" sz="1500" dirty="0"/>
          </a:p>
        </p:txBody>
      </p:sp>
      <p:sp>
        <p:nvSpPr>
          <p:cNvPr id="6" name="Text 3"/>
          <p:cNvSpPr/>
          <p:nvPr/>
        </p:nvSpPr>
        <p:spPr>
          <a:xfrm>
            <a:off x="822960" y="5806440"/>
            <a:ext cx="10515600" cy="411480"/>
          </a:xfrm>
          <a:prstGeom prst="rect">
            <a:avLst/>
          </a:prstGeom>
          <a:noFill/>
          <a:ln/>
        </p:spPr>
        <p:txBody>
          <a:bodyPr wrap="square" lIns="0" tIns="0" rIns="0" bIns="0" rtlCol="0" anchor="ctr"/>
          <a:lstStyle/>
          <a:p>
            <a:pPr indent="0" marL="0">
              <a:buNone/>
            </a:pPr>
            <a:r>
              <a:rPr lang="en-US" sz="1500" b="1" dirty="0">
                <a:solidFill>
                  <a:srgbClr val="1E2761"/>
                </a:solidFill>
                <a:latin typeface="Yu Gothic" pitchFamily="34" charset="0"/>
                <a:ea typeface="Yu Gothic" pitchFamily="34" charset="-122"/>
                <a:cs typeface="Yu Gothic" pitchFamily="34" charset="-120"/>
              </a:rPr>
              <a:t>決めた1業務は、始める前に「いま何分かかっているか」を測ってから</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始めたら「分」で測る。広げる前に「線」を引く</a:t>
            </a:r>
            <a:endParaRPr lang="en-US" sz="2700" dirty="0"/>
          </a:p>
        </p:txBody>
      </p:sp>
      <p:sp>
        <p:nvSpPr>
          <p:cNvPr id="3" name="Shape 1"/>
          <p:cNvSpPr/>
          <p:nvPr/>
        </p:nvSpPr>
        <p:spPr>
          <a:xfrm>
            <a:off x="640080" y="1554480"/>
            <a:ext cx="5394960" cy="3931920"/>
          </a:xfrm>
          <a:prstGeom prst="roundRect">
            <a:avLst>
              <a:gd name="adj" fmla="val 2791"/>
            </a:avLst>
          </a:prstGeom>
          <a:solidFill>
            <a:srgbClr val="EEF3FC"/>
          </a:solidFill>
          <a:ln/>
        </p:spPr>
      </p:sp>
      <p:sp>
        <p:nvSpPr>
          <p:cNvPr id="4" name="Text 2"/>
          <p:cNvSpPr/>
          <p:nvPr/>
        </p:nvSpPr>
        <p:spPr>
          <a:xfrm>
            <a:off x="960120" y="1828800"/>
            <a:ext cx="4754880" cy="457200"/>
          </a:xfrm>
          <a:prstGeom prst="rect">
            <a:avLst/>
          </a:prstGeom>
          <a:noFill/>
          <a:ln/>
        </p:spPr>
        <p:txBody>
          <a:bodyPr wrap="square" lIns="0" tIns="0" rIns="0" bIns="0" rtlCol="0" anchor="ctr"/>
          <a:lstStyle/>
          <a:p>
            <a:pPr indent="0" marL="0">
              <a:buNone/>
            </a:pPr>
            <a:r>
              <a:rPr lang="en-US" sz="1600" b="1" dirty="0">
                <a:solidFill>
                  <a:srgbClr val="1E2761"/>
                </a:solidFill>
                <a:latin typeface="Yu Gothic" pitchFamily="34" charset="0"/>
                <a:ea typeface="Yu Gothic" pitchFamily="34" charset="-122"/>
                <a:cs typeface="Yu Gothic" pitchFamily="34" charset="-120"/>
              </a:rPr>
              <a:t>効果は感想ではなく「分」で</a:t>
            </a:r>
            <a:endParaRPr lang="en-US" sz="1600" dirty="0"/>
          </a:p>
        </p:txBody>
      </p:sp>
      <p:sp>
        <p:nvSpPr>
          <p:cNvPr id="5" name="Text 3"/>
          <p:cNvSpPr/>
          <p:nvPr/>
        </p:nvSpPr>
        <p:spPr>
          <a:xfrm>
            <a:off x="960120" y="2377440"/>
            <a:ext cx="4846320" cy="2834640"/>
          </a:xfrm>
          <a:prstGeom prst="rect">
            <a:avLst/>
          </a:prstGeom>
          <a:noFill/>
          <a:ln/>
        </p:spPr>
        <p:txBody>
          <a:bodyPr wrap="square" rtlCol="0" anchor="ctr"/>
          <a:lstStyle/>
          <a:p>
            <a:pPr marL="342900" indent="-342900">
              <a:lnSpc>
                <a:spcPct val="130000"/>
              </a:lnSpc>
              <a:spcAft>
                <a:spcPts val="1200"/>
              </a:spcAft>
              <a:buSzPct val="100000"/>
              <a:buChar char="•"/>
            </a:pPr>
            <a:r>
              <a:rPr lang="en-US" sz="1350" dirty="0">
                <a:solidFill>
                  <a:srgbClr val="333333"/>
                </a:solidFill>
                <a:latin typeface="Yu Gothic" pitchFamily="34" charset="0"/>
                <a:ea typeface="Yu Gothic" pitchFamily="34" charset="-122"/>
                <a:cs typeface="Yu Gothic" pitchFamily="34" charset="-120"/>
              </a:rPr>
              <a:t>導入前：その業務に何分かかっているか測る</a:t>
            </a:r>
            <a:endParaRPr lang="en-US" sz="1350" dirty="0"/>
          </a:p>
          <a:p>
            <a:pPr marL="342900" indent="-342900">
              <a:lnSpc>
                <a:spcPct val="130000"/>
              </a:lnSpc>
              <a:spcAft>
                <a:spcPts val="1200"/>
              </a:spcAft>
              <a:buSzPct val="100000"/>
              <a:buChar char="•"/>
            </a:pPr>
            <a:r>
              <a:rPr lang="en-US" sz="1350" dirty="0">
                <a:solidFill>
                  <a:srgbClr val="333333"/>
                </a:solidFill>
                <a:latin typeface="Yu Gothic" pitchFamily="34" charset="0"/>
                <a:ea typeface="Yu Gothic" pitchFamily="34" charset="-122"/>
                <a:cs typeface="Yu Gothic" pitchFamily="34" charset="-120"/>
              </a:rPr>
              <a:t>導入後：同じ業務を測り直す</a:t>
            </a:r>
            <a:endParaRPr lang="en-US" sz="1350" dirty="0"/>
          </a:p>
          <a:p>
            <a:pPr marL="342900" indent="-342900">
              <a:lnSpc>
                <a:spcPct val="130000"/>
              </a:lnSpc>
              <a:spcAft>
                <a:spcPts val="1200"/>
              </a:spcAft>
              <a:buSzPct val="100000"/>
              <a:buChar char="•"/>
            </a:pPr>
            <a:r>
              <a:rPr lang="en-US" sz="1350" dirty="0">
                <a:solidFill>
                  <a:srgbClr val="333333"/>
                </a:solidFill>
                <a:latin typeface="Yu Gothic" pitchFamily="34" charset="0"/>
                <a:ea typeface="Yu Gothic" pitchFamily="34" charset="-122"/>
                <a:cs typeface="Yu Gothic" pitchFamily="34" charset="-120"/>
              </a:rPr>
              <a:t>「見積が3時間→10分」の数字が、社員を動かし、次の投資判断の根拠になる</a:t>
            </a:r>
            <a:endParaRPr lang="en-US" sz="1350" dirty="0"/>
          </a:p>
        </p:txBody>
      </p:sp>
      <p:sp>
        <p:nvSpPr>
          <p:cNvPr id="6" name="Shape 4"/>
          <p:cNvSpPr/>
          <p:nvPr/>
        </p:nvSpPr>
        <p:spPr>
          <a:xfrm>
            <a:off x="6263640" y="1554480"/>
            <a:ext cx="5394960" cy="3931920"/>
          </a:xfrm>
          <a:prstGeom prst="roundRect">
            <a:avLst>
              <a:gd name="adj" fmla="val 2791"/>
            </a:avLst>
          </a:prstGeom>
          <a:solidFill>
            <a:srgbClr val="F3F4F6"/>
          </a:solidFill>
          <a:ln/>
        </p:spPr>
      </p:sp>
      <p:sp>
        <p:nvSpPr>
          <p:cNvPr id="7" name="Text 5"/>
          <p:cNvSpPr/>
          <p:nvPr/>
        </p:nvSpPr>
        <p:spPr>
          <a:xfrm>
            <a:off x="6583680" y="1828800"/>
            <a:ext cx="4846320" cy="457200"/>
          </a:xfrm>
          <a:prstGeom prst="rect">
            <a:avLst/>
          </a:prstGeom>
          <a:noFill/>
          <a:ln/>
        </p:spPr>
        <p:txBody>
          <a:bodyPr wrap="square" lIns="0" tIns="0" rIns="0" bIns="0" rtlCol="0" anchor="ctr"/>
          <a:lstStyle/>
          <a:p>
            <a:pPr indent="0" marL="0">
              <a:buNone/>
            </a:pPr>
            <a:r>
              <a:rPr lang="en-US" sz="1600" b="1" dirty="0">
                <a:solidFill>
                  <a:srgbClr val="333333"/>
                </a:solidFill>
                <a:latin typeface="Yu Gothic" pitchFamily="34" charset="0"/>
                <a:ea typeface="Yu Gothic" pitchFamily="34" charset="-122"/>
                <a:cs typeface="Yu Gothic" pitchFamily="34" charset="-120"/>
              </a:rPr>
              <a:t>社員に広げる前の5つの線引き</a:t>
            </a:r>
            <a:endParaRPr lang="en-US" sz="1600" dirty="0"/>
          </a:p>
        </p:txBody>
      </p:sp>
      <p:sp>
        <p:nvSpPr>
          <p:cNvPr id="8" name="Text 6"/>
          <p:cNvSpPr/>
          <p:nvPr/>
        </p:nvSpPr>
        <p:spPr>
          <a:xfrm>
            <a:off x="6583680" y="2377440"/>
            <a:ext cx="4846320" cy="2834640"/>
          </a:xfrm>
          <a:prstGeom prst="rect">
            <a:avLst/>
          </a:prstGeom>
          <a:noFill/>
          <a:ln/>
        </p:spPr>
        <p:txBody>
          <a:bodyPr wrap="square" rtlCol="0" anchor="ctr"/>
          <a:lstStyle/>
          <a:p>
            <a:pPr indent="0" marL="0">
              <a:lnSpc>
                <a:spcPct val="120000"/>
              </a:lnSpc>
              <a:spcAft>
                <a:spcPts val="1000"/>
              </a:spcAft>
              <a:buNone/>
            </a:pPr>
            <a:r>
              <a:rPr lang="en-US" sz="1350" dirty="0">
                <a:solidFill>
                  <a:srgbClr val="333333"/>
                </a:solidFill>
                <a:latin typeface="Yu Gothic" pitchFamily="34" charset="0"/>
                <a:ea typeface="Yu Gothic" pitchFamily="34" charset="-122"/>
                <a:cs typeface="Yu Gothic" pitchFamily="34" charset="-120"/>
              </a:rPr>
              <a:t>① 入力してよい情報・ダメな情報</a:t>
            </a:r>
            <a:endParaRPr lang="en-US" sz="1350" dirty="0"/>
          </a:p>
          <a:p>
            <a:pPr indent="0" marL="0">
              <a:lnSpc>
                <a:spcPct val="120000"/>
              </a:lnSpc>
              <a:spcAft>
                <a:spcPts val="1000"/>
              </a:spcAft>
              <a:buNone/>
            </a:pPr>
            <a:r>
              <a:rPr lang="en-US" sz="1350" dirty="0">
                <a:solidFill>
                  <a:srgbClr val="333333"/>
                </a:solidFill>
                <a:latin typeface="Yu Gothic" pitchFamily="34" charset="0"/>
                <a:ea typeface="Yu Gothic" pitchFamily="34" charset="-122"/>
                <a:cs typeface="Yu Gothic" pitchFamily="34" charset="-120"/>
              </a:rPr>
              <a:t>② 会社が認めるツールの指定</a:t>
            </a:r>
            <a:endParaRPr lang="en-US" sz="1350" dirty="0"/>
          </a:p>
          <a:p>
            <a:pPr indent="0" marL="0">
              <a:lnSpc>
                <a:spcPct val="120000"/>
              </a:lnSpc>
              <a:spcAft>
                <a:spcPts val="1000"/>
              </a:spcAft>
              <a:buNone/>
            </a:pPr>
            <a:r>
              <a:rPr lang="en-US" sz="1350" dirty="0">
                <a:solidFill>
                  <a:srgbClr val="333333"/>
                </a:solidFill>
                <a:latin typeface="Yu Gothic" pitchFamily="34" charset="0"/>
                <a:ea typeface="Yu Gothic" pitchFamily="34" charset="-122"/>
                <a:cs typeface="Yu Gothic" pitchFamily="34" charset="-120"/>
              </a:rPr>
              <a:t>③ 出力は必ず人が確認してから使う</a:t>
            </a:r>
            <a:endParaRPr lang="en-US" sz="1350" dirty="0"/>
          </a:p>
          <a:p>
            <a:pPr indent="0" marL="0">
              <a:lnSpc>
                <a:spcPct val="120000"/>
              </a:lnSpc>
              <a:spcAft>
                <a:spcPts val="1000"/>
              </a:spcAft>
              <a:buNone/>
            </a:pPr>
            <a:r>
              <a:rPr lang="en-US" sz="1350" dirty="0">
                <a:solidFill>
                  <a:srgbClr val="333333"/>
                </a:solidFill>
                <a:latin typeface="Yu Gothic" pitchFamily="34" charset="0"/>
                <a:ea typeface="Yu Gothic" pitchFamily="34" charset="-122"/>
                <a:cs typeface="Yu Gothic" pitchFamily="34" charset="-120"/>
              </a:rPr>
              <a:t>④ 顧客への利用開示の方針</a:t>
            </a:r>
            <a:endParaRPr lang="en-US" sz="1350" dirty="0"/>
          </a:p>
          <a:p>
            <a:pPr indent="0" marL="0">
              <a:lnSpc>
                <a:spcPct val="120000"/>
              </a:lnSpc>
              <a:spcAft>
                <a:spcPts val="1000"/>
              </a:spcAft>
              <a:buNone/>
            </a:pPr>
            <a:r>
              <a:rPr lang="en-US" sz="1350" dirty="0">
                <a:solidFill>
                  <a:srgbClr val="333333"/>
                </a:solidFill>
                <a:latin typeface="Yu Gothic" pitchFamily="34" charset="0"/>
                <a:ea typeface="Yu Gothic" pitchFamily="34" charset="-122"/>
                <a:cs typeface="Yu Gothic" pitchFamily="34" charset="-120"/>
              </a:rPr>
              <a:t>⑤ 事故・疑問の相談窓口</a:t>
            </a:r>
            <a:endParaRPr lang="en-US" sz="1350" dirty="0"/>
          </a:p>
        </p:txBody>
      </p:sp>
      <p:sp>
        <p:nvSpPr>
          <p:cNvPr id="9" name="Text 7"/>
          <p:cNvSpPr/>
          <p:nvPr/>
        </p:nvSpPr>
        <p:spPr>
          <a:xfrm>
            <a:off x="640080" y="5760720"/>
            <a:ext cx="10972800" cy="411480"/>
          </a:xfrm>
          <a:prstGeom prst="rect">
            <a:avLst/>
          </a:prstGeom>
          <a:noFill/>
          <a:ln/>
        </p:spPr>
        <p:txBody>
          <a:bodyPr wrap="square" lIns="0" tIns="0" rIns="0" bIns="0" rtlCol="0" anchor="ctr"/>
          <a:lstStyle/>
          <a:p>
            <a:pPr algn="ctr" indent="0" marL="0">
              <a:buNone/>
            </a:pPr>
            <a:r>
              <a:rPr lang="en-US" sz="1400" b="1" dirty="0">
                <a:solidFill>
                  <a:srgbClr val="1E2761"/>
                </a:solidFill>
                <a:latin typeface="Yu Gothic" pitchFamily="34" charset="0"/>
                <a:ea typeface="Yu Gothic" pitchFamily="34" charset="-122"/>
                <a:cs typeface="Yu Gothic" pitchFamily="34" charset="-120"/>
              </a:rPr>
              <a:t>5項目の社内ルール雛形（A4・1枚）を本日配布 — 自社名を入れればそのまま使えます</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2103120"/>
            <a:ext cx="3657600" cy="548640"/>
          </a:xfrm>
          <a:prstGeom prst="rect">
            <a:avLst/>
          </a:prstGeom>
          <a:noFill/>
          <a:ln/>
        </p:spPr>
        <p:txBody>
          <a:bodyPr wrap="square" lIns="0" tIns="0" rIns="0" bIns="0" rtlCol="0" anchor="ctr"/>
          <a:lstStyle/>
          <a:p>
            <a:pPr indent="0" marL="0">
              <a:buNone/>
            </a:pPr>
            <a:r>
              <a:rPr lang="en-US" sz="2200" b="1" dirty="0">
                <a:solidFill>
                  <a:srgbClr val="E8A33D"/>
                </a:solidFill>
                <a:latin typeface="Yu Gothic" pitchFamily="34" charset="0"/>
                <a:ea typeface="Yu Gothic" pitchFamily="34" charset="-122"/>
                <a:cs typeface="Yu Gothic" pitchFamily="34" charset="-120"/>
              </a:rPr>
              <a:t>第6章</a:t>
            </a:r>
            <a:endParaRPr lang="en-US" sz="2200" dirty="0"/>
          </a:p>
        </p:txBody>
      </p:sp>
      <p:sp>
        <p:nvSpPr>
          <p:cNvPr id="3" name="Text 1"/>
          <p:cNvSpPr/>
          <p:nvPr/>
        </p:nvSpPr>
        <p:spPr>
          <a:xfrm>
            <a:off x="822960" y="2697480"/>
            <a:ext cx="10515600" cy="914400"/>
          </a:xfrm>
          <a:prstGeom prst="rect">
            <a:avLst/>
          </a:prstGeom>
          <a:noFill/>
          <a:ln/>
        </p:spPr>
        <p:txBody>
          <a:bodyPr wrap="square" lIns="0" tIns="0" rIns="0" bIns="0" rtlCol="0" anchor="ctr"/>
          <a:lstStyle/>
          <a:p>
            <a:pPr indent="0" marL="0">
              <a:buNone/>
            </a:pPr>
            <a:r>
              <a:rPr lang="en-US" sz="3600" b="1" dirty="0">
                <a:solidFill>
                  <a:srgbClr val="FFFFFF"/>
                </a:solidFill>
                <a:latin typeface="Yu Gothic" pitchFamily="34" charset="0"/>
                <a:ea typeface="Yu Gothic" pitchFamily="34" charset="-122"/>
                <a:cs typeface="Yu Gothic" pitchFamily="34" charset="-120"/>
              </a:rPr>
              <a:t>お金の話 — 費用の4分の3は国が持つ</a:t>
            </a:r>
            <a:endParaRPr lang="en-US" sz="3600" dirty="0"/>
          </a:p>
        </p:txBody>
      </p:sp>
      <p:sp>
        <p:nvSpPr>
          <p:cNvPr id="4" name="Text 2"/>
          <p:cNvSpPr/>
          <p:nvPr/>
        </p:nvSpPr>
        <p:spPr>
          <a:xfrm>
            <a:off x="822960" y="3794760"/>
            <a:ext cx="10515600" cy="548640"/>
          </a:xfrm>
          <a:prstGeom prst="rect">
            <a:avLst/>
          </a:prstGeom>
          <a:noFill/>
          <a:ln/>
        </p:spPr>
        <p:txBody>
          <a:bodyPr wrap="square" lIns="0" tIns="0" rIns="0" bIns="0" rtlCol="0" anchor="ctr"/>
          <a:lstStyle/>
          <a:p>
            <a:pPr indent="0" marL="0">
              <a:buNone/>
            </a:pPr>
            <a:r>
              <a:rPr lang="en-US" sz="1600" dirty="0">
                <a:solidFill>
                  <a:srgbClr val="CADCFC"/>
                </a:solidFill>
                <a:latin typeface="Yu Gothic" pitchFamily="34" charset="0"/>
                <a:ea typeface="Yu Gothic" pitchFamily="34" charset="-122"/>
                <a:cs typeface="Yu Gothic" pitchFamily="34" charset="-120"/>
              </a:rPr>
              <a:t>人材開発支援助成金と、2027年3月の期限</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社員に広げるときのお金の話 — 研修費用の4分の3は、国が持つ</a:t>
            </a:r>
            <a:endParaRPr lang="en-US" sz="2700" dirty="0"/>
          </a:p>
        </p:txBody>
      </p:sp>
      <p:sp>
        <p:nvSpPr>
          <p:cNvPr id="3" name="Text 1"/>
          <p:cNvSpPr/>
          <p:nvPr/>
        </p:nvSpPr>
        <p:spPr>
          <a:xfrm>
            <a:off x="548640" y="1051560"/>
            <a:ext cx="10972800" cy="365760"/>
          </a:xfrm>
          <a:prstGeom prst="rect">
            <a:avLst/>
          </a:prstGeom>
          <a:noFill/>
          <a:ln/>
        </p:spPr>
        <p:txBody>
          <a:bodyPr wrap="square" lIns="0" tIns="0" rIns="0" bIns="0" rtlCol="0" anchor="ctr"/>
          <a:lstStyle/>
          <a:p>
            <a:pPr indent="0" marL="0">
              <a:buNone/>
            </a:pPr>
            <a:r>
              <a:rPr lang="en-US" sz="1400" dirty="0">
                <a:solidFill>
                  <a:srgbClr val="6B7280"/>
                </a:solidFill>
                <a:latin typeface="Yu Gothic" pitchFamily="34" charset="0"/>
                <a:ea typeface="Yu Gothic" pitchFamily="34" charset="-122"/>
                <a:cs typeface="Yu Gothic" pitchFamily="34" charset="-120"/>
              </a:rPr>
              <a:t>人材開発支援助成金「事業展開等リスキリング支援コース」（中小企業の場合）</a:t>
            </a:r>
            <a:endParaRPr lang="en-US" sz="1400" dirty="0"/>
          </a:p>
        </p:txBody>
      </p:sp>
      <p:sp>
        <p:nvSpPr>
          <p:cNvPr id="4" name="Shape 2"/>
          <p:cNvSpPr/>
          <p:nvPr/>
        </p:nvSpPr>
        <p:spPr>
          <a:xfrm>
            <a:off x="495148" y="1737360"/>
            <a:ext cx="3520440" cy="3017520"/>
          </a:xfrm>
          <a:prstGeom prst="roundRect">
            <a:avLst>
              <a:gd name="adj" fmla="val 3636"/>
            </a:avLst>
          </a:prstGeom>
          <a:solidFill>
            <a:srgbClr val="EEF3FC"/>
          </a:solidFill>
          <a:ln/>
        </p:spPr>
      </p:sp>
      <p:sp>
        <p:nvSpPr>
          <p:cNvPr id="5" name="Text 3"/>
          <p:cNvSpPr/>
          <p:nvPr/>
        </p:nvSpPr>
        <p:spPr>
          <a:xfrm>
            <a:off x="723748" y="2057400"/>
            <a:ext cx="3063240" cy="822960"/>
          </a:xfrm>
          <a:prstGeom prst="rect">
            <a:avLst/>
          </a:prstGeom>
          <a:noFill/>
          <a:ln/>
        </p:spPr>
        <p:txBody>
          <a:bodyPr wrap="square" lIns="0" tIns="0" rIns="0" bIns="0" rtlCol="0" anchor="ctr"/>
          <a:lstStyle/>
          <a:p>
            <a:pPr indent="0" marL="0">
              <a:buNone/>
            </a:pPr>
            <a:r>
              <a:rPr lang="en-US" sz="3400" b="1" dirty="0">
                <a:solidFill>
                  <a:srgbClr val="1E2761"/>
                </a:solidFill>
                <a:latin typeface="Yu Gothic" pitchFamily="34" charset="0"/>
                <a:ea typeface="Yu Gothic" pitchFamily="34" charset="-122"/>
                <a:cs typeface="Yu Gothic" pitchFamily="34" charset="-120"/>
              </a:rPr>
              <a:t>最大75%</a:t>
            </a:r>
            <a:endParaRPr lang="en-US" sz="3400" dirty="0"/>
          </a:p>
        </p:txBody>
      </p:sp>
      <p:sp>
        <p:nvSpPr>
          <p:cNvPr id="6" name="Text 4"/>
          <p:cNvSpPr/>
          <p:nvPr/>
        </p:nvSpPr>
        <p:spPr>
          <a:xfrm>
            <a:off x="723748" y="3017520"/>
            <a:ext cx="3063240" cy="457200"/>
          </a:xfrm>
          <a:prstGeom prst="rect">
            <a:avLst/>
          </a:prstGeom>
          <a:noFill/>
          <a:ln/>
        </p:spPr>
        <p:txBody>
          <a:bodyPr wrap="square" lIns="0" tIns="0" rIns="0" bIns="0" rtlCol="0" anchor="ctr"/>
          <a:lstStyle/>
          <a:p>
            <a:pPr indent="0" marL="0">
              <a:buNone/>
            </a:pPr>
            <a:r>
              <a:rPr lang="en-US" sz="1400" b="1" dirty="0">
                <a:solidFill>
                  <a:srgbClr val="333333"/>
                </a:solidFill>
                <a:latin typeface="Yu Gothic" pitchFamily="34" charset="0"/>
                <a:ea typeface="Yu Gothic" pitchFamily="34" charset="-122"/>
                <a:cs typeface="Yu Gothic" pitchFamily="34" charset="-120"/>
              </a:rPr>
              <a:t>研修経費の助成率</a:t>
            </a:r>
            <a:endParaRPr lang="en-US" sz="1400" dirty="0"/>
          </a:p>
        </p:txBody>
      </p:sp>
      <p:sp>
        <p:nvSpPr>
          <p:cNvPr id="7" name="Text 5"/>
          <p:cNvSpPr/>
          <p:nvPr/>
        </p:nvSpPr>
        <p:spPr>
          <a:xfrm>
            <a:off x="723748" y="3566160"/>
            <a:ext cx="3063240" cy="1005840"/>
          </a:xfrm>
          <a:prstGeom prst="rect">
            <a:avLst/>
          </a:prstGeom>
          <a:noFill/>
          <a:ln/>
        </p:spPr>
        <p:txBody>
          <a:bodyPr wrap="square" lIns="0" tIns="0" rIns="0" bIns="0" rtlCol="0" anchor="ctr"/>
          <a:lstStyle/>
          <a:p>
            <a:pPr indent="0" marL="0">
              <a:lnSpc>
                <a:spcPct val="125000"/>
              </a:lnSpc>
              <a:buNone/>
            </a:pPr>
            <a:r>
              <a:rPr lang="en-US" sz="1200" dirty="0">
                <a:solidFill>
                  <a:srgbClr val="6B7280"/>
                </a:solidFill>
                <a:latin typeface="Yu Gothic" pitchFamily="34" charset="0"/>
                <a:ea typeface="Yu Gothic" pitchFamily="34" charset="-122"/>
                <a:cs typeface="Yu Gothic" pitchFamily="34" charset="-120"/>
              </a:rPr>
              <a:t>例：200万円の研修なら150万円が戻り、実質50万円</a:t>
            </a:r>
            <a:endParaRPr lang="en-US" sz="1200" dirty="0"/>
          </a:p>
        </p:txBody>
      </p:sp>
      <p:sp>
        <p:nvSpPr>
          <p:cNvPr id="8" name="Shape 6"/>
          <p:cNvSpPr/>
          <p:nvPr/>
        </p:nvSpPr>
        <p:spPr>
          <a:xfrm>
            <a:off x="4335628" y="1737360"/>
            <a:ext cx="3520440" cy="3017520"/>
          </a:xfrm>
          <a:prstGeom prst="roundRect">
            <a:avLst>
              <a:gd name="adj" fmla="val 3636"/>
            </a:avLst>
          </a:prstGeom>
          <a:solidFill>
            <a:srgbClr val="EEF3FC"/>
          </a:solidFill>
          <a:ln/>
        </p:spPr>
      </p:sp>
      <p:sp>
        <p:nvSpPr>
          <p:cNvPr id="9" name="Text 7"/>
          <p:cNvSpPr/>
          <p:nvPr/>
        </p:nvSpPr>
        <p:spPr>
          <a:xfrm>
            <a:off x="4564228" y="2057400"/>
            <a:ext cx="3063240" cy="822960"/>
          </a:xfrm>
          <a:prstGeom prst="rect">
            <a:avLst/>
          </a:prstGeom>
          <a:noFill/>
          <a:ln/>
        </p:spPr>
        <p:txBody>
          <a:bodyPr wrap="square" lIns="0" tIns="0" rIns="0" bIns="0" rtlCol="0" anchor="ctr"/>
          <a:lstStyle/>
          <a:p>
            <a:pPr indent="0" marL="0">
              <a:buNone/>
            </a:pPr>
            <a:r>
              <a:rPr lang="en-US" sz="3400" b="1" dirty="0">
                <a:solidFill>
                  <a:srgbClr val="1E2761"/>
                </a:solidFill>
                <a:latin typeface="Yu Gothic" pitchFamily="34" charset="0"/>
                <a:ea typeface="Yu Gothic" pitchFamily="34" charset="-122"/>
                <a:cs typeface="Yu Gothic" pitchFamily="34" charset="-120"/>
              </a:rPr>
              <a:t>1,000円</a:t>
            </a:r>
            <a:endParaRPr lang="en-US" sz="3400" dirty="0"/>
          </a:p>
        </p:txBody>
      </p:sp>
      <p:sp>
        <p:nvSpPr>
          <p:cNvPr id="10" name="Text 8"/>
          <p:cNvSpPr/>
          <p:nvPr/>
        </p:nvSpPr>
        <p:spPr>
          <a:xfrm>
            <a:off x="4564228" y="3017520"/>
            <a:ext cx="3063240" cy="457200"/>
          </a:xfrm>
          <a:prstGeom prst="rect">
            <a:avLst/>
          </a:prstGeom>
          <a:noFill/>
          <a:ln/>
        </p:spPr>
        <p:txBody>
          <a:bodyPr wrap="square" lIns="0" tIns="0" rIns="0" bIns="0" rtlCol="0" anchor="ctr"/>
          <a:lstStyle/>
          <a:p>
            <a:pPr indent="0" marL="0">
              <a:buNone/>
            </a:pPr>
            <a:r>
              <a:rPr lang="en-US" sz="1400" b="1" dirty="0">
                <a:solidFill>
                  <a:srgbClr val="333333"/>
                </a:solidFill>
                <a:latin typeface="Yu Gothic" pitchFamily="34" charset="0"/>
                <a:ea typeface="Yu Gothic" pitchFamily="34" charset="-122"/>
                <a:cs typeface="Yu Gothic" pitchFamily="34" charset="-120"/>
              </a:rPr>
              <a:t>賃金助成（1人1時間あたり）</a:t>
            </a:r>
            <a:endParaRPr lang="en-US" sz="1400" dirty="0"/>
          </a:p>
        </p:txBody>
      </p:sp>
      <p:sp>
        <p:nvSpPr>
          <p:cNvPr id="11" name="Text 9"/>
          <p:cNvSpPr/>
          <p:nvPr/>
        </p:nvSpPr>
        <p:spPr>
          <a:xfrm>
            <a:off x="4564228" y="3566160"/>
            <a:ext cx="3063240" cy="1005840"/>
          </a:xfrm>
          <a:prstGeom prst="rect">
            <a:avLst/>
          </a:prstGeom>
          <a:noFill/>
          <a:ln/>
        </p:spPr>
        <p:txBody>
          <a:bodyPr wrap="square" lIns="0" tIns="0" rIns="0" bIns="0" rtlCol="0" anchor="ctr"/>
          <a:lstStyle/>
          <a:p>
            <a:pPr indent="0" marL="0">
              <a:lnSpc>
                <a:spcPct val="125000"/>
              </a:lnSpc>
              <a:buNone/>
            </a:pPr>
            <a:r>
              <a:rPr lang="en-US" sz="1200" dirty="0">
                <a:solidFill>
                  <a:srgbClr val="6B7280"/>
                </a:solidFill>
                <a:latin typeface="Yu Gothic" pitchFamily="34" charset="0"/>
                <a:ea typeface="Yu Gothic" pitchFamily="34" charset="-122"/>
                <a:cs typeface="Yu Gothic" pitchFamily="34" charset="-120"/>
              </a:rPr>
              <a:t>研修を受けている時間の人件費も支援される</a:t>
            </a:r>
            <a:endParaRPr lang="en-US" sz="1200" dirty="0"/>
          </a:p>
        </p:txBody>
      </p:sp>
      <p:sp>
        <p:nvSpPr>
          <p:cNvPr id="12" name="Shape 10"/>
          <p:cNvSpPr/>
          <p:nvPr/>
        </p:nvSpPr>
        <p:spPr>
          <a:xfrm>
            <a:off x="8176108" y="1737360"/>
            <a:ext cx="3520440" cy="3017520"/>
          </a:xfrm>
          <a:prstGeom prst="roundRect">
            <a:avLst>
              <a:gd name="adj" fmla="val 3636"/>
            </a:avLst>
          </a:prstGeom>
          <a:solidFill>
            <a:srgbClr val="1E2761"/>
          </a:solidFill>
          <a:ln/>
        </p:spPr>
      </p:sp>
      <p:sp>
        <p:nvSpPr>
          <p:cNvPr id="13" name="Text 11"/>
          <p:cNvSpPr/>
          <p:nvPr/>
        </p:nvSpPr>
        <p:spPr>
          <a:xfrm>
            <a:off x="8404708" y="2057400"/>
            <a:ext cx="3063240" cy="822960"/>
          </a:xfrm>
          <a:prstGeom prst="rect">
            <a:avLst/>
          </a:prstGeom>
          <a:noFill/>
          <a:ln/>
        </p:spPr>
        <p:txBody>
          <a:bodyPr wrap="square" lIns="0" tIns="0" rIns="0" bIns="0" rtlCol="0" anchor="ctr"/>
          <a:lstStyle/>
          <a:p>
            <a:pPr indent="0" marL="0">
              <a:buNone/>
            </a:pPr>
            <a:r>
              <a:rPr lang="en-US" sz="2400" b="1" dirty="0">
                <a:solidFill>
                  <a:srgbClr val="E8A33D"/>
                </a:solidFill>
                <a:latin typeface="Yu Gothic" pitchFamily="34" charset="0"/>
                <a:ea typeface="Yu Gothic" pitchFamily="34" charset="-122"/>
                <a:cs typeface="Yu Gothic" pitchFamily="34" charset="-120"/>
              </a:rPr>
              <a:t>2027年3月31日</a:t>
            </a:r>
            <a:endParaRPr lang="en-US" sz="2400" dirty="0"/>
          </a:p>
        </p:txBody>
      </p:sp>
      <p:sp>
        <p:nvSpPr>
          <p:cNvPr id="14" name="Text 12"/>
          <p:cNvSpPr/>
          <p:nvPr/>
        </p:nvSpPr>
        <p:spPr>
          <a:xfrm>
            <a:off x="8404708" y="3017520"/>
            <a:ext cx="3063240" cy="457200"/>
          </a:xfrm>
          <a:prstGeom prst="rect">
            <a:avLst/>
          </a:prstGeom>
          <a:noFill/>
          <a:ln/>
        </p:spPr>
        <p:txBody>
          <a:bodyPr wrap="square" lIns="0" tIns="0" rIns="0" bIns="0" rtlCol="0" anchor="ctr"/>
          <a:lstStyle/>
          <a:p>
            <a:pPr indent="0" marL="0">
              <a:buNone/>
            </a:pPr>
            <a:r>
              <a:rPr lang="en-US" sz="1400" b="1" dirty="0">
                <a:solidFill>
                  <a:srgbClr val="FFFFFF"/>
                </a:solidFill>
                <a:latin typeface="Yu Gothic" pitchFamily="34" charset="0"/>
                <a:ea typeface="Yu Gothic" pitchFamily="34" charset="-122"/>
                <a:cs typeface="Yu Gothic" pitchFamily="34" charset="-120"/>
              </a:rPr>
              <a:t>制度の終了期限</a:t>
            </a:r>
            <a:endParaRPr lang="en-US" sz="1400" dirty="0"/>
          </a:p>
        </p:txBody>
      </p:sp>
      <p:sp>
        <p:nvSpPr>
          <p:cNvPr id="15" name="Text 13"/>
          <p:cNvSpPr/>
          <p:nvPr/>
        </p:nvSpPr>
        <p:spPr>
          <a:xfrm>
            <a:off x="8404708" y="3566160"/>
            <a:ext cx="3063240" cy="1005840"/>
          </a:xfrm>
          <a:prstGeom prst="rect">
            <a:avLst/>
          </a:prstGeom>
          <a:noFill/>
          <a:ln/>
        </p:spPr>
        <p:txBody>
          <a:bodyPr wrap="square" lIns="0" tIns="0" rIns="0" bIns="0" rtlCol="0" anchor="ctr"/>
          <a:lstStyle/>
          <a:p>
            <a:pPr indent="0" marL="0">
              <a:lnSpc>
                <a:spcPct val="125000"/>
              </a:lnSpc>
              <a:buNone/>
            </a:pPr>
            <a:r>
              <a:rPr lang="en-US" sz="1200" dirty="0">
                <a:solidFill>
                  <a:srgbClr val="CADCFC"/>
                </a:solidFill>
                <a:latin typeface="Yu Gothic" pitchFamily="34" charset="0"/>
                <a:ea typeface="Yu Gothic" pitchFamily="34" charset="-122"/>
                <a:cs typeface="Yu Gothic" pitchFamily="34" charset="-120"/>
              </a:rPr>
              <a:t>残り期間わずか。使うなら今年度からの逆算が必要</a:t>
            </a:r>
            <a:endParaRPr lang="en-US" sz="1200" dirty="0"/>
          </a:p>
        </p:txBody>
      </p:sp>
      <p:sp>
        <p:nvSpPr>
          <p:cNvPr id="16" name="Text 14"/>
          <p:cNvSpPr/>
          <p:nvPr/>
        </p:nvSpPr>
        <p:spPr>
          <a:xfrm>
            <a:off x="548640" y="5120640"/>
            <a:ext cx="11064240" cy="365760"/>
          </a:xfrm>
          <a:prstGeom prst="rect">
            <a:avLst/>
          </a:prstGeom>
          <a:noFill/>
          <a:ln/>
        </p:spPr>
        <p:txBody>
          <a:bodyPr wrap="square" lIns="0" tIns="0" rIns="0" bIns="0" rtlCol="0" anchor="ctr"/>
          <a:lstStyle/>
          <a:p>
            <a:pPr indent="0" marL="0">
              <a:buNone/>
            </a:pPr>
            <a:r>
              <a:rPr lang="en-US" sz="1150" i="1" dirty="0">
                <a:solidFill>
                  <a:srgbClr val="6B7280"/>
                </a:solidFill>
                <a:latin typeface="Yu Gothic" pitchFamily="34" charset="0"/>
                <a:ea typeface="Yu Gothic" pitchFamily="34" charset="-122"/>
                <a:cs typeface="Yu Gothic" pitchFamily="34" charset="-120"/>
              </a:rPr>
              <a:t>※ 2026年7月時点の制度情報です（1人あたり上限額など要件あり）。最新は厚生労働省サイトでご確認ください</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シミュレーション — 社員10名が研修を受けた場合</a:t>
            </a:r>
            <a:endParaRPr lang="en-US" sz="27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1463040" y="1554480"/>
          <a:ext cx="9235440" cy="914400"/>
        </p:xfrm>
        <a:graphic>
          <a:graphicData uri="http://schemas.openxmlformats.org/drawingml/2006/table">
            <a:tbl>
              <a:tblPr/>
              <a:tblGrid>
                <a:gridCol w="6035040"/>
                <a:gridCol w="3200400"/>
              </a:tblGrid>
              <a:tr h="475488">
                <a:tc>
                  <a:txBody>
                    <a:bodyPr/>
                    <a:lstStyle/>
                    <a:p>
                      <a:pPr indent="0" marL="0">
                        <a:buNone/>
                      </a:pPr>
                      <a:r>
                        <a:rPr lang="en-US" sz="1500" b="1" dirty="0">
                          <a:solidFill>
                            <a:srgbClr val="FFFFFF"/>
                          </a:solidFill>
                          <a:latin typeface="Yu Gothic" pitchFamily="34" charset="0"/>
                          <a:ea typeface="Yu Gothic" pitchFamily="34" charset="-122"/>
                          <a:cs typeface="Yu Gothic" pitchFamily="34" charset="-120"/>
                        </a:rPr>
                        <a:t>項目</a:t>
                      </a:r>
                      <a:endParaRPr lang="en-US" sz="1500" dirty="0">
                        <a:latin typeface="Yu Gothic" charset="0"/>
                        <a:ea typeface="Yu Gothic" charset="0"/>
                        <a:cs typeface="Yu Gothic" charset="0"/>
                      </a:endParaRPr>
                    </a:p>
                  </a:txBody>
                  <a:tcPr marL="109728" marR="109728" marT="109728" marB="109728"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1E2761"/>
                    </a:solidFill>
                  </a:tcPr>
                </a:tc>
                <a:tc>
                  <a:txBody>
                    <a:bodyPr/>
                    <a:lstStyle/>
                    <a:p>
                      <a:pPr indent="0" marL="0">
                        <a:buNone/>
                      </a:pPr>
                      <a:r>
                        <a:rPr lang="en-US" sz="1500" b="1" dirty="0">
                          <a:solidFill>
                            <a:srgbClr val="FFFFFF"/>
                          </a:solidFill>
                          <a:latin typeface="Yu Gothic" pitchFamily="34" charset="0"/>
                          <a:ea typeface="Yu Gothic" pitchFamily="34" charset="-122"/>
                          <a:cs typeface="Yu Gothic" pitchFamily="34" charset="-120"/>
                        </a:rPr>
                        <a:t>金額</a:t>
                      </a:r>
                      <a:endParaRPr lang="en-US" sz="1500" dirty="0">
                        <a:latin typeface="Yu Gothic" charset="0"/>
                        <a:ea typeface="Yu Gothic" charset="0"/>
                        <a:cs typeface="Yu Gothic" charset="0"/>
                      </a:endParaRPr>
                    </a:p>
                  </a:txBody>
                  <a:tcPr marL="109728" marR="109728" marT="109728" marB="109728"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1E2761"/>
                    </a:solidFill>
                  </a:tcPr>
                </a:tc>
              </a:tr>
              <a:tr h="475488">
                <a:tc>
                  <a:txBody>
                    <a:bodyPr/>
                    <a:lstStyle/>
                    <a:p>
                      <a:pPr indent="0" marL="0">
                        <a:buNone/>
                      </a:pPr>
                      <a:r>
                        <a:rPr lang="en-US" sz="1500" dirty="0">
                          <a:solidFill>
                            <a:srgbClr val="333333"/>
                          </a:solidFill>
                          <a:latin typeface="Yu Gothic" pitchFamily="34" charset="0"/>
                          <a:ea typeface="Yu Gothic" pitchFamily="34" charset="-122"/>
                          <a:cs typeface="Yu Gothic" pitchFamily="34" charset="-120"/>
                        </a:rPr>
                        <a:t>研修費用（20万円 × 10名）</a:t>
                      </a:r>
                      <a:endParaRPr lang="en-US" sz="1500" dirty="0">
                        <a:latin typeface="Yu Gothic" charset="0"/>
                        <a:ea typeface="Yu Gothic" charset="0"/>
                        <a:cs typeface="Yu Gothic" charset="0"/>
                      </a:endParaRPr>
                    </a:p>
                  </a:txBody>
                  <a:tcPr marL="109728" marR="109728" marT="109728" marB="109728"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500" dirty="0">
                          <a:solidFill>
                            <a:srgbClr val="333333"/>
                          </a:solidFill>
                          <a:latin typeface="Yu Gothic" pitchFamily="34" charset="0"/>
                          <a:ea typeface="Yu Gothic" pitchFamily="34" charset="-122"/>
                          <a:cs typeface="Yu Gothic" pitchFamily="34" charset="-120"/>
                        </a:rPr>
                        <a:t>200万円</a:t>
                      </a:r>
                      <a:endParaRPr lang="en-US" sz="1500" dirty="0">
                        <a:latin typeface="Yu Gothic" charset="0"/>
                        <a:ea typeface="Yu Gothic" charset="0"/>
                        <a:cs typeface="Yu Gothic" charset="0"/>
                      </a:endParaRPr>
                    </a:p>
                  </a:txBody>
                  <a:tcPr marL="109728" marR="109728" marT="109728" marB="109728"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333333"/>
                          </a:solidFill>
                          <a:latin typeface="Yu Gothic" pitchFamily="34" charset="0"/>
                          <a:ea typeface="Yu Gothic" pitchFamily="34" charset="-122"/>
                          <a:cs typeface="Yu Gothic" pitchFamily="34" charset="-120"/>
                        </a:rPr>
                        <a:t>経費助成（75%）</a:t>
                      </a:r>
                      <a:endParaRPr lang="en-US" sz="1500" dirty="0">
                        <a:latin typeface="Yu Gothic" charset="0"/>
                        <a:ea typeface="Yu Gothic" charset="0"/>
                        <a:cs typeface="Yu Gothic" charset="0"/>
                      </a:endParaRPr>
                    </a:p>
                  </a:txBody>
                  <a:tcPr marL="109728" marR="109728" marT="109728" marB="109728"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500" dirty="0">
                          <a:solidFill>
                            <a:srgbClr val="333333"/>
                          </a:solidFill>
                          <a:latin typeface="Yu Gothic" pitchFamily="34" charset="0"/>
                          <a:ea typeface="Yu Gothic" pitchFamily="34" charset="-122"/>
                          <a:cs typeface="Yu Gothic" pitchFamily="34" charset="-120"/>
                        </a:rPr>
                        <a:t>▲150万円</a:t>
                      </a:r>
                      <a:endParaRPr lang="en-US" sz="1500" dirty="0">
                        <a:latin typeface="Yu Gothic" charset="0"/>
                        <a:ea typeface="Yu Gothic" charset="0"/>
                        <a:cs typeface="Yu Gothic" charset="0"/>
                      </a:endParaRPr>
                    </a:p>
                  </a:txBody>
                  <a:tcPr marL="109728" marR="109728" marT="109728" marB="109728"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333333"/>
                          </a:solidFill>
                          <a:latin typeface="Yu Gothic" pitchFamily="34" charset="0"/>
                          <a:ea typeface="Yu Gothic" pitchFamily="34" charset="-122"/>
                          <a:cs typeface="Yu Gothic" pitchFamily="34" charset="-120"/>
                        </a:rPr>
                        <a:t>実質負担</a:t>
                      </a:r>
                      <a:endParaRPr lang="en-US" sz="1500" dirty="0">
                        <a:latin typeface="Yu Gothic" charset="0"/>
                        <a:ea typeface="Yu Gothic" charset="0"/>
                        <a:cs typeface="Yu Gothic" charset="0"/>
                      </a:endParaRPr>
                    </a:p>
                  </a:txBody>
                  <a:tcPr marL="109728" marR="109728" marT="109728" marB="109728"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500" b="1" dirty="0">
                          <a:solidFill>
                            <a:srgbClr val="333333"/>
                          </a:solidFill>
                          <a:latin typeface="Yu Gothic" pitchFamily="34" charset="0"/>
                          <a:ea typeface="Yu Gothic" pitchFamily="34" charset="-122"/>
                          <a:cs typeface="Yu Gothic" pitchFamily="34" charset="-120"/>
                        </a:rPr>
                        <a:t>50万円</a:t>
                      </a:r>
                      <a:endParaRPr lang="en-US" sz="1500" dirty="0">
                        <a:latin typeface="Yu Gothic" charset="0"/>
                        <a:ea typeface="Yu Gothic" charset="0"/>
                        <a:cs typeface="Yu Gothic" charset="0"/>
                      </a:endParaRPr>
                    </a:p>
                  </a:txBody>
                  <a:tcPr marL="109728" marR="109728" marT="109728" marB="109728"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333333"/>
                          </a:solidFill>
                          <a:latin typeface="Yu Gothic" pitchFamily="34" charset="0"/>
                          <a:ea typeface="Yu Gothic" pitchFamily="34" charset="-122"/>
                          <a:cs typeface="Yu Gothic" pitchFamily="34" charset="-120"/>
                        </a:rPr>
                        <a:t>賃金助成（10名 × 12時間 × 1,000円）</a:t>
                      </a:r>
                      <a:endParaRPr lang="en-US" sz="1500" dirty="0">
                        <a:latin typeface="Yu Gothic" charset="0"/>
                        <a:ea typeface="Yu Gothic" charset="0"/>
                        <a:cs typeface="Yu Gothic" charset="0"/>
                      </a:endParaRPr>
                    </a:p>
                  </a:txBody>
                  <a:tcPr marL="109728" marR="109728" marT="109728" marB="109728"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500" dirty="0">
                          <a:solidFill>
                            <a:srgbClr val="333333"/>
                          </a:solidFill>
                          <a:latin typeface="Yu Gothic" pitchFamily="34" charset="0"/>
                          <a:ea typeface="Yu Gothic" pitchFamily="34" charset="-122"/>
                          <a:cs typeface="Yu Gothic" pitchFamily="34" charset="-120"/>
                        </a:rPr>
                        <a:t>▲12万円</a:t>
                      </a:r>
                      <a:endParaRPr lang="en-US" sz="1500" dirty="0">
                        <a:latin typeface="Yu Gothic" charset="0"/>
                        <a:ea typeface="Yu Gothic" charset="0"/>
                        <a:cs typeface="Yu Gothic" charset="0"/>
                      </a:endParaRPr>
                    </a:p>
                  </a:txBody>
                  <a:tcPr marL="109728" marR="109728" marT="109728" marB="109728"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E2761"/>
                          </a:solidFill>
                          <a:latin typeface="Yu Gothic" pitchFamily="34" charset="0"/>
                          <a:ea typeface="Yu Gothic" pitchFamily="34" charset="-122"/>
                          <a:cs typeface="Yu Gothic" pitchFamily="34" charset="-120"/>
                        </a:rPr>
                        <a:t>最終的な実質負担</a:t>
                      </a:r>
                      <a:endParaRPr lang="en-US" sz="1500" dirty="0">
                        <a:latin typeface="Yu Gothic" charset="0"/>
                        <a:ea typeface="Yu Gothic" charset="0"/>
                        <a:cs typeface="Yu Gothic" charset="0"/>
                      </a:endParaRPr>
                    </a:p>
                  </a:txBody>
                  <a:tcPr marL="109728" marR="109728" marT="109728" marB="109728"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500" b="1" dirty="0">
                          <a:solidFill>
                            <a:srgbClr val="1E2761"/>
                          </a:solidFill>
                          <a:latin typeface="Yu Gothic" pitchFamily="34" charset="0"/>
                          <a:ea typeface="Yu Gothic" pitchFamily="34" charset="-122"/>
                          <a:cs typeface="Yu Gothic" pitchFamily="34" charset="-120"/>
                        </a:rPr>
                        <a:t>約38万円</a:t>
                      </a:r>
                      <a:endParaRPr lang="en-US" sz="1500" dirty="0">
                        <a:latin typeface="Yu Gothic" charset="0"/>
                        <a:ea typeface="Yu Gothic" charset="0"/>
                        <a:cs typeface="Yu Gothic" charset="0"/>
                      </a:endParaRPr>
                    </a:p>
                  </a:txBody>
                  <a:tcPr marL="109728" marR="109728" marT="109728" marB="109728"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333333"/>
                          </a:solidFill>
                          <a:latin typeface="Yu Gothic" pitchFamily="34" charset="0"/>
                          <a:ea typeface="Yu Gothic" pitchFamily="34" charset="-122"/>
                          <a:cs typeface="Yu Gothic" pitchFamily="34" charset="-120"/>
                        </a:rPr>
                        <a:t>参考：社員3名なら（20万円 × 3名 ＝ 60万円）</a:t>
                      </a:r>
                      <a:endParaRPr lang="en-US" sz="1500" dirty="0">
                        <a:latin typeface="Yu Gothic" charset="0"/>
                        <a:ea typeface="Yu Gothic" charset="0"/>
                        <a:cs typeface="Yu Gothic" charset="0"/>
                      </a:endParaRPr>
                    </a:p>
                  </a:txBody>
                  <a:tcPr marL="109728" marR="109728" marT="109728" marB="109728"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c>
                  <a:txBody>
                    <a:bodyPr/>
                    <a:lstStyle/>
                    <a:p>
                      <a:pPr indent="0" marL="0">
                        <a:buNone/>
                      </a:pPr>
                      <a:r>
                        <a:rPr lang="en-US" sz="1500" dirty="0">
                          <a:solidFill>
                            <a:srgbClr val="333333"/>
                          </a:solidFill>
                          <a:latin typeface="Yu Gothic" pitchFamily="34" charset="0"/>
                          <a:ea typeface="Yu Gothic" pitchFamily="34" charset="-122"/>
                          <a:cs typeface="Yu Gothic" pitchFamily="34" charset="-120"/>
                        </a:rPr>
                        <a:t>実質 約11万円</a:t>
                      </a:r>
                      <a:endParaRPr lang="en-US" sz="1500" dirty="0">
                        <a:latin typeface="Yu Gothic" charset="0"/>
                        <a:ea typeface="Yu Gothic" charset="0"/>
                        <a:cs typeface="Yu Gothic" charset="0"/>
                      </a:endParaRPr>
                    </a:p>
                  </a:txBody>
                  <a:tcPr marL="109728" marR="109728" marT="109728" marB="109728" anchor="ctr">
                    <a:lnL w="12700" cap="flat" cmpd="sng" algn="ctr">
                      <a:solidFill>
                        <a:srgbClr val="D5DEF0"/>
                      </a:solidFill>
                      <a:prstDash val="solid"/>
                      <a:round/>
                      <a:headEnd type="none" w="med" len="med"/>
                      <a:tailEnd type="none" w="med" len="med"/>
                    </a:lnL>
                    <a:lnR w="12700" cap="flat" cmpd="sng" algn="ctr">
                      <a:solidFill>
                        <a:srgbClr val="D5DEF0"/>
                      </a:solidFill>
                      <a:prstDash val="solid"/>
                      <a:round/>
                      <a:headEnd type="none" w="med" len="med"/>
                      <a:tailEnd type="none" w="med" len="med"/>
                    </a:lnR>
                    <a:lnT w="12700" cap="flat" cmpd="sng" algn="ctr">
                      <a:solidFill>
                        <a:srgbClr val="D5DEF0"/>
                      </a:solidFill>
                      <a:prstDash val="solid"/>
                      <a:round/>
                      <a:headEnd type="none" w="med" len="med"/>
                      <a:tailEnd type="none" w="med" len="med"/>
                    </a:lnT>
                    <a:lnB w="12700" cap="flat" cmpd="sng" algn="ctr">
                      <a:solidFill>
                        <a:srgbClr val="D5DEF0"/>
                      </a:solidFill>
                      <a:prstDash val="solid"/>
                      <a:round/>
                      <a:headEnd type="none" w="med" len="med"/>
                      <a:tailEnd type="none" w="med" len="med"/>
                    </a:lnB>
                    <a:solidFill>
                      <a:srgbClr val="FFFFFF"/>
                    </a:solidFill>
                  </a:tcPr>
                </a:tc>
              </a:tr>
            </a:tbl>
          </a:graphicData>
        </a:graphic>
      </p:graphicFrame>
      <p:sp>
        <p:nvSpPr>
          <p:cNvPr id="4" name="Shape 1"/>
          <p:cNvSpPr/>
          <p:nvPr/>
        </p:nvSpPr>
        <p:spPr>
          <a:xfrm>
            <a:off x="1463040" y="5257800"/>
            <a:ext cx="9235440" cy="777240"/>
          </a:xfrm>
          <a:prstGeom prst="roundRect">
            <a:avLst>
              <a:gd name="adj" fmla="val 11765"/>
            </a:avLst>
          </a:prstGeom>
          <a:solidFill>
            <a:srgbClr val="EEF3FC"/>
          </a:solidFill>
          <a:ln/>
        </p:spPr>
      </p:sp>
      <p:sp>
        <p:nvSpPr>
          <p:cNvPr id="5" name="Text 2"/>
          <p:cNvSpPr/>
          <p:nvPr/>
        </p:nvSpPr>
        <p:spPr>
          <a:xfrm>
            <a:off x="1737360" y="5257800"/>
            <a:ext cx="8778240" cy="777240"/>
          </a:xfrm>
          <a:prstGeom prst="rect">
            <a:avLst/>
          </a:prstGeom>
          <a:noFill/>
          <a:ln/>
        </p:spPr>
        <p:txBody>
          <a:bodyPr wrap="square" lIns="0" tIns="0" rIns="0" bIns="0" rtlCol="0" anchor="ctr"/>
          <a:lstStyle/>
          <a:p>
            <a:pPr indent="0" marL="0">
              <a:buNone/>
            </a:pPr>
            <a:r>
              <a:rPr lang="en-US" sz="1500" b="1" dirty="0">
                <a:solidFill>
                  <a:srgbClr val="1E2761"/>
                </a:solidFill>
                <a:latin typeface="Yu Gothic" pitchFamily="34" charset="0"/>
                <a:ea typeface="Yu Gothic" pitchFamily="34" charset="-122"/>
                <a:cs typeface="Yu Gothic" pitchFamily="34" charset="-120"/>
              </a:rPr>
              <a:t>200万円は重い。約38万円は、検討を今日始められる数字ではないでしょうか</a:t>
            </a:r>
            <a:endParaRPr lang="en-US" sz="1500" dirty="0"/>
          </a:p>
        </p:txBody>
      </p:sp>
      <p:sp>
        <p:nvSpPr>
          <p:cNvPr id="6" name="Text 3"/>
          <p:cNvSpPr/>
          <p:nvPr/>
        </p:nvSpPr>
        <p:spPr>
          <a:xfrm>
            <a:off x="1463040" y="6172200"/>
            <a:ext cx="9601200" cy="365760"/>
          </a:xfrm>
          <a:prstGeom prst="rect">
            <a:avLst/>
          </a:prstGeom>
          <a:noFill/>
          <a:ln/>
        </p:spPr>
        <p:txBody>
          <a:bodyPr wrap="square" lIns="0" tIns="0" rIns="0" bIns="0" rtlCol="0" anchor="ctr"/>
          <a:lstStyle/>
          <a:p>
            <a:pPr indent="0" marL="0">
              <a:buNone/>
            </a:pPr>
            <a:r>
              <a:rPr lang="en-US" sz="1100" i="1" dirty="0">
                <a:solidFill>
                  <a:srgbClr val="6B7280"/>
                </a:solidFill>
                <a:latin typeface="Yu Gothic" pitchFamily="34" charset="0"/>
                <a:ea typeface="Yu Gothic" pitchFamily="34" charset="-122"/>
                <a:cs typeface="Yu Gothic" pitchFamily="34" charset="-120"/>
              </a:rPr>
              <a:t>※ 金額は例。対象は雇用保険加入の従業員（経費助成には1人あたり上限額あり）。申請は貴社から労働局へ行い、支給決定は審査によります。申請代行は行いません（社会保険労務士の業務）</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動くなら逆算 — 「逆算カレンダー」と「相談先マップ」を配布します</a:t>
            </a:r>
            <a:endParaRPr lang="en-US" sz="2700" dirty="0"/>
          </a:p>
        </p:txBody>
      </p:sp>
      <p:sp>
        <p:nvSpPr>
          <p:cNvPr id="3" name="Shape 1"/>
          <p:cNvSpPr/>
          <p:nvPr/>
        </p:nvSpPr>
        <p:spPr>
          <a:xfrm>
            <a:off x="403708" y="1554480"/>
            <a:ext cx="2606040" cy="2377440"/>
          </a:xfrm>
          <a:prstGeom prst="roundRect">
            <a:avLst>
              <a:gd name="adj" fmla="val 4615"/>
            </a:avLst>
          </a:prstGeom>
          <a:solidFill>
            <a:srgbClr val="EEF3FC"/>
          </a:solidFill>
          <a:ln/>
        </p:spPr>
      </p:sp>
      <p:sp>
        <p:nvSpPr>
          <p:cNvPr id="4" name="Shape 2"/>
          <p:cNvSpPr/>
          <p:nvPr/>
        </p:nvSpPr>
        <p:spPr>
          <a:xfrm>
            <a:off x="632308" y="1783080"/>
            <a:ext cx="548640" cy="548640"/>
          </a:xfrm>
          <a:prstGeom prst="ellipse">
            <a:avLst/>
          </a:prstGeom>
          <a:solidFill>
            <a:srgbClr val="1E2761"/>
          </a:solidFill>
          <a:ln/>
        </p:spPr>
      </p:sp>
      <p:sp>
        <p:nvSpPr>
          <p:cNvPr id="5" name="Text 3"/>
          <p:cNvSpPr/>
          <p:nvPr/>
        </p:nvSpPr>
        <p:spPr>
          <a:xfrm>
            <a:off x="632308" y="1783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1</a:t>
            </a:r>
            <a:endParaRPr lang="en-US" sz="1600" dirty="0"/>
          </a:p>
        </p:txBody>
      </p:sp>
      <p:sp>
        <p:nvSpPr>
          <p:cNvPr id="6" name="Text 4"/>
          <p:cNvSpPr/>
          <p:nvPr/>
        </p:nvSpPr>
        <p:spPr>
          <a:xfrm>
            <a:off x="1318108" y="1847088"/>
            <a:ext cx="1508760" cy="411480"/>
          </a:xfrm>
          <a:prstGeom prst="rect">
            <a:avLst/>
          </a:prstGeom>
          <a:noFill/>
          <a:ln/>
        </p:spPr>
        <p:txBody>
          <a:bodyPr wrap="square" lIns="0" tIns="0" rIns="0" bIns="0" rtlCol="0" anchor="ctr"/>
          <a:lstStyle/>
          <a:p>
            <a:pPr indent="0" marL="0">
              <a:buNone/>
            </a:pPr>
            <a:r>
              <a:rPr lang="en-US" sz="1300" b="1" dirty="0">
                <a:solidFill>
                  <a:srgbClr val="E8A33D"/>
                </a:solidFill>
                <a:latin typeface="Yu Gothic" pitchFamily="34" charset="0"/>
                <a:ea typeface="Yu Gothic" pitchFamily="34" charset="-122"/>
                <a:cs typeface="Yu Gothic" pitchFamily="34" charset="-120"/>
              </a:rPr>
              <a:t>今月</a:t>
            </a:r>
            <a:endParaRPr lang="en-US" sz="1300" dirty="0"/>
          </a:p>
        </p:txBody>
      </p:sp>
      <p:sp>
        <p:nvSpPr>
          <p:cNvPr id="7" name="Text 5"/>
          <p:cNvSpPr/>
          <p:nvPr/>
        </p:nvSpPr>
        <p:spPr>
          <a:xfrm>
            <a:off x="632308" y="2468880"/>
            <a:ext cx="2148840" cy="457200"/>
          </a:xfrm>
          <a:prstGeom prst="rect">
            <a:avLst/>
          </a:prstGeom>
          <a:noFill/>
          <a:ln/>
        </p:spPr>
        <p:txBody>
          <a:bodyPr wrap="square" lIns="0" tIns="0" rIns="0" bIns="0" rtlCol="0" anchor="ctr"/>
          <a:lstStyle/>
          <a:p>
            <a:pPr indent="0" marL="0">
              <a:buNone/>
            </a:pPr>
            <a:r>
              <a:rPr lang="en-US" sz="1450" b="1" dirty="0">
                <a:solidFill>
                  <a:srgbClr val="1E2761"/>
                </a:solidFill>
                <a:latin typeface="Yu Gothic" pitchFamily="34" charset="0"/>
                <a:ea typeface="Yu Gothic" pitchFamily="34" charset="-122"/>
                <a:cs typeface="Yu Gothic" pitchFamily="34" charset="-120"/>
              </a:rPr>
              <a:t>対象・内容を決める</a:t>
            </a:r>
            <a:endParaRPr lang="en-US" sz="1450" dirty="0"/>
          </a:p>
        </p:txBody>
      </p:sp>
      <p:sp>
        <p:nvSpPr>
          <p:cNvPr id="8" name="Text 6"/>
          <p:cNvSpPr/>
          <p:nvPr/>
        </p:nvSpPr>
        <p:spPr>
          <a:xfrm>
            <a:off x="632308" y="2971800"/>
            <a:ext cx="2148840" cy="822960"/>
          </a:xfrm>
          <a:prstGeom prst="rect">
            <a:avLst/>
          </a:prstGeom>
          <a:noFill/>
          <a:ln/>
        </p:spPr>
        <p:txBody>
          <a:bodyPr wrap="square" lIns="0" tIns="0" rIns="0" bIns="0" rtlCol="0" anchor="ctr"/>
          <a:lstStyle/>
          <a:p>
            <a:pPr indent="0" marL="0">
              <a:lnSpc>
                <a:spcPct val="125000"/>
              </a:lnSpc>
              <a:buNone/>
            </a:pPr>
            <a:r>
              <a:rPr lang="en-US" sz="1150" dirty="0">
                <a:solidFill>
                  <a:srgbClr val="333333"/>
                </a:solidFill>
                <a:latin typeface="Yu Gothic" pitchFamily="34" charset="0"/>
                <a:ea typeface="Yu Gothic" pitchFamily="34" charset="-122"/>
                <a:cs typeface="Yu Gothic" pitchFamily="34" charset="-120"/>
              </a:rPr>
              <a:t>誰に・何を・何時間（10時間以上）</a:t>
            </a:r>
            <a:endParaRPr lang="en-US" sz="1150" dirty="0"/>
          </a:p>
        </p:txBody>
      </p:sp>
      <p:sp>
        <p:nvSpPr>
          <p:cNvPr id="9" name="Shape 7"/>
          <p:cNvSpPr/>
          <p:nvPr/>
        </p:nvSpPr>
        <p:spPr>
          <a:xfrm>
            <a:off x="3329788" y="1554480"/>
            <a:ext cx="2606040" cy="2377440"/>
          </a:xfrm>
          <a:prstGeom prst="roundRect">
            <a:avLst>
              <a:gd name="adj" fmla="val 4615"/>
            </a:avLst>
          </a:prstGeom>
          <a:solidFill>
            <a:srgbClr val="EEF3FC"/>
          </a:solidFill>
          <a:ln/>
        </p:spPr>
      </p:sp>
      <p:sp>
        <p:nvSpPr>
          <p:cNvPr id="10" name="Shape 8"/>
          <p:cNvSpPr/>
          <p:nvPr/>
        </p:nvSpPr>
        <p:spPr>
          <a:xfrm>
            <a:off x="3558388" y="1783080"/>
            <a:ext cx="548640" cy="548640"/>
          </a:xfrm>
          <a:prstGeom prst="ellipse">
            <a:avLst/>
          </a:prstGeom>
          <a:solidFill>
            <a:srgbClr val="1E2761"/>
          </a:solidFill>
          <a:ln/>
        </p:spPr>
      </p:sp>
      <p:sp>
        <p:nvSpPr>
          <p:cNvPr id="11" name="Text 9"/>
          <p:cNvSpPr/>
          <p:nvPr/>
        </p:nvSpPr>
        <p:spPr>
          <a:xfrm>
            <a:off x="3558388" y="1783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2</a:t>
            </a:r>
            <a:endParaRPr lang="en-US" sz="1600" dirty="0"/>
          </a:p>
        </p:txBody>
      </p:sp>
      <p:sp>
        <p:nvSpPr>
          <p:cNvPr id="12" name="Text 10"/>
          <p:cNvSpPr/>
          <p:nvPr/>
        </p:nvSpPr>
        <p:spPr>
          <a:xfrm>
            <a:off x="4244188" y="1847088"/>
            <a:ext cx="1508760" cy="411480"/>
          </a:xfrm>
          <a:prstGeom prst="rect">
            <a:avLst/>
          </a:prstGeom>
          <a:noFill/>
          <a:ln/>
        </p:spPr>
        <p:txBody>
          <a:bodyPr wrap="square" lIns="0" tIns="0" rIns="0" bIns="0" rtlCol="0" anchor="ctr"/>
          <a:lstStyle/>
          <a:p>
            <a:pPr indent="0" marL="0">
              <a:buNone/>
            </a:pPr>
            <a:r>
              <a:rPr lang="en-US" sz="1300" b="1" dirty="0">
                <a:solidFill>
                  <a:srgbClr val="E8A33D"/>
                </a:solidFill>
                <a:latin typeface="Yu Gothic" pitchFamily="34" charset="0"/>
                <a:ea typeface="Yu Gothic" pitchFamily="34" charset="-122"/>
                <a:cs typeface="Yu Gothic" pitchFamily="34" charset="-120"/>
              </a:rPr>
              <a:t>1か月前</a:t>
            </a:r>
            <a:endParaRPr lang="en-US" sz="1300" dirty="0"/>
          </a:p>
        </p:txBody>
      </p:sp>
      <p:sp>
        <p:nvSpPr>
          <p:cNvPr id="13" name="Text 11"/>
          <p:cNvSpPr/>
          <p:nvPr/>
        </p:nvSpPr>
        <p:spPr>
          <a:xfrm>
            <a:off x="3558388" y="2468880"/>
            <a:ext cx="2148840" cy="457200"/>
          </a:xfrm>
          <a:prstGeom prst="rect">
            <a:avLst/>
          </a:prstGeom>
          <a:noFill/>
          <a:ln/>
        </p:spPr>
        <p:txBody>
          <a:bodyPr wrap="square" lIns="0" tIns="0" rIns="0" bIns="0" rtlCol="0" anchor="ctr"/>
          <a:lstStyle/>
          <a:p>
            <a:pPr indent="0" marL="0">
              <a:buNone/>
            </a:pPr>
            <a:r>
              <a:rPr lang="en-US" sz="1450" b="1" dirty="0">
                <a:solidFill>
                  <a:srgbClr val="1E2761"/>
                </a:solidFill>
                <a:latin typeface="Yu Gothic" pitchFamily="34" charset="0"/>
                <a:ea typeface="Yu Gothic" pitchFamily="34" charset="-122"/>
                <a:cs typeface="Yu Gothic" pitchFamily="34" charset="-120"/>
              </a:rPr>
              <a:t>計画届を労働局へ</a:t>
            </a:r>
            <a:endParaRPr lang="en-US" sz="1450" dirty="0"/>
          </a:p>
        </p:txBody>
      </p:sp>
      <p:sp>
        <p:nvSpPr>
          <p:cNvPr id="14" name="Text 12"/>
          <p:cNvSpPr/>
          <p:nvPr/>
        </p:nvSpPr>
        <p:spPr>
          <a:xfrm>
            <a:off x="3558388" y="2971800"/>
            <a:ext cx="2148840" cy="822960"/>
          </a:xfrm>
          <a:prstGeom prst="rect">
            <a:avLst/>
          </a:prstGeom>
          <a:noFill/>
          <a:ln/>
        </p:spPr>
        <p:txBody>
          <a:bodyPr wrap="square" lIns="0" tIns="0" rIns="0" bIns="0" rtlCol="0" anchor="ctr"/>
          <a:lstStyle/>
          <a:p>
            <a:pPr indent="0" marL="0">
              <a:lnSpc>
                <a:spcPct val="125000"/>
              </a:lnSpc>
              <a:buNone/>
            </a:pPr>
            <a:r>
              <a:rPr lang="en-US" sz="1150" dirty="0">
                <a:solidFill>
                  <a:srgbClr val="333333"/>
                </a:solidFill>
                <a:latin typeface="Yu Gothic" pitchFamily="34" charset="0"/>
                <a:ea typeface="Yu Gothic" pitchFamily="34" charset="-122"/>
                <a:cs typeface="Yu Gothic" pitchFamily="34" charset="-120"/>
              </a:rPr>
              <a:t>訓練開始の1か月前が締切</a:t>
            </a:r>
            <a:endParaRPr lang="en-US" sz="1150" dirty="0"/>
          </a:p>
        </p:txBody>
      </p:sp>
      <p:sp>
        <p:nvSpPr>
          <p:cNvPr id="15" name="Shape 13"/>
          <p:cNvSpPr/>
          <p:nvPr/>
        </p:nvSpPr>
        <p:spPr>
          <a:xfrm>
            <a:off x="6255868" y="1554480"/>
            <a:ext cx="2606040" cy="2377440"/>
          </a:xfrm>
          <a:prstGeom prst="roundRect">
            <a:avLst>
              <a:gd name="adj" fmla="val 4615"/>
            </a:avLst>
          </a:prstGeom>
          <a:solidFill>
            <a:srgbClr val="EEF3FC"/>
          </a:solidFill>
          <a:ln/>
        </p:spPr>
      </p:sp>
      <p:sp>
        <p:nvSpPr>
          <p:cNvPr id="16" name="Shape 14"/>
          <p:cNvSpPr/>
          <p:nvPr/>
        </p:nvSpPr>
        <p:spPr>
          <a:xfrm>
            <a:off x="6484468" y="1783080"/>
            <a:ext cx="548640" cy="548640"/>
          </a:xfrm>
          <a:prstGeom prst="ellipse">
            <a:avLst/>
          </a:prstGeom>
          <a:solidFill>
            <a:srgbClr val="1E2761"/>
          </a:solidFill>
          <a:ln/>
        </p:spPr>
      </p:sp>
      <p:sp>
        <p:nvSpPr>
          <p:cNvPr id="17" name="Text 15"/>
          <p:cNvSpPr/>
          <p:nvPr/>
        </p:nvSpPr>
        <p:spPr>
          <a:xfrm>
            <a:off x="6484468" y="1783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3</a:t>
            </a:r>
            <a:endParaRPr lang="en-US" sz="1600" dirty="0"/>
          </a:p>
        </p:txBody>
      </p:sp>
      <p:sp>
        <p:nvSpPr>
          <p:cNvPr id="18" name="Text 16"/>
          <p:cNvSpPr/>
          <p:nvPr/>
        </p:nvSpPr>
        <p:spPr>
          <a:xfrm>
            <a:off x="7170268" y="1847088"/>
            <a:ext cx="1508760" cy="411480"/>
          </a:xfrm>
          <a:prstGeom prst="rect">
            <a:avLst/>
          </a:prstGeom>
          <a:noFill/>
          <a:ln/>
        </p:spPr>
        <p:txBody>
          <a:bodyPr wrap="square" lIns="0" tIns="0" rIns="0" bIns="0" rtlCol="0" anchor="ctr"/>
          <a:lstStyle/>
          <a:p>
            <a:pPr indent="0" marL="0">
              <a:buNone/>
            </a:pPr>
            <a:r>
              <a:rPr lang="en-US" sz="1300" b="1" dirty="0">
                <a:solidFill>
                  <a:srgbClr val="E8A33D"/>
                </a:solidFill>
                <a:latin typeface="Yu Gothic" pitchFamily="34" charset="0"/>
                <a:ea typeface="Yu Gothic" pitchFamily="34" charset="-122"/>
                <a:cs typeface="Yu Gothic" pitchFamily="34" charset="-120"/>
              </a:rPr>
              <a:t>実施</a:t>
            </a:r>
            <a:endParaRPr lang="en-US" sz="1300" dirty="0"/>
          </a:p>
        </p:txBody>
      </p:sp>
      <p:sp>
        <p:nvSpPr>
          <p:cNvPr id="19" name="Text 17"/>
          <p:cNvSpPr/>
          <p:nvPr/>
        </p:nvSpPr>
        <p:spPr>
          <a:xfrm>
            <a:off x="6484468" y="2468880"/>
            <a:ext cx="2148840" cy="457200"/>
          </a:xfrm>
          <a:prstGeom prst="rect">
            <a:avLst/>
          </a:prstGeom>
          <a:noFill/>
          <a:ln/>
        </p:spPr>
        <p:txBody>
          <a:bodyPr wrap="square" lIns="0" tIns="0" rIns="0" bIns="0" rtlCol="0" anchor="ctr"/>
          <a:lstStyle/>
          <a:p>
            <a:pPr indent="0" marL="0">
              <a:buNone/>
            </a:pPr>
            <a:r>
              <a:rPr lang="en-US" sz="1450" b="1" dirty="0">
                <a:solidFill>
                  <a:srgbClr val="1E2761"/>
                </a:solidFill>
                <a:latin typeface="Yu Gothic" pitchFamily="34" charset="0"/>
                <a:ea typeface="Yu Gothic" pitchFamily="34" charset="-122"/>
                <a:cs typeface="Yu Gothic" pitchFamily="34" charset="-120"/>
              </a:rPr>
              <a:t>研修スタート</a:t>
            </a:r>
            <a:endParaRPr lang="en-US" sz="1450" dirty="0"/>
          </a:p>
        </p:txBody>
      </p:sp>
      <p:sp>
        <p:nvSpPr>
          <p:cNvPr id="20" name="Text 18"/>
          <p:cNvSpPr/>
          <p:nvPr/>
        </p:nvSpPr>
        <p:spPr>
          <a:xfrm>
            <a:off x="6484468" y="2971800"/>
            <a:ext cx="2148840" cy="822960"/>
          </a:xfrm>
          <a:prstGeom prst="rect">
            <a:avLst/>
          </a:prstGeom>
          <a:noFill/>
          <a:ln/>
        </p:spPr>
        <p:txBody>
          <a:bodyPr wrap="square" lIns="0" tIns="0" rIns="0" bIns="0" rtlCol="0" anchor="ctr"/>
          <a:lstStyle/>
          <a:p>
            <a:pPr indent="0" marL="0">
              <a:lnSpc>
                <a:spcPct val="125000"/>
              </a:lnSpc>
              <a:buNone/>
            </a:pPr>
            <a:r>
              <a:rPr lang="en-US" sz="1150" dirty="0">
                <a:solidFill>
                  <a:srgbClr val="333333"/>
                </a:solidFill>
                <a:latin typeface="Yu Gothic" pitchFamily="34" charset="0"/>
                <a:ea typeface="Yu Gothic" pitchFamily="34" charset="-122"/>
                <a:cs typeface="Yu Gothic" pitchFamily="34" charset="-120"/>
              </a:rPr>
              <a:t>出席簿・実施記録を保管</a:t>
            </a:r>
            <a:endParaRPr lang="en-US" sz="1150" dirty="0"/>
          </a:p>
        </p:txBody>
      </p:sp>
      <p:sp>
        <p:nvSpPr>
          <p:cNvPr id="21" name="Shape 19"/>
          <p:cNvSpPr/>
          <p:nvPr/>
        </p:nvSpPr>
        <p:spPr>
          <a:xfrm>
            <a:off x="9181948" y="1554480"/>
            <a:ext cx="2606040" cy="2377440"/>
          </a:xfrm>
          <a:prstGeom prst="roundRect">
            <a:avLst>
              <a:gd name="adj" fmla="val 4615"/>
            </a:avLst>
          </a:prstGeom>
          <a:solidFill>
            <a:srgbClr val="EEF3FC"/>
          </a:solidFill>
          <a:ln/>
        </p:spPr>
      </p:sp>
      <p:sp>
        <p:nvSpPr>
          <p:cNvPr id="22" name="Shape 20"/>
          <p:cNvSpPr/>
          <p:nvPr/>
        </p:nvSpPr>
        <p:spPr>
          <a:xfrm>
            <a:off x="9410548" y="1783080"/>
            <a:ext cx="548640" cy="548640"/>
          </a:xfrm>
          <a:prstGeom prst="ellipse">
            <a:avLst/>
          </a:prstGeom>
          <a:solidFill>
            <a:srgbClr val="1E2761"/>
          </a:solidFill>
          <a:ln/>
        </p:spPr>
      </p:sp>
      <p:sp>
        <p:nvSpPr>
          <p:cNvPr id="23" name="Text 21"/>
          <p:cNvSpPr/>
          <p:nvPr/>
        </p:nvSpPr>
        <p:spPr>
          <a:xfrm>
            <a:off x="9410548" y="1783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4</a:t>
            </a:r>
            <a:endParaRPr lang="en-US" sz="1600" dirty="0"/>
          </a:p>
        </p:txBody>
      </p:sp>
      <p:sp>
        <p:nvSpPr>
          <p:cNvPr id="24" name="Text 22"/>
          <p:cNvSpPr/>
          <p:nvPr/>
        </p:nvSpPr>
        <p:spPr>
          <a:xfrm>
            <a:off x="10096348" y="1847088"/>
            <a:ext cx="1508760" cy="411480"/>
          </a:xfrm>
          <a:prstGeom prst="rect">
            <a:avLst/>
          </a:prstGeom>
          <a:noFill/>
          <a:ln/>
        </p:spPr>
        <p:txBody>
          <a:bodyPr wrap="square" lIns="0" tIns="0" rIns="0" bIns="0" rtlCol="0" anchor="ctr"/>
          <a:lstStyle/>
          <a:p>
            <a:pPr indent="0" marL="0">
              <a:buNone/>
            </a:pPr>
            <a:r>
              <a:rPr lang="en-US" sz="1300" b="1" dirty="0">
                <a:solidFill>
                  <a:srgbClr val="E8A33D"/>
                </a:solidFill>
                <a:latin typeface="Yu Gothic" pitchFamily="34" charset="0"/>
                <a:ea typeface="Yu Gothic" pitchFamily="34" charset="-122"/>
                <a:cs typeface="Yu Gothic" pitchFamily="34" charset="-120"/>
              </a:rPr>
              <a:t>修了後</a:t>
            </a:r>
            <a:endParaRPr lang="en-US" sz="1300" dirty="0"/>
          </a:p>
        </p:txBody>
      </p:sp>
      <p:sp>
        <p:nvSpPr>
          <p:cNvPr id="25" name="Text 23"/>
          <p:cNvSpPr/>
          <p:nvPr/>
        </p:nvSpPr>
        <p:spPr>
          <a:xfrm>
            <a:off x="9410548" y="2468880"/>
            <a:ext cx="2148840" cy="457200"/>
          </a:xfrm>
          <a:prstGeom prst="rect">
            <a:avLst/>
          </a:prstGeom>
          <a:noFill/>
          <a:ln/>
        </p:spPr>
        <p:txBody>
          <a:bodyPr wrap="square" lIns="0" tIns="0" rIns="0" bIns="0" rtlCol="0" anchor="ctr"/>
          <a:lstStyle/>
          <a:p>
            <a:pPr indent="0" marL="0">
              <a:buNone/>
            </a:pPr>
            <a:r>
              <a:rPr lang="en-US" sz="1450" b="1" dirty="0">
                <a:solidFill>
                  <a:srgbClr val="1E2761"/>
                </a:solidFill>
                <a:latin typeface="Yu Gothic" pitchFamily="34" charset="0"/>
                <a:ea typeface="Yu Gothic" pitchFamily="34" charset="-122"/>
                <a:cs typeface="Yu Gothic" pitchFamily="34" charset="-120"/>
              </a:rPr>
              <a:t>支給申請</a:t>
            </a:r>
            <a:endParaRPr lang="en-US" sz="1450" dirty="0"/>
          </a:p>
        </p:txBody>
      </p:sp>
      <p:sp>
        <p:nvSpPr>
          <p:cNvPr id="26" name="Text 24"/>
          <p:cNvSpPr/>
          <p:nvPr/>
        </p:nvSpPr>
        <p:spPr>
          <a:xfrm>
            <a:off x="9410548" y="2971800"/>
            <a:ext cx="2148840" cy="822960"/>
          </a:xfrm>
          <a:prstGeom prst="rect">
            <a:avLst/>
          </a:prstGeom>
          <a:noFill/>
          <a:ln/>
        </p:spPr>
        <p:txBody>
          <a:bodyPr wrap="square" lIns="0" tIns="0" rIns="0" bIns="0" rtlCol="0" anchor="ctr"/>
          <a:lstStyle/>
          <a:p>
            <a:pPr indent="0" marL="0">
              <a:lnSpc>
                <a:spcPct val="125000"/>
              </a:lnSpc>
              <a:buNone/>
            </a:pPr>
            <a:r>
              <a:rPr lang="en-US" sz="1150" dirty="0">
                <a:solidFill>
                  <a:srgbClr val="333333"/>
                </a:solidFill>
                <a:latin typeface="Yu Gothic" pitchFamily="34" charset="0"/>
                <a:ea typeface="Yu Gothic" pitchFamily="34" charset="-122"/>
                <a:cs typeface="Yu Gothic" pitchFamily="34" charset="-120"/>
              </a:rPr>
              <a:t>申請 → 審査 → 振込</a:t>
            </a:r>
            <a:endParaRPr lang="en-US" sz="1150" dirty="0"/>
          </a:p>
        </p:txBody>
      </p:sp>
      <p:sp>
        <p:nvSpPr>
          <p:cNvPr id="27" name="Shape 25"/>
          <p:cNvSpPr/>
          <p:nvPr/>
        </p:nvSpPr>
        <p:spPr>
          <a:xfrm>
            <a:off x="822960" y="4297680"/>
            <a:ext cx="10515600" cy="1554480"/>
          </a:xfrm>
          <a:prstGeom prst="roundRect">
            <a:avLst>
              <a:gd name="adj" fmla="val 7059"/>
            </a:avLst>
          </a:prstGeom>
          <a:solidFill>
            <a:srgbClr val="1E2761"/>
          </a:solidFill>
          <a:ln/>
        </p:spPr>
      </p:sp>
      <p:sp>
        <p:nvSpPr>
          <p:cNvPr id="28" name="Shape 26"/>
          <p:cNvSpPr/>
          <p:nvPr/>
        </p:nvSpPr>
        <p:spPr>
          <a:xfrm>
            <a:off x="1143000" y="4617720"/>
            <a:ext cx="914400" cy="914400"/>
          </a:xfrm>
          <a:prstGeom prst="ellipse">
            <a:avLst/>
          </a:prstGeom>
          <a:solidFill>
            <a:srgbClr val="2A3778"/>
          </a:solidFill>
          <a:ln/>
        </p:spPr>
      </p:sp>
      <p:pic>
        <p:nvPicPr>
          <p:cNvPr id="29" name="Image 0" descr="preencoded.png">    </p:cNvPr>
          <p:cNvPicPr>
            <a:picLocks noChangeAspect="1"/>
          </p:cNvPicPr>
          <p:nvPr/>
        </p:nvPicPr>
        <p:blipFill>
          <a:blip r:embed="rId1"/>
          <a:stretch>
            <a:fillRect/>
          </a:stretch>
        </p:blipFill>
        <p:spPr>
          <a:xfrm>
            <a:off x="1380744" y="4855464"/>
            <a:ext cx="438912" cy="438912"/>
          </a:xfrm>
          <a:prstGeom prst="rect">
            <a:avLst/>
          </a:prstGeom>
        </p:spPr>
      </p:pic>
      <p:sp>
        <p:nvSpPr>
          <p:cNvPr id="30" name="Text 27"/>
          <p:cNvSpPr/>
          <p:nvPr/>
        </p:nvSpPr>
        <p:spPr>
          <a:xfrm>
            <a:off x="2331720" y="4526280"/>
            <a:ext cx="8778240" cy="457200"/>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配布：申請の相談先マップ（A4・1枚）</a:t>
            </a:r>
            <a:endParaRPr lang="en-US" sz="1600" dirty="0"/>
          </a:p>
        </p:txBody>
      </p:sp>
      <p:sp>
        <p:nvSpPr>
          <p:cNvPr id="31" name="Text 28"/>
          <p:cNvSpPr/>
          <p:nvPr/>
        </p:nvSpPr>
        <p:spPr>
          <a:xfrm>
            <a:off x="2331720" y="5029200"/>
            <a:ext cx="8778240" cy="685800"/>
          </a:xfrm>
          <a:prstGeom prst="rect">
            <a:avLst/>
          </a:prstGeom>
          <a:noFill/>
          <a:ln/>
        </p:spPr>
        <p:txBody>
          <a:bodyPr wrap="square" lIns="0" tIns="0" rIns="0" bIns="0" rtlCol="0" anchor="ctr"/>
          <a:lstStyle/>
          <a:p>
            <a:pPr indent="0" marL="0">
              <a:lnSpc>
                <a:spcPct val="130000"/>
              </a:lnSpc>
              <a:buNone/>
            </a:pPr>
            <a:r>
              <a:rPr lang="en-US" sz="1250" dirty="0">
                <a:solidFill>
                  <a:srgbClr val="CADCFC"/>
                </a:solidFill>
                <a:latin typeface="Yu Gothic" pitchFamily="34" charset="0"/>
                <a:ea typeface="Yu Gothic" pitchFamily="34" charset="-122"/>
                <a:cs typeface="Yu Gothic" pitchFamily="34" charset="-120"/>
              </a:rPr>
              <a:t>神奈川労働局の助成金窓口／商工会議所の経営指導員（会員は無料相談可）／社労士会の紹介窓口 — どこに何を聞けばいいかを1枚に</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320040"/>
            <a:ext cx="11094415" cy="685800"/>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まとめ — 今日、皆さんのスマホの中にあるもの</a:t>
            </a:r>
            <a:endParaRPr lang="en-US" sz="2700" dirty="0"/>
          </a:p>
        </p:txBody>
      </p:sp>
      <p:sp>
        <p:nvSpPr>
          <p:cNvPr id="3" name="Shape 1"/>
          <p:cNvSpPr/>
          <p:nvPr/>
        </p:nvSpPr>
        <p:spPr>
          <a:xfrm>
            <a:off x="822960" y="1554480"/>
            <a:ext cx="10515600" cy="1170432"/>
          </a:xfrm>
          <a:prstGeom prst="roundRect">
            <a:avLst>
              <a:gd name="adj" fmla="val 9375"/>
            </a:avLst>
          </a:prstGeom>
          <a:solidFill>
            <a:srgbClr val="EEF3FC"/>
          </a:solidFill>
          <a:ln/>
        </p:spPr>
      </p:sp>
      <p:sp>
        <p:nvSpPr>
          <p:cNvPr id="4" name="Shape 2"/>
          <p:cNvSpPr/>
          <p:nvPr/>
        </p:nvSpPr>
        <p:spPr>
          <a:xfrm>
            <a:off x="1097280" y="1819656"/>
            <a:ext cx="640080" cy="640080"/>
          </a:xfrm>
          <a:prstGeom prst="ellipse">
            <a:avLst/>
          </a:prstGeom>
          <a:solidFill>
            <a:srgbClr val="1E2761"/>
          </a:solidFill>
          <a:ln/>
        </p:spPr>
      </p:sp>
      <p:sp>
        <p:nvSpPr>
          <p:cNvPr id="5" name="Text 3"/>
          <p:cNvSpPr/>
          <p:nvPr/>
        </p:nvSpPr>
        <p:spPr>
          <a:xfrm>
            <a:off x="1097280" y="181965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6" name="Text 4"/>
          <p:cNvSpPr/>
          <p:nvPr/>
        </p:nvSpPr>
        <p:spPr>
          <a:xfrm>
            <a:off x="2011680" y="1682496"/>
            <a:ext cx="9052560" cy="457200"/>
          </a:xfrm>
          <a:prstGeom prst="rect">
            <a:avLst/>
          </a:prstGeom>
          <a:noFill/>
          <a:ln/>
        </p:spPr>
        <p:txBody>
          <a:bodyPr wrap="square" lIns="0" tIns="0" rIns="0" bIns="0" rtlCol="0" anchor="ctr"/>
          <a:lstStyle/>
          <a:p>
            <a:pPr indent="0" marL="0">
              <a:buNone/>
            </a:pPr>
            <a:r>
              <a:rPr lang="en-US" sz="1650" b="1" dirty="0">
                <a:solidFill>
                  <a:srgbClr val="1E2761"/>
                </a:solidFill>
                <a:latin typeface="Yu Gothic" pitchFamily="34" charset="0"/>
                <a:ea typeface="Yu Gothic" pitchFamily="34" charset="-122"/>
                <a:cs typeface="Yu Gothic" pitchFamily="34" charset="-120"/>
              </a:rPr>
              <a:t>AIによる自社の辛口診断書</a:t>
            </a:r>
            <a:endParaRPr lang="en-US" sz="1650" dirty="0"/>
          </a:p>
        </p:txBody>
      </p:sp>
      <p:sp>
        <p:nvSpPr>
          <p:cNvPr id="7" name="Text 5"/>
          <p:cNvSpPr/>
          <p:nvPr/>
        </p:nvSpPr>
        <p:spPr>
          <a:xfrm>
            <a:off x="2011680" y="2157984"/>
            <a:ext cx="9052560" cy="457200"/>
          </a:xfrm>
          <a:prstGeom prst="rect">
            <a:avLst/>
          </a:prstGeom>
          <a:noFill/>
          <a:ln/>
        </p:spPr>
        <p:txBody>
          <a:bodyPr wrap="square" lIns="0" tIns="0" rIns="0" bIns="0" rtlCol="0" anchor="ctr"/>
          <a:lstStyle/>
          <a:p>
            <a:pPr indent="0" marL="0">
              <a:buNone/>
            </a:pPr>
            <a:r>
              <a:rPr lang="en-US" sz="1300" dirty="0">
                <a:solidFill>
                  <a:srgbClr val="333333"/>
                </a:solidFill>
                <a:latin typeface="Yu Gothic" pitchFamily="34" charset="0"/>
                <a:ea typeface="Yu Gothic" pitchFamily="34" charset="-122"/>
                <a:cs typeface="Yu Gothic" pitchFamily="34" charset="-120"/>
              </a:rPr>
              <a:t>帰りの電車でもう一度読む。図星の指摘が、次の一手のヒント</a:t>
            </a:r>
            <a:endParaRPr lang="en-US" sz="1300" dirty="0"/>
          </a:p>
        </p:txBody>
      </p:sp>
      <p:sp>
        <p:nvSpPr>
          <p:cNvPr id="8" name="Shape 6"/>
          <p:cNvSpPr/>
          <p:nvPr/>
        </p:nvSpPr>
        <p:spPr>
          <a:xfrm>
            <a:off x="822960" y="2926080"/>
            <a:ext cx="10515600" cy="1170432"/>
          </a:xfrm>
          <a:prstGeom prst="roundRect">
            <a:avLst>
              <a:gd name="adj" fmla="val 9375"/>
            </a:avLst>
          </a:prstGeom>
          <a:solidFill>
            <a:srgbClr val="EEF3FC"/>
          </a:solidFill>
          <a:ln/>
        </p:spPr>
      </p:sp>
      <p:sp>
        <p:nvSpPr>
          <p:cNvPr id="9" name="Shape 7"/>
          <p:cNvSpPr/>
          <p:nvPr/>
        </p:nvSpPr>
        <p:spPr>
          <a:xfrm>
            <a:off x="1097280" y="3191256"/>
            <a:ext cx="640080" cy="640080"/>
          </a:xfrm>
          <a:prstGeom prst="ellipse">
            <a:avLst/>
          </a:prstGeom>
          <a:solidFill>
            <a:srgbClr val="1E2761"/>
          </a:solidFill>
          <a:ln/>
        </p:spPr>
      </p:sp>
      <p:sp>
        <p:nvSpPr>
          <p:cNvPr id="10" name="Text 8"/>
          <p:cNvSpPr/>
          <p:nvPr/>
        </p:nvSpPr>
        <p:spPr>
          <a:xfrm>
            <a:off x="1097280" y="319125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1" name="Text 9"/>
          <p:cNvSpPr/>
          <p:nvPr/>
        </p:nvSpPr>
        <p:spPr>
          <a:xfrm>
            <a:off x="2011680" y="3054096"/>
            <a:ext cx="9052560" cy="457200"/>
          </a:xfrm>
          <a:prstGeom prst="rect">
            <a:avLst/>
          </a:prstGeom>
          <a:noFill/>
          <a:ln/>
        </p:spPr>
        <p:txBody>
          <a:bodyPr wrap="square" lIns="0" tIns="0" rIns="0" bIns="0" rtlCol="0" anchor="ctr"/>
          <a:lstStyle/>
          <a:p>
            <a:pPr indent="0" marL="0">
              <a:buNone/>
            </a:pPr>
            <a:r>
              <a:rPr lang="en-US" sz="1650" b="1" dirty="0">
                <a:solidFill>
                  <a:srgbClr val="1E2761"/>
                </a:solidFill>
                <a:latin typeface="Yu Gothic" pitchFamily="34" charset="0"/>
                <a:ea typeface="Yu Gothic" pitchFamily="34" charset="-122"/>
                <a:cs typeface="Yu Gothic" pitchFamily="34" charset="-120"/>
              </a:rPr>
              <a:t>明日使う実文書（値上げ文 or 求人票）</a:t>
            </a:r>
            <a:endParaRPr lang="en-US" sz="1650" dirty="0"/>
          </a:p>
        </p:txBody>
      </p:sp>
      <p:sp>
        <p:nvSpPr>
          <p:cNvPr id="12" name="Text 10"/>
          <p:cNvSpPr/>
          <p:nvPr/>
        </p:nvSpPr>
        <p:spPr>
          <a:xfrm>
            <a:off x="2011680" y="3529584"/>
            <a:ext cx="9052560" cy="457200"/>
          </a:xfrm>
          <a:prstGeom prst="rect">
            <a:avLst/>
          </a:prstGeom>
          <a:noFill/>
          <a:ln/>
        </p:spPr>
        <p:txBody>
          <a:bodyPr wrap="square" lIns="0" tIns="0" rIns="0" bIns="0" rtlCol="0" anchor="ctr"/>
          <a:lstStyle/>
          <a:p>
            <a:pPr indent="0" marL="0">
              <a:buNone/>
            </a:pPr>
            <a:r>
              <a:rPr lang="en-US" sz="1300" dirty="0">
                <a:solidFill>
                  <a:srgbClr val="333333"/>
                </a:solidFill>
                <a:latin typeface="Yu Gothic" pitchFamily="34" charset="0"/>
                <a:ea typeface="Yu Gothic" pitchFamily="34" charset="-122"/>
                <a:cs typeface="Yu Gothic" pitchFamily="34" charset="-120"/>
              </a:rPr>
              <a:t>一晩置いて、自分の言葉に直してから使う</a:t>
            </a:r>
            <a:endParaRPr lang="en-US" sz="1300" dirty="0"/>
          </a:p>
        </p:txBody>
      </p:sp>
      <p:sp>
        <p:nvSpPr>
          <p:cNvPr id="13" name="Shape 11"/>
          <p:cNvSpPr/>
          <p:nvPr/>
        </p:nvSpPr>
        <p:spPr>
          <a:xfrm>
            <a:off x="822960" y="4297680"/>
            <a:ext cx="10515600" cy="1170432"/>
          </a:xfrm>
          <a:prstGeom prst="roundRect">
            <a:avLst>
              <a:gd name="adj" fmla="val 9375"/>
            </a:avLst>
          </a:prstGeom>
          <a:solidFill>
            <a:srgbClr val="EEF3FC"/>
          </a:solidFill>
          <a:ln/>
        </p:spPr>
      </p:sp>
      <p:sp>
        <p:nvSpPr>
          <p:cNvPr id="14" name="Shape 12"/>
          <p:cNvSpPr/>
          <p:nvPr/>
        </p:nvSpPr>
        <p:spPr>
          <a:xfrm>
            <a:off x="1097280" y="4562856"/>
            <a:ext cx="640080" cy="640080"/>
          </a:xfrm>
          <a:prstGeom prst="ellipse">
            <a:avLst/>
          </a:prstGeom>
          <a:solidFill>
            <a:srgbClr val="1E2761"/>
          </a:solidFill>
          <a:ln/>
        </p:spPr>
      </p:sp>
      <p:sp>
        <p:nvSpPr>
          <p:cNvPr id="15" name="Text 13"/>
          <p:cNvSpPr/>
          <p:nvPr/>
        </p:nvSpPr>
        <p:spPr>
          <a:xfrm>
            <a:off x="1097280" y="456285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6" name="Text 14"/>
          <p:cNvSpPr/>
          <p:nvPr/>
        </p:nvSpPr>
        <p:spPr>
          <a:xfrm>
            <a:off x="2011680" y="4425696"/>
            <a:ext cx="9052560" cy="457200"/>
          </a:xfrm>
          <a:prstGeom prst="rect">
            <a:avLst/>
          </a:prstGeom>
          <a:noFill/>
          <a:ln/>
        </p:spPr>
        <p:txBody>
          <a:bodyPr wrap="square" lIns="0" tIns="0" rIns="0" bIns="0" rtlCol="0" anchor="ctr"/>
          <a:lstStyle/>
          <a:p>
            <a:pPr indent="0" marL="0">
              <a:buNone/>
            </a:pPr>
            <a:r>
              <a:rPr lang="en-US" sz="1650" b="1" dirty="0">
                <a:solidFill>
                  <a:srgbClr val="1E2761"/>
                </a:solidFill>
                <a:latin typeface="Yu Gothic" pitchFamily="34" charset="0"/>
                <a:ea typeface="Yu Gothic" pitchFamily="34" charset="-122"/>
                <a:cs typeface="Yu Gothic" pitchFamily="34" charset="-120"/>
              </a:rPr>
              <a:t>AIに任せる「最初の1業務」</a:t>
            </a:r>
            <a:endParaRPr lang="en-US" sz="1650" dirty="0"/>
          </a:p>
        </p:txBody>
      </p:sp>
      <p:sp>
        <p:nvSpPr>
          <p:cNvPr id="17" name="Text 15"/>
          <p:cNvSpPr/>
          <p:nvPr/>
        </p:nvSpPr>
        <p:spPr>
          <a:xfrm>
            <a:off x="2011680" y="4901184"/>
            <a:ext cx="9052560" cy="457200"/>
          </a:xfrm>
          <a:prstGeom prst="rect">
            <a:avLst/>
          </a:prstGeom>
          <a:noFill/>
          <a:ln/>
        </p:spPr>
        <p:txBody>
          <a:bodyPr wrap="square" lIns="0" tIns="0" rIns="0" bIns="0" rtlCol="0" anchor="ctr"/>
          <a:lstStyle/>
          <a:p>
            <a:pPr indent="0" marL="0">
              <a:buNone/>
            </a:pPr>
            <a:r>
              <a:rPr lang="en-US" sz="1300" dirty="0">
                <a:solidFill>
                  <a:srgbClr val="333333"/>
                </a:solidFill>
                <a:latin typeface="Yu Gothic" pitchFamily="34" charset="0"/>
                <a:ea typeface="Yu Gothic" pitchFamily="34" charset="-122"/>
                <a:cs typeface="Yu Gothic" pitchFamily="34" charset="-120"/>
              </a:rPr>
              <a:t>明日、逆質問法でその業務の下書きを作る。効果は「分」で測る</a:t>
            </a:r>
            <a:endParaRPr lang="en-US" sz="1300" dirty="0"/>
          </a:p>
        </p:txBody>
      </p:sp>
      <p:sp>
        <p:nvSpPr>
          <p:cNvPr id="18" name="Text 16"/>
          <p:cNvSpPr/>
          <p:nvPr/>
        </p:nvSpPr>
        <p:spPr>
          <a:xfrm>
            <a:off x="822960" y="5806440"/>
            <a:ext cx="10515600" cy="457200"/>
          </a:xfrm>
          <a:prstGeom prst="rect">
            <a:avLst/>
          </a:prstGeom>
          <a:noFill/>
          <a:ln/>
        </p:spPr>
        <p:txBody>
          <a:bodyPr wrap="square" lIns="0" tIns="0" rIns="0" bIns="0" rtlCol="0" anchor="ctr"/>
          <a:lstStyle/>
          <a:p>
            <a:pPr algn="ctr" indent="0" marL="0">
              <a:buNone/>
            </a:pPr>
            <a:r>
              <a:rPr lang="en-US" sz="1600" b="1" dirty="0">
                <a:solidFill>
                  <a:srgbClr val="1E2761"/>
                </a:solidFill>
                <a:latin typeface="Yu Gothic" pitchFamily="34" charset="0"/>
                <a:ea typeface="Yu Gothic" pitchFamily="34" charset="-122"/>
                <a:cs typeface="Yu Gothic" pitchFamily="34" charset="-120"/>
              </a:rPr>
              <a:t>覚えて帰る言葉は1つだけ：「いきなり書かせない。まず質問させる」（逆質問法）</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1097280"/>
            <a:ext cx="1106424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Yu Gothic" pitchFamily="34" charset="0"/>
                <a:ea typeface="Yu Gothic" pitchFamily="34" charset="-122"/>
                <a:cs typeface="Yu Gothic" pitchFamily="34" charset="-120"/>
              </a:rPr>
              <a:t>ご視聴ありがとうございました</a:t>
            </a:r>
            <a:endParaRPr lang="en-US" sz="3000" dirty="0"/>
          </a:p>
        </p:txBody>
      </p:sp>
      <p:sp>
        <p:nvSpPr>
          <p:cNvPr id="3" name="Shape 1"/>
          <p:cNvSpPr/>
          <p:nvPr/>
        </p:nvSpPr>
        <p:spPr>
          <a:xfrm>
            <a:off x="2651760" y="2194560"/>
            <a:ext cx="6858000" cy="3017520"/>
          </a:xfrm>
          <a:prstGeom prst="roundRect">
            <a:avLst>
              <a:gd name="adj" fmla="val 4242"/>
            </a:avLst>
          </a:prstGeom>
          <a:solidFill>
            <a:srgbClr val="2A3778"/>
          </a:solidFill>
          <a:ln/>
        </p:spPr>
      </p:sp>
      <p:sp>
        <p:nvSpPr>
          <p:cNvPr id="4" name="Shape 2"/>
          <p:cNvSpPr/>
          <p:nvPr/>
        </p:nvSpPr>
        <p:spPr>
          <a:xfrm>
            <a:off x="5577840" y="2514600"/>
            <a:ext cx="1005840" cy="1005840"/>
          </a:xfrm>
          <a:prstGeom prst="ellipse">
            <a:avLst/>
          </a:prstGeom>
          <a:solidFill>
            <a:srgbClr val="CADCFC"/>
          </a:solidFill>
          <a:ln/>
        </p:spPr>
      </p:sp>
      <p:pic>
        <p:nvPicPr>
          <p:cNvPr id="5" name="Image 0" descr="preencoded.png">    </p:cNvPr>
          <p:cNvPicPr>
            <a:picLocks noChangeAspect="1"/>
          </p:cNvPicPr>
          <p:nvPr/>
        </p:nvPicPr>
        <p:blipFill>
          <a:blip r:embed="rId1"/>
          <a:stretch>
            <a:fillRect/>
          </a:stretch>
        </p:blipFill>
        <p:spPr>
          <a:xfrm>
            <a:off x="5839358" y="2776118"/>
            <a:ext cx="482803" cy="482803"/>
          </a:xfrm>
          <a:prstGeom prst="rect">
            <a:avLst/>
          </a:prstGeom>
        </p:spPr>
      </p:pic>
      <p:sp>
        <p:nvSpPr>
          <p:cNvPr id="6" name="Text 3"/>
          <p:cNvSpPr/>
          <p:nvPr/>
        </p:nvSpPr>
        <p:spPr>
          <a:xfrm>
            <a:off x="2926080" y="3657600"/>
            <a:ext cx="630936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Yu Gothic" pitchFamily="34" charset="0"/>
                <a:ea typeface="Yu Gothic" pitchFamily="34" charset="-122"/>
                <a:cs typeface="Yu Gothic" pitchFamily="34" charset="-120"/>
              </a:rPr>
              <a:t>無料個別相談（30分）のご案内</a:t>
            </a:r>
            <a:endParaRPr lang="en-US" sz="1900" dirty="0"/>
          </a:p>
        </p:txBody>
      </p:sp>
      <p:sp>
        <p:nvSpPr>
          <p:cNvPr id="7" name="Text 4"/>
          <p:cNvSpPr/>
          <p:nvPr/>
        </p:nvSpPr>
        <p:spPr>
          <a:xfrm>
            <a:off x="2926080" y="4206240"/>
            <a:ext cx="6309360" cy="868680"/>
          </a:xfrm>
          <a:prstGeom prst="rect">
            <a:avLst/>
          </a:prstGeom>
          <a:noFill/>
          <a:ln/>
        </p:spPr>
        <p:txBody>
          <a:bodyPr wrap="square" lIns="0" tIns="0" rIns="0" bIns="0" rtlCol="0" anchor="ctr"/>
          <a:lstStyle/>
          <a:p>
            <a:pPr algn="ctr" indent="0" marL="0">
              <a:lnSpc>
                <a:spcPct val="135000"/>
              </a:lnSpc>
              <a:buNone/>
            </a:pPr>
            <a:r>
              <a:rPr lang="en-US" sz="1300" dirty="0">
                <a:solidFill>
                  <a:srgbClr val="CADCFC"/>
                </a:solidFill>
                <a:latin typeface="Yu Gothic" pitchFamily="34" charset="0"/>
                <a:ea typeface="Yu Gothic" pitchFamily="34" charset="-122"/>
                <a:cs typeface="Yu Gothic" pitchFamily="34" charset="-120"/>
              </a:rPr>
              <a:t>この動画で決めた「最初の1業務」の続きを、御社の実際の業務内容で一緒に仕上げます。</a:t>
            </a:r>
            <a:endParaRPr lang="en-US" sz="1300" dirty="0"/>
          </a:p>
          <a:p>
            <a:pPr algn="ctr" indent="0" marL="0">
              <a:lnSpc>
                <a:spcPct val="135000"/>
              </a:lnSpc>
              <a:buNone/>
            </a:pPr>
            <a:r>
              <a:rPr lang="en-US" sz="1300" dirty="0">
                <a:solidFill>
                  <a:srgbClr val="CADCFC"/>
                </a:solidFill>
                <a:latin typeface="Yu Gothic" pitchFamily="34" charset="0"/>
                <a:ea typeface="Yu Gothic" pitchFamily="34" charset="-122"/>
                <a:cs typeface="Yu Gothic" pitchFamily="34" charset="-120"/>
              </a:rPr>
              <a:t>ご希望の方は概要欄のリンク、または下記の連絡先からご連絡ください。</a:t>
            </a:r>
            <a:endParaRPr lang="en-US" sz="1300" dirty="0"/>
          </a:p>
        </p:txBody>
      </p:sp>
      <p:sp>
        <p:nvSpPr>
          <p:cNvPr id="8" name="Text 5"/>
          <p:cNvSpPr/>
          <p:nvPr/>
        </p:nvSpPr>
        <p:spPr>
          <a:xfrm>
            <a:off x="548640" y="5852160"/>
            <a:ext cx="11064240" cy="365760"/>
          </a:xfrm>
          <a:prstGeom prst="rect">
            <a:avLst/>
          </a:prstGeom>
          <a:noFill/>
          <a:ln/>
        </p:spPr>
        <p:txBody>
          <a:bodyPr wrap="square" lIns="0" tIns="0" rIns="0" bIns="0" rtlCol="0" anchor="ctr"/>
          <a:lstStyle/>
          <a:p>
            <a:pPr algn="ctr" indent="0" marL="0">
              <a:buNone/>
            </a:pPr>
            <a:r>
              <a:rPr lang="en-US" sz="1200" dirty="0">
                <a:solidFill>
                  <a:srgbClr val="CADCFC"/>
                </a:solidFill>
                <a:latin typeface="Yu Gothic" pitchFamily="34" charset="0"/>
                <a:ea typeface="Yu Gothic" pitchFamily="34" charset="-122"/>
                <a:cs typeface="Yu Gothic" pitchFamily="34" charset="-120"/>
              </a:rPr>
              <a:t>講師連絡先：〇〇〇〇　／　メール：info@example.com　※差し替えてください</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2026-07-25T02:37:16Z</dcterms:created>
  <dcterms:modified xsi:type="dcterms:W3CDTF">2026-07-25T02:37:16Z</dcterms:modified>
</cp:coreProperties>
</file>