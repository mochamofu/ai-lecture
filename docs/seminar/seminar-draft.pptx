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タイトル案は3案あるうちの第1案。事務局と相談して差し替え可。参加無料・経営者/個人事業主向けであることを冒頭で確認。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自己紹介は1分以内。数字だけ言って次へ。信頼形成は実演でやる。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会場Wi-Fiが不安定な場合に備え、実演の録画バックアップを必ず用意。題材はダミーの会議メモ・ダミーのクレームメール（事前作成）。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川崎の会場なら、事例の業種は製造・建設・運輸・卸に寄せて話す。「東京の先進事例」ではなく「うちみたいな会社」のトーン。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ここが経営者の本音（使いたいより事故が怖い）に応える章。時間をかけてよい。次のスライドで「対策は雛形を配る」と回収する。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ここから終盤。一番記憶に残したい数字は「実質1/4」と「2027年3月末終了」。申請代行はしない（社労士業務）ことを口頭でも明言し、誠実さを見せる。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その場で売り込まない。ゴールはアンケートの個別相談希望の回収数。相談は後日30分、そこで研修の話を出す。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商工会議所 会員向けセミナー企画（ドラフト）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869680" y="1280160"/>
            <a:ext cx="2834640" cy="2834640"/>
          </a:xfrm>
          <a:prstGeom prst="ellipse">
            <a:avLst/>
          </a:prstGeom>
          <a:solidFill>
            <a:srgbClr val="2A377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057400"/>
            <a:ext cx="1280160" cy="1280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2011680"/>
            <a:ext cx="8046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人手不足の会社ほど効く</a:t>
            </a:r>
            <a:endParaRPr lang="en-US" sz="3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生成AI活用の最初の一歩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〜 明日から使える実演つき・90分 〜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48640" y="5760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講師：〇〇 〇〇（△△△△ 代表）　※プロフィール・写真は差し替え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自己紹介 — 肩書きより、数字でご紹介します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95148" y="155448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EEF3FC"/>
          </a:solidFill>
          <a:ln/>
        </p:spPr>
      </p:sp>
      <p:sp>
        <p:nvSpPr>
          <p:cNvPr id="4" name="Text 2"/>
          <p:cNvSpPr/>
          <p:nvPr/>
        </p:nvSpPr>
        <p:spPr>
          <a:xfrm>
            <a:off x="723748" y="18288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見積書の作成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23748" y="22860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3時間 → 10分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335628" y="155448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EEF3FC"/>
          </a:solidFill>
          <a:ln/>
        </p:spPr>
      </p:sp>
      <p:sp>
        <p:nvSpPr>
          <p:cNvPr id="7" name="Text 5"/>
          <p:cNvSpPr/>
          <p:nvPr/>
        </p:nvSpPr>
        <p:spPr>
          <a:xfrm>
            <a:off x="4564228" y="18288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会議の議事録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64228" y="22860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60分 → 5分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8176108" y="155448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EEF3FC"/>
          </a:solidFill>
          <a:ln/>
        </p:spPr>
      </p:sp>
      <p:sp>
        <p:nvSpPr>
          <p:cNvPr id="10" name="Text 8"/>
          <p:cNvSpPr/>
          <p:nvPr/>
        </p:nvSpPr>
        <p:spPr>
          <a:xfrm>
            <a:off x="8404708" y="18288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問い合わせ対応の下書き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404708" y="22860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週5時間 削減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95148" y="37033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数値はサンプルです。ご自身の実測値に差し替えてください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429768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中小企業の現場業務に生成AIを導入し、削減時間を実測してきました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本日の内容は、すべて「明日、自社で再現できること」に絞っています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本日、お持ち帰りいただく3つ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95148" y="155448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EEF3FC"/>
          </a:solidFill>
          <a:ln/>
        </p:spPr>
      </p:sp>
      <p:sp>
        <p:nvSpPr>
          <p:cNvPr id="4" name="Shape 2"/>
          <p:cNvSpPr/>
          <p:nvPr/>
        </p:nvSpPr>
        <p:spPr>
          <a:xfrm>
            <a:off x="1798168" y="192024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5912" y="215798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23748" y="306324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どの業務から始めるか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69468" y="379476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自社の業務のうち、AIに向くもの・向かないものを自分で判定できる基準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335628" y="155448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EEF3FC"/>
          </a:solidFill>
          <a:ln/>
        </p:spPr>
      </p:sp>
      <p:sp>
        <p:nvSpPr>
          <p:cNvPr id="9" name="Shape 6"/>
          <p:cNvSpPr/>
          <p:nvPr/>
        </p:nvSpPr>
        <p:spPr>
          <a:xfrm>
            <a:off x="5638648" y="192024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92" y="2157984"/>
            <a:ext cx="438912" cy="4389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64228" y="306324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社内ルールの雛形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4609948" y="379476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情報漏えい・誤情報の事故を防ぐ、A4・1枚のルール雛形（本日配布）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176108" y="155448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EEF3FC"/>
          </a:solidFill>
          <a:ln/>
        </p:spPr>
      </p:sp>
      <p:sp>
        <p:nvSpPr>
          <p:cNvPr id="14" name="Shape 10"/>
          <p:cNvSpPr/>
          <p:nvPr/>
        </p:nvSpPr>
        <p:spPr>
          <a:xfrm>
            <a:off x="9479128" y="192024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872" y="2157984"/>
            <a:ext cx="438912" cy="43891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404708" y="306324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実質負担1/4の制度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8450428" y="379476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研修費用の最大75%が助成される国の制度と、その使い方の手順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548640" y="5806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配布物：業務別チェックリスト／社内ルール雛形／助成金の要点（各A4・1枚）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まず、ご覧ください — ライブ実演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554480"/>
            <a:ext cx="10515600" cy="1554480"/>
          </a:xfrm>
          <a:prstGeom prst="roundRect">
            <a:avLst>
              <a:gd name="adj" fmla="val 7059"/>
            </a:avLst>
          </a:prstGeom>
          <a:solidFill>
            <a:srgbClr val="2A3778"/>
          </a:solidFill>
          <a:ln/>
        </p:spPr>
      </p:sp>
      <p:sp>
        <p:nvSpPr>
          <p:cNvPr id="4" name="Shape 2"/>
          <p:cNvSpPr/>
          <p:nvPr/>
        </p:nvSpPr>
        <p:spPr>
          <a:xfrm>
            <a:off x="1143000" y="1938528"/>
            <a:ext cx="777240" cy="7772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193852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240280" y="178308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会議メモ → 議事録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2240280" y="233172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走り書きのメモから、決定事項・ToDo・担当者つきの議事録を作ります（約3分）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3383280"/>
            <a:ext cx="10515600" cy="1554480"/>
          </a:xfrm>
          <a:prstGeom prst="roundRect">
            <a:avLst>
              <a:gd name="adj" fmla="val 7059"/>
            </a:avLst>
          </a:prstGeom>
          <a:solidFill>
            <a:srgbClr val="2A3778"/>
          </a:solidFill>
          <a:ln/>
        </p:spPr>
      </p:sp>
      <p:sp>
        <p:nvSpPr>
          <p:cNvPr id="9" name="Shape 7"/>
          <p:cNvSpPr/>
          <p:nvPr/>
        </p:nvSpPr>
        <p:spPr>
          <a:xfrm>
            <a:off x="1143000" y="3767328"/>
            <a:ext cx="777240" cy="7772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76732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240280" y="361188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クレームメール → 返信の下書き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2240280" y="416052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お叱りのメールに対する、丁寧で角の立たない返信文を作ります（約2分）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22960" y="5486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（ここでスライドを離れ、実際の画面で操作します）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なぜ今か — 採用で埋まらないなら、業務を減らす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737360"/>
            <a:ext cx="61264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求人を出しても応募が来ない。来ても定着しない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「人を増やす」以外の選択肢が、現実に必要になっている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生成AIは、見積・議事録・報告書などの「文書仕事」の時間を数分の一にする道具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高価なシステム導入は不要。今日の実演はすべて無料〜月数千円のツールだけ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406640" y="1645920"/>
            <a:ext cx="4023360" cy="3566160"/>
          </a:xfrm>
          <a:prstGeom prst="roundRect">
            <a:avLst>
              <a:gd name="adj" fmla="val 3077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1920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試算例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0" y="233172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A3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週5時間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772400" y="3200400"/>
            <a:ext cx="338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1人の文書仕事が週5時間減ると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年間 約250時間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＝ 約1.5か月分の労働時間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中小企業の活用例 5連発 — 特別なツールは不要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95148" y="141732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EEF3FC"/>
          </a:solidFill>
          <a:ln/>
        </p:spPr>
      </p:sp>
      <p:sp>
        <p:nvSpPr>
          <p:cNvPr id="4" name="Shape 2"/>
          <p:cNvSpPr/>
          <p:nvPr/>
        </p:nvSpPr>
        <p:spPr>
          <a:xfrm>
            <a:off x="723748" y="16459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168" y="1812341"/>
            <a:ext cx="307238" cy="3072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0988" y="167335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見積書の下書き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69468" y="242316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過去の見積を元に新規条件で作成（例：3時間→10分）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335628" y="141732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EEF3FC"/>
          </a:solidFill>
          <a:ln/>
        </p:spPr>
      </p:sp>
      <p:sp>
        <p:nvSpPr>
          <p:cNvPr id="9" name="Shape 6"/>
          <p:cNvSpPr/>
          <p:nvPr/>
        </p:nvSpPr>
        <p:spPr>
          <a:xfrm>
            <a:off x="4564228" y="16459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0648" y="181234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41468" y="167335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日報 → 週報・月報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609948" y="242316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毎日の日報を集約して報告書に（例：月2時間→10分）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176108" y="141732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EEF3FC"/>
          </a:solidFill>
          <a:ln/>
        </p:spPr>
      </p:sp>
      <p:sp>
        <p:nvSpPr>
          <p:cNvPr id="14" name="Shape 10"/>
          <p:cNvSpPr/>
          <p:nvPr/>
        </p:nvSpPr>
        <p:spPr>
          <a:xfrm>
            <a:off x="8404708" y="16459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1128" y="1812341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181948" y="167335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Excelの名寄せ・整理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8450428" y="242316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表記ゆれだらけの顧客リストを整形・分類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95148" y="365760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EEF3FC"/>
          </a:solidFill>
          <a:ln/>
        </p:spPr>
      </p:sp>
      <p:sp>
        <p:nvSpPr>
          <p:cNvPr id="19" name="Shape 14"/>
          <p:cNvSpPr/>
          <p:nvPr/>
        </p:nvSpPr>
        <p:spPr>
          <a:xfrm>
            <a:off x="723748" y="38862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168" y="4052621"/>
            <a:ext cx="307238" cy="30723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500988" y="391363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求人票・募集文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769468" y="466344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自社の言葉で、応募したくなる求人文を作成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4335628" y="365760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EEF3FC"/>
          </a:solidFill>
          <a:ln/>
        </p:spPr>
      </p:sp>
      <p:sp>
        <p:nvSpPr>
          <p:cNvPr id="24" name="Shape 18"/>
          <p:cNvSpPr/>
          <p:nvPr/>
        </p:nvSpPr>
        <p:spPr>
          <a:xfrm>
            <a:off x="4564228" y="38862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0648" y="4052621"/>
            <a:ext cx="307238" cy="30723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341468" y="391363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ベテランの手順を文書化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4609948" y="466344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頭の中の段取りを質問形式で聞き出しマニュアル化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8176108" y="365760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1E2761"/>
          </a:solidFill>
          <a:ln/>
        </p:spPr>
      </p:sp>
      <p:sp>
        <p:nvSpPr>
          <p:cNvPr id="29" name="Shape 22"/>
          <p:cNvSpPr/>
          <p:nvPr/>
        </p:nvSpPr>
        <p:spPr>
          <a:xfrm>
            <a:off x="8404708" y="3886200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1128" y="4052621"/>
            <a:ext cx="307238" cy="307238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9181948" y="391363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共通点</a:t>
            </a:r>
            <a:endParaRPr lang="en-US" sz="1500" dirty="0"/>
          </a:p>
        </p:txBody>
      </p:sp>
      <p:sp>
        <p:nvSpPr>
          <p:cNvPr id="32" name="Text 24"/>
          <p:cNvSpPr/>
          <p:nvPr/>
        </p:nvSpPr>
        <p:spPr>
          <a:xfrm>
            <a:off x="8450428" y="466344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どれもChatGPT等の画面だけで完結。プログラミング不要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495148" y="6035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削減時間は導入企業の実測例。業務内容により異なります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経営判断の基準 — AIに「向く仕事」と「向かない仕事」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394960" cy="3840480"/>
          </a:xfrm>
          <a:prstGeom prst="roundRect">
            <a:avLst>
              <a:gd name="adj" fmla="val 2857"/>
            </a:avLst>
          </a:prstGeom>
          <a:solidFill>
            <a:srgbClr val="EEF3FC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17373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向く仕事（任せて速くなる）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60120" y="233172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下書き・たたき台づくり（見積、メール、報告書）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要約・整理・分類（議事録、アンケート）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表現の調整（お詫び文、丁寧な断り文）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アイデア出し・チェックリスト作成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63640" y="1463040"/>
            <a:ext cx="5394960" cy="3840480"/>
          </a:xfrm>
          <a:prstGeom prst="roundRect">
            <a:avLst>
              <a:gd name="adj" fmla="val 2857"/>
            </a:avLst>
          </a:prstGeom>
          <a:solidFill>
            <a:srgbClr val="F3F4F6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0" y="17373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向かない仕事（人が最終責任を持つ）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583680" y="233172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金額・契約・人事の最終判断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正確性が命の計算・法令解釈（必ず検証が要る）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AIの回答を顧客へそのまま送信すること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機密情報・個人情報を扱う処理（ルールが先）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56235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原則：AIが下書きし、人が仕上げて責任を持つ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導入の順番 — 飛ばすと失敗します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72288" y="1737360"/>
            <a:ext cx="3383280" cy="3108960"/>
          </a:xfrm>
          <a:prstGeom prst="roundRect">
            <a:avLst>
              <a:gd name="adj" fmla="val 3529"/>
            </a:avLst>
          </a:prstGeom>
          <a:solidFill>
            <a:srgbClr val="EEF3FC"/>
          </a:solidFill>
          <a:ln/>
        </p:spPr>
      </p:sp>
      <p:sp>
        <p:nvSpPr>
          <p:cNvPr id="4" name="Text 2"/>
          <p:cNvSpPr/>
          <p:nvPr/>
        </p:nvSpPr>
        <p:spPr>
          <a:xfrm>
            <a:off x="746608" y="19659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46608" y="237744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経営者自身が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2週間 触る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46608" y="347472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まず自分の業務で試す。今日の実演の2つからで十分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901288" y="29718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404208" y="1737360"/>
            <a:ext cx="3383280" cy="3108960"/>
          </a:xfrm>
          <a:prstGeom prst="roundRect">
            <a:avLst>
              <a:gd name="adj" fmla="val 3529"/>
            </a:avLst>
          </a:prstGeom>
          <a:solidFill>
            <a:srgbClr val="EEF3FC"/>
          </a:solidFill>
          <a:ln/>
        </p:spPr>
      </p:sp>
      <p:sp>
        <p:nvSpPr>
          <p:cNvPr id="9" name="Text 7"/>
          <p:cNvSpPr/>
          <p:nvPr/>
        </p:nvSpPr>
        <p:spPr>
          <a:xfrm>
            <a:off x="4678528" y="19659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78528" y="237744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1つの業務で試し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時間を測る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78528" y="347472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効果を「何分減ったか」の数字にする。数字が社員を動かす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833208" y="29718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8336128" y="1737360"/>
            <a:ext cx="3383280" cy="3108960"/>
          </a:xfrm>
          <a:prstGeom prst="roundRect">
            <a:avLst>
              <a:gd name="adj" fmla="val 3529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8610448" y="19659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10448" y="237744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ルールを作って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社員に展開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610448" y="347472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利用ルールを整えてから研修で全社に広げる（助成金の出番）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" y="5257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順番を飛ばすと、社員が個人の判断で使い始める「野良AI」が生まれます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導入より先に、事故を知る — 3つのリスク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463040"/>
            <a:ext cx="10515600" cy="1371600"/>
          </a:xfrm>
          <a:prstGeom prst="roundRect">
            <a:avLst>
              <a:gd name="adj" fmla="val 8000"/>
            </a:avLst>
          </a:prstGeom>
          <a:solidFill>
            <a:srgbClr val="2A3778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" y="173736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1250" y="195133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194560" y="1627632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情報漏えい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2194560" y="2121408"/>
            <a:ext cx="8869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顧客名簿や図面をそのまま入力してしまう。入力してよい情報の線引きが必要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22960" y="3063240"/>
            <a:ext cx="10515600" cy="1371600"/>
          </a:xfrm>
          <a:prstGeom prst="roundRect">
            <a:avLst>
              <a:gd name="adj" fmla="val 8000"/>
            </a:avLst>
          </a:prstGeom>
          <a:solidFill>
            <a:srgbClr val="2A3778"/>
          </a:solidFill>
          <a:ln/>
        </p:spPr>
      </p:sp>
      <p:sp>
        <p:nvSpPr>
          <p:cNvPr id="9" name="Shape 6"/>
          <p:cNvSpPr/>
          <p:nvPr/>
        </p:nvSpPr>
        <p:spPr>
          <a:xfrm>
            <a:off x="1097280" y="333756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1250" y="3551530"/>
            <a:ext cx="395021" cy="39502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194560" y="3227832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もっともらしい嘘（ハルシネーション）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2194560" y="3721608"/>
            <a:ext cx="8869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存在しない法令や数字を自信満々に答える。人の確認を挟まず外に出すと事故になる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822960" y="4663440"/>
            <a:ext cx="10515600" cy="1371600"/>
          </a:xfrm>
          <a:prstGeom prst="roundRect">
            <a:avLst>
              <a:gd name="adj" fmla="val 8000"/>
            </a:avLst>
          </a:prstGeom>
          <a:solidFill>
            <a:srgbClr val="2A3778"/>
          </a:solidFill>
          <a:ln/>
        </p:spPr>
      </p:sp>
      <p:sp>
        <p:nvSpPr>
          <p:cNvPr id="14" name="Shape 10"/>
          <p:cNvSpPr/>
          <p:nvPr/>
        </p:nvSpPr>
        <p:spPr>
          <a:xfrm>
            <a:off x="1097280" y="493776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1250" y="5151730"/>
            <a:ext cx="395021" cy="39502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194560" y="4828032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野良AI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2194560" y="5321808"/>
            <a:ext cx="8869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会社が禁止しても、社員はすでに個人のスマホで使っている。禁止ではなくルール化が現実解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対策はシンプル — 社内ルール5項目（雛形を配布）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6766560" cy="4206240"/>
          </a:xfrm>
          <a:prstGeom prst="roundRect">
            <a:avLst>
              <a:gd name="adj" fmla="val 2609"/>
            </a:avLst>
          </a:prstGeom>
          <a:solidFill>
            <a:srgbClr val="EEF3FC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783080"/>
            <a:ext cx="61264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600"/>
              </a:spcAft>
              <a:buNone/>
            </a:pPr>
            <a:r>
              <a:rPr lang="en-US" sz="15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入力してよい情報・してはいけない情報の線引き</a:t>
            </a:r>
            <a:endParaRPr lang="en-US" sz="155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5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会社として利用を認めるツールの指定</a:t>
            </a:r>
            <a:endParaRPr lang="en-US" sz="155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5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出力は必ず人が確認してから使う（確認責任者）</a:t>
            </a:r>
            <a:endParaRPr lang="en-US" sz="155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5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 顧客・取引先への利用開示の方針</a:t>
            </a:r>
            <a:endParaRPr lang="en-US" sz="155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5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⑤ 困ったとき・事故のときの相談窓口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8549640" y="1737360"/>
            <a:ext cx="1005840" cy="10058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1158" y="1998878"/>
            <a:ext cx="482803" cy="482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0" y="29260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A4・1枚の雛形を本日配布します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0" y="37947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自社名を入れれば、そのまま社内に掲示できます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58978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ルールを作った会社だけが、安心して社員に使わせることができます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お金の話 — 研修費用の4分の3は、国が持つ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人材開発支援助成金「事業展開等リスキリング支援コース」（中小企業の場合）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95148" y="1737360"/>
            <a:ext cx="3520440" cy="3017520"/>
          </a:xfrm>
          <a:prstGeom prst="roundRect">
            <a:avLst>
              <a:gd name="adj" fmla="val 3636"/>
            </a:avLst>
          </a:prstGeom>
          <a:solidFill>
            <a:srgbClr val="EEF3FC"/>
          </a:solidFill>
          <a:ln/>
        </p:spPr>
      </p:sp>
      <p:sp>
        <p:nvSpPr>
          <p:cNvPr id="5" name="Text 3"/>
          <p:cNvSpPr/>
          <p:nvPr/>
        </p:nvSpPr>
        <p:spPr>
          <a:xfrm>
            <a:off x="723748" y="20574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最大75%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23748" y="30175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研修経費の助成率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23748" y="356616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例：200万円の研修なら150万円が戻る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35628" y="1737360"/>
            <a:ext cx="3520440" cy="3017520"/>
          </a:xfrm>
          <a:prstGeom prst="roundRect">
            <a:avLst>
              <a:gd name="adj" fmla="val 3636"/>
            </a:avLst>
          </a:prstGeom>
          <a:solidFill>
            <a:srgbClr val="EEF3FC"/>
          </a:solidFill>
          <a:ln/>
        </p:spPr>
      </p:sp>
      <p:sp>
        <p:nvSpPr>
          <p:cNvPr id="9" name="Text 7"/>
          <p:cNvSpPr/>
          <p:nvPr/>
        </p:nvSpPr>
        <p:spPr>
          <a:xfrm>
            <a:off x="4564228" y="20574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1,000円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564228" y="30175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賃金助成（1人1時間あたり）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64228" y="356616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研修を受けている時間の人件費も支援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76108" y="1737360"/>
            <a:ext cx="3520440" cy="3017520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8404708" y="20574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2027年3月31日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404708" y="30175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制度の終了期限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04708" y="356616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来年度で終了。使うなら逆算が必要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5120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支給には要件と労働局の審査があります（対象：10時間以上の訓練など）。本セミナーでは制度のご案内までを行います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シミュレーション — 社員10名が研修を受けた場合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463040" y="1554480"/>
          <a:ext cx="9235440" cy="914400"/>
        </p:xfrm>
        <a:graphic>
          <a:graphicData uri="http://schemas.openxmlformats.org/drawingml/2006/table">
            <a:tbl>
              <a:tblPr/>
              <a:tblGrid>
                <a:gridCol w="6035040"/>
                <a:gridCol w="32004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項目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金額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研修費用（20万円 × 10名）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200万円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経費助成（75%）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▲150万円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333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実質負担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333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50万円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賃金助成（10名 × 12時間 × 1,000円）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▲12万円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最終的な実質負担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約38万円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1463040" y="5257800"/>
            <a:ext cx="9235440" cy="777240"/>
          </a:xfrm>
          <a:prstGeom prst="roundRect">
            <a:avLst>
              <a:gd name="adj" fmla="val 11765"/>
            </a:avLst>
          </a:prstGeom>
          <a:solidFill>
            <a:srgbClr val="EEF3FC"/>
          </a:solidFill>
          <a:ln/>
        </p:spPr>
      </p:sp>
      <p:sp>
        <p:nvSpPr>
          <p:cNvPr id="5" name="Text 2"/>
          <p:cNvSpPr/>
          <p:nvPr/>
        </p:nvSpPr>
        <p:spPr>
          <a:xfrm>
            <a:off x="1737360" y="525780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200万円の稟議は重い。50万円の稟議は速い。 — 意思決定のハードルが変わります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463040" y="61722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金額は例。申請は貴社から労働局へ行います。支給決定は審査によります。申請手続きの代行は行いません（社会保険労務士の業務）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使うなら逆算 — 計画届は「開始1か月前」まで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03708" y="164592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EEF3FC"/>
          </a:solidFill>
          <a:ln/>
        </p:spPr>
      </p:sp>
      <p:sp>
        <p:nvSpPr>
          <p:cNvPr id="4" name="Shape 2"/>
          <p:cNvSpPr/>
          <p:nvPr/>
        </p:nvSpPr>
        <p:spPr>
          <a:xfrm>
            <a:off x="632308" y="18745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32308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18108" y="193852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今月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2308" y="26060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やることを決める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32308" y="310896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対象社員・研修内容・時間数（10時間以上）を決定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29788" y="164592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EEF3FC"/>
          </a:solidFill>
          <a:ln/>
        </p:spPr>
      </p:sp>
      <p:sp>
        <p:nvSpPr>
          <p:cNvPr id="10" name="Shape 8"/>
          <p:cNvSpPr/>
          <p:nvPr/>
        </p:nvSpPr>
        <p:spPr>
          <a:xfrm>
            <a:off x="3558388" y="18745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3558388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244188" y="193852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1か月前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58388" y="26060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計画届を提出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58388" y="310896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訓練開始の1か月前までに労働局へ（貴社から提出）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55868" y="164592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EEF3FC"/>
          </a:solidFill>
          <a:ln/>
        </p:spPr>
      </p:sp>
      <p:sp>
        <p:nvSpPr>
          <p:cNvPr id="16" name="Shape 14"/>
          <p:cNvSpPr/>
          <p:nvPr/>
        </p:nvSpPr>
        <p:spPr>
          <a:xfrm>
            <a:off x="6484468" y="18745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484468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170268" y="193852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研修実施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84468" y="26060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訓練スタート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84468" y="310896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実施記録・出席簿などを保管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181948" y="164592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EEF3FC"/>
          </a:solidFill>
          <a:ln/>
        </p:spPr>
      </p:sp>
      <p:sp>
        <p:nvSpPr>
          <p:cNvPr id="22" name="Shape 20"/>
          <p:cNvSpPr/>
          <p:nvPr/>
        </p:nvSpPr>
        <p:spPr>
          <a:xfrm>
            <a:off x="9410548" y="18745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9410548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096348" y="193852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修了後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410548" y="26060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支給申請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410548" y="310896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実施後に支給申請 → 審査 → 振込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2194560" y="4892040"/>
            <a:ext cx="7772400" cy="100584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2560320" y="4892040"/>
            <a:ext cx="7223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制度は 2027年3月31日 で終了。研修の完了まで含めた逆算を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まとめ — 今日から動くなら、この3つ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600200"/>
            <a:ext cx="10515600" cy="1188720"/>
          </a:xfrm>
          <a:prstGeom prst="roundRect">
            <a:avLst>
              <a:gd name="adj" fmla="val 9231"/>
            </a:avLst>
          </a:prstGeom>
          <a:solidFill>
            <a:srgbClr val="EEF3FC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" y="18745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011680" y="173736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まず経営者が触る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011680" y="2221992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今日の実演の2つ（議事録・メール返信）を、明日ご自身の業務で試す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3017520"/>
            <a:ext cx="10515600" cy="1188720"/>
          </a:xfrm>
          <a:prstGeom prst="roundRect">
            <a:avLst>
              <a:gd name="adj" fmla="val 9231"/>
            </a:avLst>
          </a:prstGeom>
          <a:solidFill>
            <a:srgbClr val="EEF3FC"/>
          </a:solidFill>
          <a:ln/>
        </p:spPr>
      </p:sp>
      <p:sp>
        <p:nvSpPr>
          <p:cNvPr id="9" name="Shape 7"/>
          <p:cNvSpPr/>
          <p:nvPr/>
        </p:nvSpPr>
        <p:spPr>
          <a:xfrm>
            <a:off x="1097280" y="32918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291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011680" y="315468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ルールを作ってから社員へ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011680" y="3639312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配布した雛形に自社名を入れ、5項目を決めてから展開する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434840"/>
            <a:ext cx="10515600" cy="1188720"/>
          </a:xfrm>
          <a:prstGeom prst="roundRect">
            <a:avLst>
              <a:gd name="adj" fmla="val 9231"/>
            </a:avLst>
          </a:prstGeom>
          <a:solidFill>
            <a:srgbClr val="EEF3FC"/>
          </a:solidFill>
          <a:ln/>
        </p:spPr>
      </p:sp>
      <p:sp>
        <p:nvSpPr>
          <p:cNvPr id="14" name="Shape 12"/>
          <p:cNvSpPr/>
          <p:nvPr/>
        </p:nvSpPr>
        <p:spPr>
          <a:xfrm>
            <a:off x="1097280" y="47091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4709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011680" y="457200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制度の期限から逆算する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2011680" y="5056632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助成金を使うなら、計画届（開始1か月前）と2027年3月末から逆算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59893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迷ったら、順番はいつも同じです：触る → 測る → ルール → 展開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1887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ご清聴ありがとうございました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651760" y="2286000"/>
            <a:ext cx="6858000" cy="2834640"/>
          </a:xfrm>
          <a:prstGeom prst="roundRect">
            <a:avLst>
              <a:gd name="adj" fmla="val 4516"/>
            </a:avLst>
          </a:prstGeom>
          <a:solidFill>
            <a:srgbClr val="2A3778"/>
          </a:solidFill>
          <a:ln/>
        </p:spPr>
      </p:sp>
      <p:sp>
        <p:nvSpPr>
          <p:cNvPr id="4" name="Shape 2"/>
          <p:cNvSpPr/>
          <p:nvPr/>
        </p:nvSpPr>
        <p:spPr>
          <a:xfrm>
            <a:off x="5577840" y="2606040"/>
            <a:ext cx="1005840" cy="10058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9358" y="2867558"/>
            <a:ext cx="482803" cy="482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926080" y="374904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無料個別相談（30分）のご案内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2926080" y="4251960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「自社ならどの業務から？」を一緒に整理します。</a:t>
            </a:r>
            <a:endParaRPr lang="en-US" sz="13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ご希望の方はアンケートの「個別相談を希望する」に○をつけてください。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48640" y="5760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講師連絡先：〇〇〇〇　／　メール：info@example.com　※差し替えてください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2026-07-24T03:57:18Z</dcterms:created>
  <dcterms:modified xsi:type="dcterms:W3CDTF">2026-07-24T03:57:18Z</dcterms:modified>
</cp:coreProperties>
</file>